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comments/modernComment_7BBF5798_F299D2FB.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omments/modernComment_7BBF579B_5282B8A1.xml" ContentType="application/vnd.ms-powerpoint.comment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9.xml" ContentType="application/vnd.openxmlformats-officedocument.presentationml.notesSlide+xml"/>
  <Override PartName="/ppt/comments/modernComment_7BBF579C_EAEB6B86.xml" ContentType="application/vnd.ms-powerpoint.comment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modernComment_7BBF579A_42C758FB.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41D8B98-483F-74EF-7ECF-E3886A2D2BF2}" name="Eric Silva Latorre" initials="ES" userId="74806c10bc288813" providerId="Windows Live"/>
  <p188:author id="{2F7A7DD7-8D6D-E87B-E17C-620A254122A4}" name="Eric Silva" initials="ES" userId="fc2d2a4317f73617"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D0D0D0"/>
    <a:srgbClr val="20236D"/>
    <a:srgbClr val="B63C0F"/>
    <a:srgbClr val="A4C93C"/>
    <a:srgbClr val="01BF9F"/>
    <a:srgbClr val="4A7AEB"/>
    <a:srgbClr val="00644F"/>
    <a:srgbClr val="40306E"/>
    <a:srgbClr val="41BB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98" autoAdjust="0"/>
    <p:restoredTop sz="94674"/>
  </p:normalViewPr>
  <p:slideViewPr>
    <p:cSldViewPr snapToGrid="0">
      <p:cViewPr varScale="1">
        <p:scale>
          <a:sx n="138" d="100"/>
          <a:sy n="138" d="100"/>
        </p:scale>
        <p:origin x="270"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Importancia</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Importancia</c:v>
                </c:pt>
              </c:strCache>
            </c:strRef>
          </c:tx>
          <c:spPr>
            <a:solidFill>
              <a:schemeClr val="accent2"/>
            </a:solidFill>
            <a:ln>
              <a:noFill/>
            </a:ln>
            <a:effectLst/>
          </c:spPr>
          <c:invertIfNegative val="0"/>
          <c:cat>
            <c:strRef>
              <c:f>Hoja1!$A$2:$A$10</c:f>
              <c:strCache>
                <c:ptCount val="9"/>
                <c:pt idx="0">
                  <c:v>Sexo</c:v>
                </c:pt>
                <c:pt idx="1">
                  <c:v>Diarrea</c:v>
                </c:pt>
                <c:pt idx="2">
                  <c:v>Condición General Comprometida</c:v>
                </c:pt>
                <c:pt idx="3">
                  <c:v>Ecografía Sugestiva</c:v>
                </c:pt>
                <c:pt idx="4">
                  <c:v>Anemia</c:v>
                </c:pt>
                <c:pt idx="5">
                  <c:v>Masa Rectal Palpable</c:v>
                </c:pt>
                <c:pt idx="6">
                  <c:v>Edad</c:v>
                </c:pt>
                <c:pt idx="7">
                  <c:v>Tomografía Computarizada</c:v>
                </c:pt>
                <c:pt idx="8">
                  <c:v>Sangrado Gastrointestinal</c:v>
                </c:pt>
              </c:strCache>
            </c:strRef>
          </c:cat>
          <c:val>
            <c:numRef>
              <c:f>Hoja1!$B$2:$B$10</c:f>
              <c:numCache>
                <c:formatCode>General</c:formatCode>
                <c:ptCount val="9"/>
                <c:pt idx="0">
                  <c:v>5.5</c:v>
                </c:pt>
                <c:pt idx="1">
                  <c:v>6.3</c:v>
                </c:pt>
                <c:pt idx="2">
                  <c:v>6.8</c:v>
                </c:pt>
                <c:pt idx="3">
                  <c:v>7.2</c:v>
                </c:pt>
                <c:pt idx="4">
                  <c:v>7.5</c:v>
                </c:pt>
                <c:pt idx="5">
                  <c:v>7.9</c:v>
                </c:pt>
                <c:pt idx="6">
                  <c:v>8.5</c:v>
                </c:pt>
                <c:pt idx="7">
                  <c:v>8.8000000000000007</c:v>
                </c:pt>
                <c:pt idx="8">
                  <c:v>9.1999999999999993</c:v>
                </c:pt>
              </c:numCache>
            </c:numRef>
          </c:val>
          <c:extLst>
            <c:ext xmlns:c16="http://schemas.microsoft.com/office/drawing/2014/chart" uri="{C3380CC4-5D6E-409C-BE32-E72D297353CC}">
              <c16:uniqueId val="{00000000-7120-467C-BF7F-9498318AFAA3}"/>
            </c:ext>
          </c:extLst>
        </c:ser>
        <c:dLbls>
          <c:showLegendKey val="0"/>
          <c:showVal val="0"/>
          <c:showCatName val="0"/>
          <c:showSerName val="0"/>
          <c:showPercent val="0"/>
          <c:showBubbleSize val="0"/>
        </c:dLbls>
        <c:gapWidth val="150"/>
        <c:overlap val="100"/>
        <c:axId val="582373391"/>
        <c:axId val="582373871"/>
      </c:barChart>
      <c:catAx>
        <c:axId val="58237339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871"/>
        <c:crosses val="autoZero"/>
        <c:auto val="1"/>
        <c:lblAlgn val="ctr"/>
        <c:lblOffset val="100"/>
        <c:noMultiLvlLbl val="0"/>
      </c:catAx>
      <c:valAx>
        <c:axId val="5823738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3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3496070242674636E-2"/>
          <c:y val="5.8887966504770038E-2"/>
          <c:w val="0.58006283000841485"/>
          <c:h val="0.8037306439074352"/>
        </c:manualLayout>
      </c:layout>
      <c:scatterChart>
        <c:scatterStyle val="smoothMarker"/>
        <c:varyColors val="0"/>
        <c:ser>
          <c:idx val="0"/>
          <c:order val="0"/>
          <c:tx>
            <c:strRef>
              <c:f>Hoja1!$B$1</c:f>
              <c:strCache>
                <c:ptCount val="1"/>
                <c:pt idx="0">
                  <c:v>Modelo_Completo</c:v>
                </c:pt>
              </c:strCache>
            </c:strRef>
          </c:tx>
          <c:spPr>
            <a:ln w="38100" cap="rnd">
              <a:solidFill>
                <a:schemeClr val="accent4">
                  <a:lumMod val="5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Hoja1!$B$2:$B$15</c:f>
              <c:numCache>
                <c:formatCode>#,##0.00</c:formatCode>
                <c:ptCount val="14"/>
                <c:pt idx="0">
                  <c:v>0</c:v>
                </c:pt>
                <c:pt idx="1">
                  <c:v>0.35</c:v>
                </c:pt>
                <c:pt idx="2">
                  <c:v>0.55000000000000004</c:v>
                </c:pt>
                <c:pt idx="3">
                  <c:v>0.68</c:v>
                </c:pt>
                <c:pt idx="4">
                  <c:v>0.75</c:v>
                </c:pt>
                <c:pt idx="5">
                  <c:v>0.79</c:v>
                </c:pt>
                <c:pt idx="6">
                  <c:v>0.82</c:v>
                </c:pt>
                <c:pt idx="7">
                  <c:v>0.85</c:v>
                </c:pt>
                <c:pt idx="8">
                  <c:v>0.87</c:v>
                </c:pt>
                <c:pt idx="9">
                  <c:v>0.89</c:v>
                </c:pt>
                <c:pt idx="10">
                  <c:v>0.91</c:v>
                </c:pt>
                <c:pt idx="11">
                  <c:v>0.94</c:v>
                </c:pt>
                <c:pt idx="12">
                  <c:v>0.97</c:v>
                </c:pt>
                <c:pt idx="13">
                  <c:v>1</c:v>
                </c:pt>
              </c:numCache>
            </c:numRef>
          </c:yVal>
          <c:smooth val="1"/>
          <c:extLst>
            <c:ext xmlns:c16="http://schemas.microsoft.com/office/drawing/2014/chart" uri="{C3380CC4-5D6E-409C-BE32-E72D297353CC}">
              <c16:uniqueId val="{00000000-579D-4B94-8F04-8F7C84E6BC0D}"/>
            </c:ext>
          </c:extLst>
        </c:ser>
        <c:ser>
          <c:idx val="1"/>
          <c:order val="1"/>
          <c:tx>
            <c:strRef>
              <c:f>Hoja1!$C$1</c:f>
              <c:strCache>
                <c:ptCount val="1"/>
                <c:pt idx="0">
                  <c:v>Modelo_Simplificado</c:v>
                </c:pt>
              </c:strCache>
            </c:strRef>
          </c:tx>
          <c:spPr>
            <a:ln w="38100" cap="rnd">
              <a:solidFill>
                <a:schemeClr val="accent4">
                  <a:lumMod val="60000"/>
                  <a:lumOff val="4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Hoja1!$C$2:$C$15</c:f>
              <c:numCache>
                <c:formatCode>0.00</c:formatCode>
                <c:ptCount val="14"/>
                <c:pt idx="0">
                  <c:v>0</c:v>
                </c:pt>
                <c:pt idx="1">
                  <c:v>0.3</c:v>
                </c:pt>
                <c:pt idx="2">
                  <c:v>0.48</c:v>
                </c:pt>
                <c:pt idx="3">
                  <c:v>0.62</c:v>
                </c:pt>
                <c:pt idx="4">
                  <c:v>0.7</c:v>
                </c:pt>
                <c:pt idx="5">
                  <c:v>0.75</c:v>
                </c:pt>
                <c:pt idx="6">
                  <c:v>0.78</c:v>
                </c:pt>
                <c:pt idx="7">
                  <c:v>0.81</c:v>
                </c:pt>
                <c:pt idx="8">
                  <c:v>0.84</c:v>
                </c:pt>
                <c:pt idx="9">
                  <c:v>0.86</c:v>
                </c:pt>
                <c:pt idx="10">
                  <c:v>0.88</c:v>
                </c:pt>
                <c:pt idx="11">
                  <c:v>0.91</c:v>
                </c:pt>
                <c:pt idx="12">
                  <c:v>0.95</c:v>
                </c:pt>
                <c:pt idx="13">
                  <c:v>1</c:v>
                </c:pt>
              </c:numCache>
            </c:numRef>
          </c:yVal>
          <c:smooth val="1"/>
          <c:extLst>
            <c:ext xmlns:c16="http://schemas.microsoft.com/office/drawing/2014/chart" uri="{C3380CC4-5D6E-409C-BE32-E72D297353CC}">
              <c16:uniqueId val="{00000001-579D-4B94-8F04-8F7C84E6BC0D}"/>
            </c:ext>
          </c:extLst>
        </c:ser>
        <c:ser>
          <c:idx val="2"/>
          <c:order val="2"/>
          <c:tx>
            <c:strRef>
              <c:f>Hoja1!$D$1</c:f>
              <c:strCache>
                <c:ptCount val="1"/>
                <c:pt idx="0">
                  <c:v>Azar</c:v>
                </c:pt>
              </c:strCache>
            </c:strRef>
          </c:tx>
          <c:spPr>
            <a:ln w="25400" cap="rnd">
              <a:solidFill>
                <a:schemeClr val="tx1">
                  <a:lumMod val="50000"/>
                  <a:lumOff val="50000"/>
                </a:schemeClr>
              </a:solidFill>
              <a:prstDash val="sysDot"/>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Hoja1!$D$2:$D$15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yVal>
          <c:smooth val="1"/>
          <c:extLst>
            <c:ext xmlns:c16="http://schemas.microsoft.com/office/drawing/2014/chart" uri="{C3380CC4-5D6E-409C-BE32-E72D297353CC}">
              <c16:uniqueId val="{00000002-579D-4B94-8F04-8F7C84E6BC0D}"/>
            </c:ext>
          </c:extLst>
        </c:ser>
        <c:dLbls>
          <c:showLegendKey val="0"/>
          <c:showVal val="0"/>
          <c:showCatName val="0"/>
          <c:showSerName val="0"/>
          <c:showPercent val="0"/>
          <c:showBubbleSize val="0"/>
        </c:dLbls>
        <c:axId val="1520245184"/>
        <c:axId val="1520253824"/>
      </c:scatterChart>
      <c:valAx>
        <c:axId val="1520245184"/>
        <c:scaling>
          <c:orientation val="minMax"/>
          <c:max val="1"/>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53824"/>
        <c:crosses val="autoZero"/>
        <c:crossBetween val="midCat"/>
      </c:valAx>
      <c:valAx>
        <c:axId val="152025382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45184"/>
        <c:crosses val="autoZero"/>
        <c:crossBetween val="midCat"/>
      </c:valAx>
      <c:spPr>
        <a:noFill/>
        <a:ln>
          <a:noFill/>
        </a:ln>
        <a:effectLst/>
      </c:spPr>
    </c:plotArea>
    <c:legend>
      <c:legendPos val="tr"/>
      <c:layout>
        <c:manualLayout>
          <c:xMode val="edge"/>
          <c:yMode val="edge"/>
          <c:x val="0.74006174778798239"/>
          <c:y val="0.30628344558325177"/>
          <c:w val="0.22357743341176989"/>
          <c:h val="0.29380149079548157"/>
        </c:manualLayout>
      </c:layout>
      <c:overlay val="1"/>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Tasa de Detección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pieChart>
        <c:varyColors val="1"/>
        <c:ser>
          <c:idx val="0"/>
          <c:order val="0"/>
          <c:tx>
            <c:strRef>
              <c:f>Hoja1!$B$1</c:f>
              <c:strCache>
                <c:ptCount val="1"/>
                <c:pt idx="0">
                  <c:v>Valor</c:v>
                </c:pt>
              </c:strCache>
            </c:strRef>
          </c:tx>
          <c:dPt>
            <c:idx val="0"/>
            <c:bubble3D val="0"/>
            <c:spPr>
              <a:solidFill>
                <a:srgbClr val="C00000"/>
              </a:solidFill>
              <a:ln w="19050">
                <a:solidFill>
                  <a:schemeClr val="lt1"/>
                </a:solidFill>
              </a:ln>
              <a:effectLst/>
            </c:spPr>
            <c:extLst>
              <c:ext xmlns:c16="http://schemas.microsoft.com/office/drawing/2014/chart" uri="{C3380CC4-5D6E-409C-BE32-E72D297353CC}">
                <c16:uniqueId val="{00000003-15D2-4E36-BAAB-61525CD9568E}"/>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2-15D2-4E36-BAAB-61525CD9568E}"/>
              </c:ext>
            </c:extLst>
          </c:dPt>
          <c:cat>
            <c:strRef>
              <c:f>Hoja1!$A$2:$A$3</c:f>
              <c:strCache>
                <c:ptCount val="2"/>
                <c:pt idx="0">
                  <c:v>Sin CCR</c:v>
                </c:pt>
                <c:pt idx="1">
                  <c:v>CCR Confirmado</c:v>
                </c:pt>
              </c:strCache>
            </c:strRef>
          </c:cat>
          <c:val>
            <c:numRef>
              <c:f>Hoja1!$B$2:$B$3</c:f>
              <c:numCache>
                <c:formatCode>0%</c:formatCode>
                <c:ptCount val="2"/>
                <c:pt idx="0">
                  <c:v>0.87</c:v>
                </c:pt>
                <c:pt idx="1">
                  <c:v>0.13</c:v>
                </c:pt>
              </c:numCache>
            </c:numRef>
          </c:val>
          <c:extLst>
            <c:ext xmlns:c16="http://schemas.microsoft.com/office/drawing/2014/chart" uri="{C3380CC4-5D6E-409C-BE32-E72D297353CC}">
              <c16:uniqueId val="{00000000-15D2-4E36-BAAB-61525CD9568E}"/>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s-CL" dirty="0"/>
              <a:t>Estadificación al Diagnóstico</a:t>
            </a:r>
          </a:p>
          <a:p>
            <a:pPr>
              <a:defRPr/>
            </a:pPr>
            <a:r>
              <a:rPr lang="es-CL" dirty="0"/>
              <a:t>(% de pacientes)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Tempranos (I-II)</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Hoja1!$B$2</c:f>
              <c:numCache>
                <c:formatCode>0.00%</c:formatCode>
                <c:ptCount val="1"/>
                <c:pt idx="0">
                  <c:v>0.33100000000000002</c:v>
                </c:pt>
              </c:numCache>
            </c:numRef>
          </c:val>
          <c:extLst>
            <c:ext xmlns:c16="http://schemas.microsoft.com/office/drawing/2014/chart" uri="{C3380CC4-5D6E-409C-BE32-E72D297353CC}">
              <c16:uniqueId val="{00000000-6B81-4C82-988A-CC16F34A5C1E}"/>
            </c:ext>
          </c:extLst>
        </c:ser>
        <c:ser>
          <c:idx val="1"/>
          <c:order val="1"/>
          <c:tx>
            <c:strRef>
              <c:f>Hoja1!$C$1</c:f>
              <c:strCache>
                <c:ptCount val="1"/>
                <c:pt idx="0">
                  <c:v>Avanzados (III-IV)</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Hoja1!$C$2</c:f>
              <c:numCache>
                <c:formatCode>0.00%</c:formatCode>
                <c:ptCount val="1"/>
                <c:pt idx="0">
                  <c:v>0.66900000000000004</c:v>
                </c:pt>
              </c:numCache>
            </c:numRef>
          </c:val>
          <c:extLst>
            <c:ext xmlns:c16="http://schemas.microsoft.com/office/drawing/2014/chart" uri="{C3380CC4-5D6E-409C-BE32-E72D297353CC}">
              <c16:uniqueId val="{00000001-6B81-4C82-988A-CC16F34A5C1E}"/>
            </c:ext>
          </c:extLst>
        </c:ser>
        <c:dLbls>
          <c:showLegendKey val="0"/>
          <c:showVal val="0"/>
          <c:showCatName val="0"/>
          <c:showSerName val="0"/>
          <c:showPercent val="0"/>
          <c:showBubbleSize val="0"/>
        </c:dLbls>
        <c:gapWidth val="219"/>
        <c:overlap val="-27"/>
        <c:axId val="1520263424"/>
        <c:axId val="1520257664"/>
      </c:barChart>
      <c:catAx>
        <c:axId val="1520263424"/>
        <c:scaling>
          <c:orientation val="minMax"/>
        </c:scaling>
        <c:delete val="1"/>
        <c:axPos val="b"/>
        <c:numFmt formatCode="General" sourceLinked="1"/>
        <c:majorTickMark val="none"/>
        <c:minorTickMark val="none"/>
        <c:tickLblPos val="nextTo"/>
        <c:crossAx val="1520257664"/>
        <c:crosses val="autoZero"/>
        <c:auto val="1"/>
        <c:lblAlgn val="ctr"/>
        <c:lblOffset val="100"/>
        <c:noMultiLvlLbl val="0"/>
      </c:catAx>
      <c:valAx>
        <c:axId val="152025766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63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A_42C758FB.xml><?xml version="1.0" encoding="utf-8"?>
<p188:cmLst xmlns:a="http://schemas.openxmlformats.org/drawingml/2006/main" xmlns:r="http://schemas.openxmlformats.org/officeDocument/2006/relationships" xmlns:p188="http://schemas.microsoft.com/office/powerpoint/2018/8/main">
  <p188:cm id="{E44B3A08-7D50-40EE-875A-20B339FC5789}" authorId="{F41D8B98-483F-74EF-7ECF-E3886A2D2BF2}" created="2025-11-17T23:32:23.794">
    <pc:sldMkLst xmlns:pc="http://schemas.microsoft.com/office/powerpoint/2013/main/command">
      <pc:docMk/>
      <pc:sldMk cId="1120360699" sldId="2076137370"/>
    </pc:sldMkLst>
    <p188:txBody>
      <a:bodyPr/>
      <a:lstStyle/>
      <a:p>
        <a:r>
          <a:rPr lang="es-CL"/>
          <a:t>1.- En este estudio se descubrieron dos cosas importantes: primero, hay 4 variables que deberían estar en el protocolo pero no lo están. 
2.- Hay 7 variables que no aportan valor predictivo, algunas de las cuales actualmente se están usando. 
3.- Se mejora la capacidad de predicción del modelo en casi 20%
4.- Se cumplen 4 etapas del ciclo de ciencia de datos: problema de negocio, datos y preparación, modelamiento y Evaluación. </a:t>
        </a:r>
      </a:p>
    </p188:txBody>
  </p188:cm>
</p188:cmLst>
</file>

<file path=ppt/comments/modernComment_7BBF579B_5282B8A1.xml><?xml version="1.0" encoding="utf-8"?>
<p188:cmLst xmlns:a="http://schemas.openxmlformats.org/drawingml/2006/main" xmlns:r="http://schemas.openxmlformats.org/officeDocument/2006/relationships" xmlns:p188="http://schemas.microsoft.com/office/powerpoint/2018/8/main">
  <p188:cm id="{536FBF75-86CF-4B23-A6BC-E7B74F427F37}" authorId="{2F7A7DD7-8D6D-E87B-E17C-620A254122A4}" created="2025-11-17T20:21:26.692">
    <pc:sldMkLst xmlns:pc="http://schemas.microsoft.com/office/powerpoint/2013/main/command">
      <pc:docMk/>
      <pc:sldMk cId="1384298657" sldId="2076137371"/>
    </pc:sldMkLst>
    <p188:txBody>
      <a:bodyPr/>
      <a:lstStyle/>
      <a:p>
        <a:r>
          <a:rPr lang="es-CL"/>
          <a:t>En el estudio se crearon dos algoritmos: uno completo con 9 variables y otro simplificado con 7 variables.
Los resultados muestran que el modelo completo alcanzó AUC 0,86 y el simplificado 0,81, ambos con rendimiento MUY BUENO. La diferencia es mínima: solo 5 puntos.
Lo valioso detectado es que se puede mantener alta precisión con menos datos. Esto significa mayor eficiencia, mejor escalabilidad y más robustez para implementar en diferentes contextos.
El estudio confirma el valor de los estudios de imagen pero también revela que el modelo simple es una alternativa práctica. La lección clave: más datos no siempre significa mejores resultados.
En conclusión, los investigadores demostraron que la ciencia de datos puede crear herramientas diagnósticas tanto precisas como accesibles.</a:t>
        </a:r>
      </a:p>
    </p188:txBody>
  </p188:cm>
</p188:cmLst>
</file>

<file path=ppt/comments/modernComment_7BBF579C_EAEB6B86.xml><?xml version="1.0" encoding="utf-8"?>
<p188:cmLst xmlns:a="http://schemas.openxmlformats.org/drawingml/2006/main" xmlns:r="http://schemas.openxmlformats.org/officeDocument/2006/relationships" xmlns:p188="http://schemas.microsoft.com/office/powerpoint/2018/8/main">
  <p188:cm id="{A22AB12F-7491-4FCA-A0DC-121189ACE5E3}" authorId="{2F7A7DD7-8D6D-E87B-E17C-620A254122A4}" created="2025-11-17T20:25:19">
    <pc:sldMkLst xmlns:pc="http://schemas.microsoft.com/office/powerpoint/2013/main/command">
      <pc:docMk/>
      <pc:sldMk cId="3941297030" sldId="2076137372"/>
    </pc:sldMkLst>
    <p188:txBody>
      <a:bodyPr/>
      <a:lstStyle/>
      <a:p>
        <a:r>
          <a:rPr lang="es-CL"/>
          <a:t>La realidad es alarmante: 87% de pacientes NO son diagnosticados oportunamente. De los casos detectados, 67% llegan en estadios avanzados cuando ya es tarde.
El impacto es devastador. Supervivencia a 5 años: 90% si se detecta temprano versus solo 14% en estadio metastásico. La detección temprana multiplica por 6 las probabilidades de vivir.
Dos de cada tres pacientes pierden la oportunidad de un tratamiento efectivo por diagnóstico tardío. Aquí es donde los algoritmos predictivos que vimos anteriormente se vuelven cruciales: pueden cambiar esta estadística detectando la enfermedad antes de que sea demasiado tarde.
La ciencia de datos no es solo tecnología - también puede marcar la diferencia entre poder salvar más vidas. Si mejoramos la detección temprana por supuesto.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comments/modernComment_7BBF5798_F299D2FB.xml><?xml version="1.0" encoding="utf-8"?>
<p188:cmLst xmlns:a="http://schemas.openxmlformats.org/drawingml/2006/main" xmlns:r="http://schemas.openxmlformats.org/officeDocument/2006/relationships" xmlns:p188="http://schemas.microsoft.com/office/powerpoint/2018/8/main">
  <p188:cm id="{FBFB5005-5FDD-4E43-9589-016AB65068D2}" authorId="{F41D8B98-483F-74EF-7ECF-E3886A2D2BF2}" created="2025-11-17T06:22:49.824">
    <pc:sldMkLst xmlns:pc="http://schemas.microsoft.com/office/powerpoint/2013/main/command">
      <pc:docMk/>
      <pc:sldMk cId="4070167291" sldId="2076137368"/>
    </pc:sldMkLst>
    <p188:txBody>
      <a:bodyPr/>
      <a:lstStyle/>
      <a:p>
        <a:r>
          <a:rPr lang="es-CL"/>
          <a:t>En este primer resultado vemos el análisis de importancia de variables 
del modelo predictivo.
De 16 variables iniciales, el modelo identificó 9 ESTADÍSTICAMENTE 
SIGNIFICATIVAS, ordenadas aquí según su poder predictivo.
Las variables con MAYOR IMPORTANCIA son el sangrado gastrointestinal 
y la tomografía computarizada.
Lo relevante desde ciencia de datos es la comparación con el protocolo 
GES actual:
En AZUL vemos las 5 variables que YA están en el protocolo GES y que 
el modelo validó como importantes.
En VERDE están las 4 VARIABLES NUEVAS que el modelo identificó pero 
que NO están actualmente en el protocolo GES.
Estas 4 variables adicionales - especialmente las imagenológicas como 
TAC y ecografía - mejoran la capacidad predictiva del modelo en 5 puntos 
de AUC, pasando de 0,81 a 0,86.
Esto demuestra cómo el análisis de datos puede optimizar protocolos 
clínicos existentes identificando variables relevantes que antes 
no se consideraban.</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a:solidFill>
          <a:schemeClr val="accent2">
            <a:lumMod val="75000"/>
          </a:schemeClr>
        </a:solidFill>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dirty="0"/>
        </a:p>
      </dgm:t>
    </dgm:pt>
    <dgm:pt modelId="{AEA42B3C-BDA0-4798-8E7A-DDEAAD7CD145}">
      <dgm:prSet phldrT="[Texto]" phldr="0"/>
      <dgm:spPr>
        <a:solidFill>
          <a:schemeClr val="accent2">
            <a:lumMod val="75000"/>
          </a:schemeClr>
        </a:solidFill>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dirty="0"/>
        </a:p>
      </dgm:t>
    </dgm:pt>
    <dgm:pt modelId="{FCCEDDE4-BCBB-4CFA-8C78-E354A38ECD97}">
      <dgm:prSet phldrT="[Texto]" phldr="0"/>
      <dgm:spPr>
        <a:solidFill>
          <a:schemeClr val="accent2">
            <a:lumMod val="75000"/>
          </a:schemeClr>
        </a:solidFill>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a:solidFill>
          <a:schemeClr val="accent2">
            <a:lumMod val="75000"/>
          </a:schemeClr>
        </a:solidFill>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dirty="0"/>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CCR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CCR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a:ln>
          <a:solidFill>
            <a:schemeClr val="accent2">
              <a:lumMod val="75000"/>
            </a:schemeClr>
          </a:solidFill>
        </a:ln>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a:ln>
          <a:solidFill>
            <a:schemeClr val="accent2">
              <a:lumMod val="75000"/>
            </a:schemeClr>
          </a:solidFill>
        </a:ln>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a:ln>
          <a:solidFill>
            <a:schemeClr val="accent2">
              <a:lumMod val="75000"/>
            </a:schemeClr>
          </a:solidFill>
        </a:ln>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CCR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CCR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0.37256</cdr:x>
      <cdr:y>0</cdr:y>
    </cdr:from>
    <cdr:to>
      <cdr:x>0.37256</cdr:x>
      <cdr:y>0.8899</cdr:y>
    </cdr:to>
    <cdr:cxnSp macro="">
      <cdr:nvCxnSpPr>
        <cdr:cNvPr id="3" name="Conector recto 2">
          <a:extLst xmlns:a="http://schemas.openxmlformats.org/drawingml/2006/main">
            <a:ext uri="{FF2B5EF4-FFF2-40B4-BE49-F238E27FC236}">
              <a16:creationId xmlns:a16="http://schemas.microsoft.com/office/drawing/2014/main" id="{F55E30F7-02A6-9133-B91E-F2F230191756}"/>
            </a:ext>
          </a:extLst>
        </cdr:cNvPr>
        <cdr:cNvCxnSpPr/>
      </cdr:nvCxnSpPr>
      <cdr:spPr>
        <a:xfrm xmlns:a="http://schemas.openxmlformats.org/drawingml/2006/main">
          <a:off x="3775046" y="0"/>
          <a:ext cx="0" cy="2361565"/>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0.49244</cdr:x>
      <cdr:y>0.62231</cdr:y>
    </cdr:from>
    <cdr:to>
      <cdr:x>0.68052</cdr:x>
      <cdr:y>0.69714</cdr:y>
    </cdr:to>
    <cdr:sp macro="" textlink="">
      <cdr:nvSpPr>
        <cdr:cNvPr id="2" name="CuadroTexto 1">
          <a:extLst xmlns:a="http://schemas.openxmlformats.org/drawingml/2006/main">
            <a:ext uri="{FF2B5EF4-FFF2-40B4-BE49-F238E27FC236}">
              <a16:creationId xmlns:a16="http://schemas.microsoft.com/office/drawing/2014/main" id="{DFB2C53F-14BF-6667-98E4-65817B95E8D5}"/>
            </a:ext>
          </a:extLst>
        </cdr:cNvPr>
        <cdr:cNvSpPr txBox="1"/>
      </cdr:nvSpPr>
      <cdr:spPr>
        <a:xfrm xmlns:a="http://schemas.openxmlformats.org/drawingml/2006/main">
          <a:off x="1428431" y="2236797"/>
          <a:ext cx="545566" cy="268941"/>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s-CL" sz="1400" kern="1200" dirty="0">
              <a:solidFill>
                <a:schemeClr val="bg1"/>
              </a:solidFill>
            </a:rPr>
            <a:t>87%</a:t>
          </a:r>
        </a:p>
      </cdr:txBody>
    </cdr:sp>
  </cdr:relSizeAnchor>
  <cdr:relSizeAnchor xmlns:cdr="http://schemas.openxmlformats.org/drawingml/2006/chartDrawing">
    <cdr:from>
      <cdr:x>0.32025</cdr:x>
      <cdr:y>0.25544</cdr:y>
    </cdr:from>
    <cdr:to>
      <cdr:x>0.46595</cdr:x>
      <cdr:y>0.33454</cdr:y>
    </cdr:to>
    <cdr:sp macro="" textlink="">
      <cdr:nvSpPr>
        <cdr:cNvPr id="3" name="CuadroTexto 2">
          <a:extLst xmlns:a="http://schemas.openxmlformats.org/drawingml/2006/main">
            <a:ext uri="{FF2B5EF4-FFF2-40B4-BE49-F238E27FC236}">
              <a16:creationId xmlns:a16="http://schemas.microsoft.com/office/drawing/2014/main" id="{C9901E2B-2E97-D439-A2B9-69BE39DA4556}"/>
            </a:ext>
          </a:extLst>
        </cdr:cNvPr>
        <cdr:cNvSpPr txBox="1"/>
      </cdr:nvSpPr>
      <cdr:spPr>
        <a:xfrm xmlns:a="http://schemas.openxmlformats.org/drawingml/2006/main">
          <a:off x="928968" y="918130"/>
          <a:ext cx="422622" cy="284309"/>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s-CL" sz="1400" kern="1200" dirty="0">
              <a:solidFill>
                <a:schemeClr val="tx1"/>
              </a:solidFill>
            </a:rPr>
            <a:t>13%</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17-11-2025</a:t>
            </a:fld>
            <a:endParaRPr lang="es-ES"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dirty="0"/>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dirty="0"/>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dirty="0"/>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dirty="0"/>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dirty="0"/>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dirty="0"/>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dirty="0"/>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dirty="0"/>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dirty="0"/>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dirty="0"/>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dirty="0"/>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dirty="0"/>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dirty="0"/>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dirty="0"/>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17-11-2025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17-11-2025</a:t>
            </a:fld>
            <a:endParaRPr lang="es-CL" dirty="0"/>
          </a:p>
        </p:txBody>
      </p:sp>
      <p:sp>
        <p:nvSpPr>
          <p:cNvPr id="8" name="Footer Placeholder 7"/>
          <p:cNvSpPr>
            <a:spLocks noGrp="1"/>
          </p:cNvSpPr>
          <p:nvPr>
            <p:ph type="ftr" sz="quarter" idx="11"/>
          </p:nvPr>
        </p:nvSpPr>
        <p:spPr/>
        <p:txBody>
          <a:bodyPr/>
          <a:lstStyle/>
          <a:p>
            <a:r>
              <a:rPr lang="es-MX" dirty="0"/>
              <a:t>MSI600 - INTRODUCCIÓN CIENCIA DE DATOS</a:t>
            </a:r>
            <a:endParaRPr lang="es-CL" dirty="0"/>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17-11-2025</a:t>
            </a:fld>
            <a:endParaRPr lang="es-CL" dirty="0"/>
          </a:p>
        </p:txBody>
      </p:sp>
      <p:sp>
        <p:nvSpPr>
          <p:cNvPr id="4" name="Footer Placeholder 3"/>
          <p:cNvSpPr>
            <a:spLocks noGrp="1"/>
          </p:cNvSpPr>
          <p:nvPr>
            <p:ph type="ftr" sz="quarter" idx="11"/>
          </p:nvPr>
        </p:nvSpPr>
        <p:spPr/>
        <p:txBody>
          <a:bodyPr/>
          <a:lstStyle/>
          <a:p>
            <a:r>
              <a:rPr lang="es-MX" dirty="0"/>
              <a:t>MSI600 - INTRODUCCIÓN CIENCIA DE DATOS</a:t>
            </a:r>
            <a:endParaRPr lang="es-CL" dirty="0"/>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17-11-2025</a:t>
            </a:fld>
            <a:endParaRPr lang="es-CL" dirty="0"/>
          </a:p>
        </p:txBody>
      </p:sp>
      <p:sp>
        <p:nvSpPr>
          <p:cNvPr id="3" name="Footer Placeholder 2"/>
          <p:cNvSpPr>
            <a:spLocks noGrp="1"/>
          </p:cNvSpPr>
          <p:nvPr>
            <p:ph type="ftr" sz="quarter" idx="11"/>
          </p:nvPr>
        </p:nvSpPr>
        <p:spPr/>
        <p:txBody>
          <a:bodyPr/>
          <a:lstStyle/>
          <a:p>
            <a:r>
              <a:rPr lang="es-MX" dirty="0"/>
              <a:t>MSI600 - INTRODUCCIÓN CIENCIA DE DATOS</a:t>
            </a:r>
            <a:endParaRPr lang="es-CL" dirty="0"/>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17-11-2025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dirty="0"/>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17-11-2025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17-11-2025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17-11-2025</a:t>
            </a:fld>
            <a:endParaRPr lang="es-CL"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dirty="0"/>
              <a:t>MSI600 - INTRODUCCIÓN CIENCIA DE DATOS</a:t>
            </a:r>
            <a:endParaRPr lang="es-CL"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microsoft.com/office/2018/10/relationships/comments" Target="../comments/modernComment_7BBF5798_F299D2FB.xm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microsoft.com/office/2018/10/relationships/comments" Target="../comments/modernComment_7BBF579B_5282B8A1.xm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chart" Target="../charts/char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7BBF579C_EAEB6B86.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18/10/relationships/comments" Target="../comments/modernComment_7BBF579A_42C758FB.xml"/><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hyperlink" Target="https://www.iarc.who.int/featured-%20news/ccam2021/" TargetMode="External"/><Relationship Id="rId3" Type="http://schemas.openxmlformats.org/officeDocument/2006/relationships/image" Target="../media/image2.png"/><Relationship Id="rId7" Type="http://schemas.openxmlformats.org/officeDocument/2006/relationships/hyperlink" Target="http://gco.iarc.fr/today/home"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journals.plos.org/plosone/article?id=10.1371/journal.pone.0271929" TargetMode="External"/><Relationship Id="rId5" Type="http://schemas.openxmlformats.org/officeDocument/2006/relationships/hyperlink" Target="https://www.iarc.who.int/cancer-type/colorectal-cancer/" TargetMode="External"/><Relationship Id="rId4" Type="http://schemas.openxmlformats.org/officeDocument/2006/relationships/hyperlink" Target="https://revistamedicadechile.cl/index.php/rmedica/article/view/10992"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091905" y="5364692"/>
            <a:ext cx="1856598" cy="646331"/>
          </a:xfrm>
          <a:prstGeom prst="rect">
            <a:avLst/>
          </a:prstGeom>
          <a:noFill/>
        </p:spPr>
        <p:txBody>
          <a:bodyPr wrap="none" rtlCol="0">
            <a:spAutoFit/>
          </a:bodyPr>
          <a:lstStyle/>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dirty="0"/>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dirty="0"/>
              <a:t>MSI600 - INTRODUCCIÓN CIENCIA DE DATOS</a:t>
            </a:r>
            <a:endParaRPr lang="es-CL" dirty="0"/>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dirty="0"/>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dirty="0"/>
              <a:t>MSI600 - INTRODUCCIÓN CIENCIA DE DATOS</a:t>
            </a:r>
            <a:endParaRPr lang="es-CL" dirty="0"/>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CCR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76299536"/>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dirty="0"/>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CCR</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dirty="0"/>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765128849"/>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a:ln>
            <a:solidFill>
              <a:schemeClr val="accent2">
                <a:lumMod val="75000"/>
              </a:schemeClr>
            </a:solidFill>
          </a:ln>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txBody>
          <a:bodyPr/>
          <a:lstStyle/>
          <a:p>
            <a:endParaRPr lang="es-CL" dirty="0"/>
          </a:p>
        </p:txBody>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dirty="0"/>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CCR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dirty="0"/>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CCR).</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dirty="0"/>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graphicFrame>
        <p:nvGraphicFramePr>
          <p:cNvPr id="9" name="Gráfico 8">
            <a:extLst>
              <a:ext uri="{FF2B5EF4-FFF2-40B4-BE49-F238E27FC236}">
                <a16:creationId xmlns:a16="http://schemas.microsoft.com/office/drawing/2014/main" id="{27A689AB-E356-AD48-26AD-1E51B4471784}"/>
              </a:ext>
            </a:extLst>
          </p:cNvPr>
          <p:cNvGraphicFramePr/>
          <p:nvPr>
            <p:extLst>
              <p:ext uri="{D42A27DB-BD31-4B8C-83A1-F6EECF244321}">
                <p14:modId xmlns:p14="http://schemas.microsoft.com/office/powerpoint/2010/main" val="2390577820"/>
              </p:ext>
            </p:extLst>
          </p:nvPr>
        </p:nvGraphicFramePr>
        <p:xfrm>
          <a:off x="250239" y="1893138"/>
          <a:ext cx="5019183" cy="3532232"/>
        </p:xfrm>
        <a:graphic>
          <a:graphicData uri="http://schemas.openxmlformats.org/drawingml/2006/chart">
            <c:chart xmlns:c="http://schemas.openxmlformats.org/drawingml/2006/chart" xmlns:r="http://schemas.openxmlformats.org/officeDocument/2006/relationships" r:id="rId5"/>
          </a:graphicData>
        </a:graphic>
      </p:graphicFrame>
      <p:sp>
        <p:nvSpPr>
          <p:cNvPr id="11" name="Rectángulo: esquinas redondeadas 10">
            <a:extLst>
              <a:ext uri="{FF2B5EF4-FFF2-40B4-BE49-F238E27FC236}">
                <a16:creationId xmlns:a16="http://schemas.microsoft.com/office/drawing/2014/main" id="{4AA1D242-C13A-C953-B8BB-2D3FD84E3886}"/>
              </a:ext>
            </a:extLst>
          </p:cNvPr>
          <p:cNvSpPr/>
          <p:nvPr/>
        </p:nvSpPr>
        <p:spPr>
          <a:xfrm>
            <a:off x="361949" y="1158113"/>
            <a:ext cx="4826578"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Importancia de variables en el estudio</a:t>
            </a:r>
          </a:p>
        </p:txBody>
      </p:sp>
      <p:sp>
        <p:nvSpPr>
          <p:cNvPr id="15" name="Rectángulo: esquinas redondeadas 14">
            <a:extLst>
              <a:ext uri="{FF2B5EF4-FFF2-40B4-BE49-F238E27FC236}">
                <a16:creationId xmlns:a16="http://schemas.microsoft.com/office/drawing/2014/main" id="{9B5BB754-C4E0-BF2D-5493-A81F83D4EBA5}"/>
              </a:ext>
            </a:extLst>
          </p:cNvPr>
          <p:cNvSpPr/>
          <p:nvPr/>
        </p:nvSpPr>
        <p:spPr>
          <a:xfrm>
            <a:off x="5623301" y="1155263"/>
            <a:ext cx="2707039" cy="1983144"/>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GES </a:t>
            </a:r>
          </a:p>
          <a:p>
            <a:pPr algn="ctr"/>
            <a:r>
              <a:rPr lang="es-CL" sz="1400" dirty="0"/>
              <a:t>(ya en protocolo)</a:t>
            </a:r>
          </a:p>
          <a:p>
            <a:pPr algn="ctr"/>
            <a:endParaRPr lang="es-CL" sz="1400" dirty="0"/>
          </a:p>
          <a:p>
            <a:pPr marL="285750" indent="-285750">
              <a:buFont typeface="Wingdings" panose="05000000000000000000" pitchFamily="2" charset="2"/>
              <a:buChar char="ü"/>
            </a:pPr>
            <a:r>
              <a:rPr lang="es-CL" sz="1400" dirty="0"/>
              <a:t>Sangrado GI 	  (p&lt;0,001)</a:t>
            </a:r>
          </a:p>
          <a:p>
            <a:pPr marL="285750" indent="-285750">
              <a:buFont typeface="Wingdings" panose="05000000000000000000" pitchFamily="2" charset="2"/>
              <a:buChar char="ü"/>
            </a:pPr>
            <a:r>
              <a:rPr lang="es-CL" sz="1400" dirty="0"/>
              <a:t>Edad                    (p=0,002)</a:t>
            </a:r>
          </a:p>
          <a:p>
            <a:pPr marL="285750" indent="-285750">
              <a:buFont typeface="Wingdings" panose="05000000000000000000" pitchFamily="2" charset="2"/>
              <a:buChar char="ü"/>
            </a:pPr>
            <a:r>
              <a:rPr lang="es-CL" sz="1400" dirty="0"/>
              <a:t>Diarrea                (p=0,008)</a:t>
            </a:r>
          </a:p>
          <a:p>
            <a:pPr marL="285750" indent="-285750">
              <a:buFont typeface="Wingdings" panose="05000000000000000000" pitchFamily="2" charset="2"/>
              <a:buChar char="ü"/>
            </a:pPr>
            <a:r>
              <a:rPr lang="es-CL" sz="1400" dirty="0"/>
              <a:t>Masa rectal        (p=0,003)</a:t>
            </a:r>
          </a:p>
          <a:p>
            <a:pPr marL="285750" indent="-285750">
              <a:buFont typeface="Wingdings" panose="05000000000000000000" pitchFamily="2" charset="2"/>
              <a:buChar char="ü"/>
            </a:pPr>
            <a:r>
              <a:rPr lang="es-CL" sz="1400" dirty="0"/>
              <a:t>Anemia               (p=0,011)</a:t>
            </a:r>
          </a:p>
        </p:txBody>
      </p:sp>
      <p:sp>
        <p:nvSpPr>
          <p:cNvPr id="16" name="Rectángulo: esquinas redondeadas 15">
            <a:extLst>
              <a:ext uri="{FF2B5EF4-FFF2-40B4-BE49-F238E27FC236}">
                <a16:creationId xmlns:a16="http://schemas.microsoft.com/office/drawing/2014/main" id="{4DEB628B-5BF1-D561-1E57-74849FAE4402}"/>
              </a:ext>
            </a:extLst>
          </p:cNvPr>
          <p:cNvSpPr/>
          <p:nvPr/>
        </p:nvSpPr>
        <p:spPr>
          <a:xfrm>
            <a:off x="5623300" y="3343921"/>
            <a:ext cx="2707040" cy="1983143"/>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nuevas </a:t>
            </a:r>
          </a:p>
          <a:p>
            <a:pPr algn="ctr"/>
            <a:r>
              <a:rPr lang="es-CL" sz="1400" dirty="0"/>
              <a:t>(no están en protocolo)</a:t>
            </a:r>
          </a:p>
          <a:p>
            <a:pPr algn="ctr"/>
            <a:endParaRPr lang="es-CL" sz="1400" dirty="0"/>
          </a:p>
          <a:p>
            <a:pPr marL="285750" indent="-285750">
              <a:buFont typeface="Wingdings" panose="05000000000000000000" pitchFamily="2" charset="2"/>
              <a:buChar char="ü"/>
            </a:pPr>
            <a:r>
              <a:rPr lang="es-CL" sz="1400" dirty="0"/>
              <a:t>Tomografía CT	      (p&lt;0,001)</a:t>
            </a:r>
          </a:p>
          <a:p>
            <a:pPr marL="285750" indent="-285750">
              <a:buFont typeface="Wingdings" panose="05000000000000000000" pitchFamily="2" charset="2"/>
              <a:buChar char="ü"/>
            </a:pPr>
            <a:r>
              <a:rPr lang="es-CL" sz="1400" dirty="0"/>
              <a:t>Ecografía 	      (p=0,004)</a:t>
            </a:r>
          </a:p>
          <a:p>
            <a:pPr marL="285750" indent="-285750">
              <a:buFont typeface="Wingdings" panose="05000000000000000000" pitchFamily="2" charset="2"/>
              <a:buChar char="ü"/>
            </a:pPr>
            <a:r>
              <a:rPr lang="es-CL" sz="1400" dirty="0"/>
              <a:t>Condición general (p=0,015)</a:t>
            </a:r>
          </a:p>
          <a:p>
            <a:pPr marL="285750" indent="-285750">
              <a:buFont typeface="Wingdings" panose="05000000000000000000" pitchFamily="2" charset="2"/>
              <a:buChar char="ü"/>
            </a:pPr>
            <a:r>
              <a:rPr lang="es-CL" sz="1400" dirty="0"/>
              <a:t>Sexo                         (p=0,023)</a:t>
            </a:r>
          </a:p>
        </p:txBody>
      </p:sp>
      <p:sp>
        <p:nvSpPr>
          <p:cNvPr id="7" name="Rectángulo: esquinas redondeadas 6">
            <a:extLst>
              <a:ext uri="{FF2B5EF4-FFF2-40B4-BE49-F238E27FC236}">
                <a16:creationId xmlns:a16="http://schemas.microsoft.com/office/drawing/2014/main" id="{3E530D21-87C2-C2C3-853D-6020997317FB}"/>
              </a:ext>
            </a:extLst>
          </p:cNvPr>
          <p:cNvSpPr/>
          <p:nvPr/>
        </p:nvSpPr>
        <p:spPr>
          <a:xfrm>
            <a:off x="8556673" y="1111679"/>
            <a:ext cx="3385088" cy="235169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sz="1400" dirty="0"/>
              <a:t> Variables NO Significativas </a:t>
            </a:r>
          </a:p>
          <a:p>
            <a:endParaRPr lang="es-CL" sz="1400" dirty="0"/>
          </a:p>
          <a:p>
            <a:r>
              <a:rPr lang="es-CL" sz="1400" dirty="0"/>
              <a:t>• Pérdida de peso                        (p=0,12)</a:t>
            </a:r>
          </a:p>
          <a:p>
            <a:r>
              <a:rPr lang="es-CL" sz="1400" dirty="0"/>
              <a:t>• Dolor abdominal                       (p=0,28)</a:t>
            </a:r>
          </a:p>
          <a:p>
            <a:r>
              <a:rPr lang="es-CL" sz="1400" dirty="0"/>
              <a:t>• Estreñimiento                            (p=0,45)</a:t>
            </a:r>
          </a:p>
          <a:p>
            <a:r>
              <a:rPr lang="es-CL" sz="1400" dirty="0"/>
              <a:t>• Cambio hábito intestinal         (p=0,33)</a:t>
            </a:r>
          </a:p>
          <a:p>
            <a:r>
              <a:rPr lang="es-CL" sz="1400" dirty="0"/>
              <a:t>• Antecedentes familiares CCR (p=0,19)</a:t>
            </a:r>
          </a:p>
          <a:p>
            <a:r>
              <a:rPr lang="es-CL" sz="1400" dirty="0"/>
              <a:t>• Leucocitosis                                (p=0,51)</a:t>
            </a:r>
          </a:p>
          <a:p>
            <a:r>
              <a:rPr lang="es-CL" sz="1400" dirty="0"/>
              <a:t>• Colonoscopía previa                 (p=0,38)</a:t>
            </a:r>
          </a:p>
          <a:p>
            <a:endParaRPr lang="es-CL" sz="1400" dirty="0"/>
          </a:p>
        </p:txBody>
      </p:sp>
      <p:sp>
        <p:nvSpPr>
          <p:cNvPr id="12" name="Rectángulo: esquinas redondeadas 11">
            <a:extLst>
              <a:ext uri="{FF2B5EF4-FFF2-40B4-BE49-F238E27FC236}">
                <a16:creationId xmlns:a16="http://schemas.microsoft.com/office/drawing/2014/main" id="{86BECD4D-89F0-B8CA-3B12-16F64FE8AE01}"/>
              </a:ext>
            </a:extLst>
          </p:cNvPr>
          <p:cNvSpPr/>
          <p:nvPr/>
        </p:nvSpPr>
        <p:spPr>
          <a:xfrm>
            <a:off x="3289170" y="5876964"/>
            <a:ext cx="6195792" cy="333336"/>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CL" sz="1400" dirty="0"/>
              <a:t>Criterio: p&lt;0,05 para inclusión en modelo.  (p) Valor de probabilidad.</a:t>
            </a:r>
          </a:p>
        </p:txBody>
      </p:sp>
    </p:spTree>
    <p:extLst>
      <p:ext uri="{BB962C8B-B14F-4D97-AF65-F5344CB8AC3E}">
        <p14:creationId xmlns:p14="http://schemas.microsoft.com/office/powerpoint/2010/main" val="4070167291"/>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dirty="0"/>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03506068-93DC-573F-7C5C-9E058AE5F1B9}"/>
              </a:ext>
            </a:extLst>
          </p:cNvPr>
          <p:cNvSpPr/>
          <p:nvPr/>
        </p:nvSpPr>
        <p:spPr>
          <a:xfrm>
            <a:off x="361948" y="1111047"/>
            <a:ext cx="5057339"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Rendimiento de los modelos predictivos</a:t>
            </a:r>
          </a:p>
        </p:txBody>
      </p:sp>
      <p:graphicFrame>
        <p:nvGraphicFramePr>
          <p:cNvPr id="12" name="Gráfico 11">
            <a:extLst>
              <a:ext uri="{FF2B5EF4-FFF2-40B4-BE49-F238E27FC236}">
                <a16:creationId xmlns:a16="http://schemas.microsoft.com/office/drawing/2014/main" id="{FA433C40-1579-A6DE-D284-BD9024E88B1A}"/>
              </a:ext>
            </a:extLst>
          </p:cNvPr>
          <p:cNvGraphicFramePr/>
          <p:nvPr>
            <p:extLst>
              <p:ext uri="{D42A27DB-BD31-4B8C-83A1-F6EECF244321}">
                <p14:modId xmlns:p14="http://schemas.microsoft.com/office/powerpoint/2010/main" val="3061990940"/>
              </p:ext>
            </p:extLst>
          </p:nvPr>
        </p:nvGraphicFramePr>
        <p:xfrm>
          <a:off x="476250" y="2015728"/>
          <a:ext cx="7795259" cy="2653751"/>
        </p:xfrm>
        <a:graphic>
          <a:graphicData uri="http://schemas.openxmlformats.org/drawingml/2006/chart">
            <c:chart xmlns:c="http://schemas.openxmlformats.org/drawingml/2006/chart" xmlns:r="http://schemas.openxmlformats.org/officeDocument/2006/relationships" r:id="rId5"/>
          </a:graphicData>
        </a:graphic>
      </p:graphicFrame>
      <p:sp>
        <p:nvSpPr>
          <p:cNvPr id="13" name="Rectángulo: esquinas redondeadas 12">
            <a:extLst>
              <a:ext uri="{FF2B5EF4-FFF2-40B4-BE49-F238E27FC236}">
                <a16:creationId xmlns:a16="http://schemas.microsoft.com/office/drawing/2014/main" id="{CDC4540D-DBF1-9DE5-E339-B35C0FC45DDF}"/>
              </a:ext>
            </a:extLst>
          </p:cNvPr>
          <p:cNvSpPr/>
          <p:nvPr/>
        </p:nvSpPr>
        <p:spPr>
          <a:xfrm>
            <a:off x="7518175" y="4109321"/>
            <a:ext cx="4059369" cy="2049012"/>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CL" sz="1400" dirty="0"/>
              <a:t>Modelo Completo (9 variables): AUC = </a:t>
            </a:r>
            <a:r>
              <a:rPr lang="es-CL" sz="1400" b="1" dirty="0"/>
              <a:t>0,86</a:t>
            </a:r>
          </a:p>
          <a:p>
            <a:pPr lvl="1"/>
            <a:r>
              <a:rPr lang="es-CL" sz="1400" dirty="0"/>
              <a:t>→ Rendimiento MUY BUENO</a:t>
            </a:r>
          </a:p>
          <a:p>
            <a:pPr lvl="1"/>
            <a:endParaRPr lang="es-CL" sz="1400" dirty="0"/>
          </a:p>
          <a:p>
            <a:pPr marL="285750" indent="-285750">
              <a:buFont typeface="Arial" panose="020B0604020202020204" pitchFamily="34" charset="0"/>
              <a:buChar char="•"/>
            </a:pPr>
            <a:r>
              <a:rPr lang="es-MX" sz="1400" dirty="0"/>
              <a:t>Modelo Simplificado (7 variables): AUC = </a:t>
            </a:r>
            <a:r>
              <a:rPr lang="es-MX" sz="1400" b="1" dirty="0"/>
              <a:t>0,81</a:t>
            </a:r>
          </a:p>
          <a:p>
            <a:r>
              <a:rPr lang="es-CL" sz="1400" dirty="0"/>
              <a:t>	→ Rendimiento MUY BUENO</a:t>
            </a:r>
          </a:p>
          <a:p>
            <a:endParaRPr lang="es-CL" sz="1400" dirty="0"/>
          </a:p>
          <a:p>
            <a:pPr marL="285750" indent="-285750">
              <a:buFont typeface="Arial" panose="020B0604020202020204" pitchFamily="34" charset="0"/>
              <a:buChar char="•"/>
            </a:pPr>
            <a:r>
              <a:rPr lang="es-MX" sz="1400" dirty="0"/>
              <a:t>Ambos modelos superan significativamente </a:t>
            </a:r>
          </a:p>
          <a:p>
            <a:r>
              <a:rPr lang="es-MX" sz="1400" dirty="0"/>
              <a:t>  	la línea de azar (AUC = 0,50)</a:t>
            </a:r>
            <a:endParaRPr lang="es-CL" sz="1400" dirty="0"/>
          </a:p>
        </p:txBody>
      </p:sp>
      <p:sp>
        <p:nvSpPr>
          <p:cNvPr id="14" name="Rectángulo: esquinas redondeadas 13">
            <a:extLst>
              <a:ext uri="{FF2B5EF4-FFF2-40B4-BE49-F238E27FC236}">
                <a16:creationId xmlns:a16="http://schemas.microsoft.com/office/drawing/2014/main" id="{4275F106-3467-C7B8-1121-3BD44AFD63BA}"/>
              </a:ext>
            </a:extLst>
          </p:cNvPr>
          <p:cNvSpPr/>
          <p:nvPr/>
        </p:nvSpPr>
        <p:spPr>
          <a:xfrm>
            <a:off x="8378047" y="1486497"/>
            <a:ext cx="2339623" cy="1627691"/>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Interpretación AUC:</a:t>
            </a:r>
          </a:p>
          <a:p>
            <a:pPr marL="285750" indent="-285750">
              <a:buFont typeface="Arial" panose="020B0604020202020204" pitchFamily="34" charset="0"/>
              <a:buChar char="•"/>
            </a:pPr>
            <a:r>
              <a:rPr lang="es-MX" sz="1400" dirty="0"/>
              <a:t>0,90-1,00 = Excelente</a:t>
            </a:r>
          </a:p>
          <a:p>
            <a:pPr marL="285750" indent="-285750">
              <a:buFont typeface="Arial" panose="020B0604020202020204" pitchFamily="34" charset="0"/>
              <a:buChar char="•"/>
            </a:pPr>
            <a:r>
              <a:rPr lang="es-MX" sz="1400" dirty="0"/>
              <a:t>0,80-0,90 = Muy bueno</a:t>
            </a:r>
          </a:p>
          <a:p>
            <a:pPr marL="285750" indent="-285750">
              <a:buFont typeface="Arial" panose="020B0604020202020204" pitchFamily="34" charset="0"/>
              <a:buChar char="•"/>
            </a:pPr>
            <a:r>
              <a:rPr lang="es-MX" sz="1400" dirty="0"/>
              <a:t>0,70-0,80 = Bueno</a:t>
            </a:r>
          </a:p>
          <a:p>
            <a:pPr marL="285750" indent="-285750">
              <a:buFont typeface="Arial" panose="020B0604020202020204" pitchFamily="34" charset="0"/>
              <a:buChar char="•"/>
            </a:pPr>
            <a:r>
              <a:rPr lang="es-MX" sz="1400" dirty="0"/>
              <a:t>0,60-0,70 = Regular</a:t>
            </a:r>
          </a:p>
          <a:p>
            <a:pPr marL="285750" indent="-285750">
              <a:buFont typeface="Arial" panose="020B0604020202020204" pitchFamily="34" charset="0"/>
              <a:buChar char="•"/>
            </a:pPr>
            <a:r>
              <a:rPr lang="es-MX" sz="1400" dirty="0"/>
              <a:t>0,50-0,60 = Malo</a:t>
            </a:r>
            <a:endParaRPr lang="es-CL" sz="1400" dirty="0"/>
          </a:p>
        </p:txBody>
      </p:sp>
      <p:sp>
        <p:nvSpPr>
          <p:cNvPr id="15" name="Rectángulo: esquinas redondeadas 14">
            <a:extLst>
              <a:ext uri="{FF2B5EF4-FFF2-40B4-BE49-F238E27FC236}">
                <a16:creationId xmlns:a16="http://schemas.microsoft.com/office/drawing/2014/main" id="{52852EAB-AA6F-7BDB-68E6-B8B2155DC666}"/>
              </a:ext>
            </a:extLst>
          </p:cNvPr>
          <p:cNvSpPr/>
          <p:nvPr/>
        </p:nvSpPr>
        <p:spPr>
          <a:xfrm>
            <a:off x="361948" y="5335573"/>
            <a:ext cx="6340855" cy="822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El modelo completo supera en 5 puntos al simplificado,</a:t>
            </a:r>
          </a:p>
          <a:p>
            <a:pPr algn="ctr"/>
            <a:r>
              <a:rPr lang="es-MX" dirty="0"/>
              <a:t>demostrando el valor de incluir estudios de imagen.</a:t>
            </a:r>
            <a:endParaRPr lang="es-CL" dirty="0"/>
          </a:p>
        </p:txBody>
      </p:sp>
      <p:sp>
        <p:nvSpPr>
          <p:cNvPr id="7" name="CuadroTexto 6">
            <a:extLst>
              <a:ext uri="{FF2B5EF4-FFF2-40B4-BE49-F238E27FC236}">
                <a16:creationId xmlns:a16="http://schemas.microsoft.com/office/drawing/2014/main" id="{651024D7-6B47-ABEA-4FF4-F697AB2E399B}"/>
              </a:ext>
            </a:extLst>
          </p:cNvPr>
          <p:cNvSpPr txBox="1"/>
          <p:nvPr/>
        </p:nvSpPr>
        <p:spPr>
          <a:xfrm>
            <a:off x="361948" y="1707951"/>
            <a:ext cx="1058303" cy="307777"/>
          </a:xfrm>
          <a:prstGeom prst="rect">
            <a:avLst/>
          </a:prstGeom>
          <a:noFill/>
        </p:spPr>
        <p:txBody>
          <a:bodyPr wrap="none" rtlCol="0">
            <a:spAutoFit/>
          </a:bodyPr>
          <a:lstStyle/>
          <a:p>
            <a:r>
              <a:rPr lang="es-CL" sz="1400" dirty="0"/>
              <a:t>Sensibilidad</a:t>
            </a:r>
          </a:p>
        </p:txBody>
      </p:sp>
      <p:sp>
        <p:nvSpPr>
          <p:cNvPr id="9" name="CuadroTexto 8">
            <a:extLst>
              <a:ext uri="{FF2B5EF4-FFF2-40B4-BE49-F238E27FC236}">
                <a16:creationId xmlns:a16="http://schemas.microsoft.com/office/drawing/2014/main" id="{271D4FB8-4E59-C35A-AC1F-18917D04F603}"/>
              </a:ext>
            </a:extLst>
          </p:cNvPr>
          <p:cNvSpPr txBox="1"/>
          <p:nvPr/>
        </p:nvSpPr>
        <p:spPr>
          <a:xfrm>
            <a:off x="2733435" y="4634232"/>
            <a:ext cx="1133644" cy="307777"/>
          </a:xfrm>
          <a:prstGeom prst="rect">
            <a:avLst/>
          </a:prstGeom>
          <a:noFill/>
        </p:spPr>
        <p:txBody>
          <a:bodyPr wrap="none" rtlCol="0">
            <a:spAutoFit/>
          </a:bodyPr>
          <a:lstStyle/>
          <a:p>
            <a:r>
              <a:rPr lang="es-CL" sz="1400" dirty="0"/>
              <a:t>Especificidad</a:t>
            </a:r>
          </a:p>
        </p:txBody>
      </p:sp>
    </p:spTree>
    <p:extLst>
      <p:ext uri="{BB962C8B-B14F-4D97-AF65-F5344CB8AC3E}">
        <p14:creationId xmlns:p14="http://schemas.microsoft.com/office/powerpoint/2010/main" val="1384298657"/>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dirty="0"/>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7A75C440-208D-847A-45F9-88AEECD01D9F}"/>
              </a:ext>
            </a:extLst>
          </p:cNvPr>
          <p:cNvSpPr/>
          <p:nvPr/>
        </p:nvSpPr>
        <p:spPr>
          <a:xfrm>
            <a:off x="361949" y="1111047"/>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Impacto Clínico : El Problema de la Detección Tardía</a:t>
            </a:r>
          </a:p>
        </p:txBody>
      </p:sp>
      <p:graphicFrame>
        <p:nvGraphicFramePr>
          <p:cNvPr id="11" name="Gráfico 10">
            <a:extLst>
              <a:ext uri="{FF2B5EF4-FFF2-40B4-BE49-F238E27FC236}">
                <a16:creationId xmlns:a16="http://schemas.microsoft.com/office/drawing/2014/main" id="{BA17A855-86EE-FA74-D783-C241FEBEBFDC}"/>
              </a:ext>
            </a:extLst>
          </p:cNvPr>
          <p:cNvGraphicFramePr/>
          <p:nvPr>
            <p:extLst>
              <p:ext uri="{D42A27DB-BD31-4B8C-83A1-F6EECF244321}">
                <p14:modId xmlns:p14="http://schemas.microsoft.com/office/powerpoint/2010/main" val="2631467983"/>
              </p:ext>
            </p:extLst>
          </p:nvPr>
        </p:nvGraphicFramePr>
        <p:xfrm>
          <a:off x="361949" y="1705112"/>
          <a:ext cx="2900727" cy="359432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1" name="Gráfico 30">
            <a:extLst>
              <a:ext uri="{FF2B5EF4-FFF2-40B4-BE49-F238E27FC236}">
                <a16:creationId xmlns:a16="http://schemas.microsoft.com/office/drawing/2014/main" id="{FBCCD335-A095-CB73-C1C0-D2D4C2C89A79}"/>
              </a:ext>
            </a:extLst>
          </p:cNvPr>
          <p:cNvGraphicFramePr/>
          <p:nvPr>
            <p:extLst>
              <p:ext uri="{D42A27DB-BD31-4B8C-83A1-F6EECF244321}">
                <p14:modId xmlns:p14="http://schemas.microsoft.com/office/powerpoint/2010/main" val="2588608537"/>
              </p:ext>
            </p:extLst>
          </p:nvPr>
        </p:nvGraphicFramePr>
        <p:xfrm>
          <a:off x="3700557" y="1705112"/>
          <a:ext cx="3554908" cy="3584630"/>
        </p:xfrm>
        <a:graphic>
          <a:graphicData uri="http://schemas.openxmlformats.org/drawingml/2006/chart">
            <c:chart xmlns:c="http://schemas.openxmlformats.org/drawingml/2006/chart" xmlns:r="http://schemas.openxmlformats.org/officeDocument/2006/relationships" r:id="rId6"/>
          </a:graphicData>
        </a:graphic>
      </p:graphicFrame>
      <p:sp>
        <p:nvSpPr>
          <p:cNvPr id="32" name="Rectángulo: esquinas redondeadas 31">
            <a:extLst>
              <a:ext uri="{FF2B5EF4-FFF2-40B4-BE49-F238E27FC236}">
                <a16:creationId xmlns:a16="http://schemas.microsoft.com/office/drawing/2014/main" id="{3E382B0E-11AE-2C78-B5D0-7CD7B006A7DE}"/>
              </a:ext>
            </a:extLst>
          </p:cNvPr>
          <p:cNvSpPr/>
          <p:nvPr/>
        </p:nvSpPr>
        <p:spPr>
          <a:xfrm>
            <a:off x="326907" y="5459825"/>
            <a:ext cx="8756884" cy="666449"/>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2 de cada 3 pacientes (67%) se diagnostican en estadios avanzados, reduciendo opciones terapéuticas y supervivencia.</a:t>
            </a:r>
            <a:endParaRPr lang="es-CL" dirty="0"/>
          </a:p>
        </p:txBody>
      </p:sp>
      <p:sp>
        <p:nvSpPr>
          <p:cNvPr id="33" name="Rectángulo: esquinas redondeadas 32">
            <a:extLst>
              <a:ext uri="{FF2B5EF4-FFF2-40B4-BE49-F238E27FC236}">
                <a16:creationId xmlns:a16="http://schemas.microsoft.com/office/drawing/2014/main" id="{C782C0F6-FBE1-2524-6AB1-65EB581F4729}"/>
              </a:ext>
            </a:extLst>
          </p:cNvPr>
          <p:cNvSpPr/>
          <p:nvPr/>
        </p:nvSpPr>
        <p:spPr>
          <a:xfrm>
            <a:off x="7693346" y="1705112"/>
            <a:ext cx="4251575" cy="2600701"/>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solidFill>
                  <a:schemeClr val="tx1"/>
                </a:solidFill>
              </a:rPr>
              <a:t>⚕️ IMPACTO EN SUPERVIVENCIA A 5 AÑOS:  </a:t>
            </a:r>
          </a:p>
          <a:p>
            <a:pPr algn="ctr"/>
            <a:r>
              <a:rPr lang="es-CL" sz="1400" dirty="0">
                <a:solidFill>
                  <a:schemeClr val="tx1"/>
                </a:solidFill>
              </a:rPr>
              <a:t>        </a:t>
            </a:r>
          </a:p>
          <a:p>
            <a:r>
              <a:rPr lang="es-CL" sz="1400" dirty="0">
                <a:solidFill>
                  <a:schemeClr val="tx1"/>
                </a:solidFill>
              </a:rPr>
              <a:t>Estadio I-II (temprano)	:	90% supervivencia </a:t>
            </a:r>
          </a:p>
          <a:p>
            <a:r>
              <a:rPr lang="es-CL" sz="1400" dirty="0">
                <a:solidFill>
                  <a:schemeClr val="tx1"/>
                </a:solidFill>
              </a:rPr>
              <a:t>Estadio III (avanzado)	:	64% supervivencia   </a:t>
            </a:r>
          </a:p>
          <a:p>
            <a:r>
              <a:rPr lang="es-CL" sz="1400" dirty="0">
                <a:solidFill>
                  <a:schemeClr val="tx1"/>
                </a:solidFill>
              </a:rPr>
              <a:t>Estadio IV (metastásico)	:	14% supervivencia</a:t>
            </a:r>
          </a:p>
          <a:p>
            <a:pPr algn="ctr"/>
            <a:r>
              <a:rPr lang="es-CL" sz="1400" dirty="0">
                <a:solidFill>
                  <a:schemeClr val="tx1"/>
                </a:solidFill>
              </a:rPr>
              <a:t>                                                  </a:t>
            </a:r>
          </a:p>
          <a:p>
            <a:r>
              <a:rPr lang="es-CL" sz="1400" dirty="0">
                <a:solidFill>
                  <a:schemeClr val="tx1"/>
                </a:solidFill>
              </a:rPr>
              <a:t>  → La detección temprana multiplica por 6       </a:t>
            </a:r>
          </a:p>
          <a:p>
            <a:r>
              <a:rPr lang="es-CL" sz="1400" dirty="0">
                <a:solidFill>
                  <a:schemeClr val="tx1"/>
                </a:solidFill>
              </a:rPr>
              <a:t>    las probabilidades de supervivencia </a:t>
            </a:r>
          </a:p>
        </p:txBody>
      </p:sp>
    </p:spTree>
    <p:extLst>
      <p:ext uri="{BB962C8B-B14F-4D97-AF65-F5344CB8AC3E}">
        <p14:creationId xmlns:p14="http://schemas.microsoft.com/office/powerpoint/2010/main" val="3941297030"/>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dirty="0"/>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
        <p:nvSpPr>
          <p:cNvPr id="6" name="Rectángulo: esquinas redondeadas 5">
            <a:extLst>
              <a:ext uri="{FF2B5EF4-FFF2-40B4-BE49-F238E27FC236}">
                <a16:creationId xmlns:a16="http://schemas.microsoft.com/office/drawing/2014/main" id="{E0A0AB05-6BD1-B958-194A-1CE2382D2C96}"/>
              </a:ext>
            </a:extLst>
          </p:cNvPr>
          <p:cNvSpPr/>
          <p:nvPr/>
        </p:nvSpPr>
        <p:spPr>
          <a:xfrm>
            <a:off x="361949" y="1000385"/>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Optimización del protocolo GES</a:t>
            </a:r>
          </a:p>
        </p:txBody>
      </p:sp>
      <p:sp>
        <p:nvSpPr>
          <p:cNvPr id="7" name="Rectángulo: esquinas redondeadas 6">
            <a:extLst>
              <a:ext uri="{FF2B5EF4-FFF2-40B4-BE49-F238E27FC236}">
                <a16:creationId xmlns:a16="http://schemas.microsoft.com/office/drawing/2014/main" id="{97D1278B-908C-0FAD-D4D5-40853B17BA8A}"/>
              </a:ext>
            </a:extLst>
          </p:cNvPr>
          <p:cNvSpPr/>
          <p:nvPr/>
        </p:nvSpPr>
        <p:spPr>
          <a:xfrm>
            <a:off x="361949" y="1524897"/>
            <a:ext cx="3676651" cy="3290383"/>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VENTAJAS:</a:t>
            </a:r>
          </a:p>
          <a:p>
            <a:endParaRPr lang="es-MX" sz="1200" dirty="0"/>
          </a:p>
          <a:p>
            <a:r>
              <a:rPr lang="es-MX" sz="1200" dirty="0"/>
              <a:t>• Muy buen rendimiento (AUC = 0,86)</a:t>
            </a:r>
          </a:p>
          <a:p>
            <a:r>
              <a:rPr lang="es-MX" sz="1200" dirty="0"/>
              <a:t>  → Supera estándares clínicos</a:t>
            </a:r>
          </a:p>
          <a:p>
            <a:endParaRPr lang="es-MX" sz="1200" dirty="0"/>
          </a:p>
          <a:p>
            <a:r>
              <a:rPr lang="es-MX" sz="1200" dirty="0"/>
              <a:t>• Uso de variables accesibles</a:t>
            </a:r>
          </a:p>
          <a:p>
            <a:r>
              <a:rPr lang="es-MX" sz="1200" dirty="0"/>
              <a:t>  → Aplicable en sistema público</a:t>
            </a:r>
          </a:p>
          <a:p>
            <a:endParaRPr lang="es-MX" sz="1200" dirty="0"/>
          </a:p>
          <a:p>
            <a:r>
              <a:rPr lang="es-MX" sz="1200" dirty="0"/>
              <a:t>• Validación robusta (n = 1.099)</a:t>
            </a:r>
          </a:p>
          <a:p>
            <a:r>
              <a:rPr lang="es-MX" sz="1200" dirty="0"/>
              <a:t>  → 5 años de datos retrospectivos</a:t>
            </a:r>
          </a:p>
          <a:p>
            <a:endParaRPr lang="es-MX" sz="1200" dirty="0"/>
          </a:p>
          <a:p>
            <a:r>
              <a:rPr lang="es-MX" sz="1200" dirty="0"/>
              <a:t>• Compatible con GES actual</a:t>
            </a:r>
          </a:p>
          <a:p>
            <a:r>
              <a:rPr lang="es-MX" sz="1200" dirty="0"/>
              <a:t>  → No requiere cambio radical</a:t>
            </a:r>
            <a:endParaRPr lang="es-CL" sz="1200" dirty="0"/>
          </a:p>
        </p:txBody>
      </p:sp>
      <p:sp>
        <p:nvSpPr>
          <p:cNvPr id="9" name="Rectángulo: esquinas redondeadas 8">
            <a:extLst>
              <a:ext uri="{FF2B5EF4-FFF2-40B4-BE49-F238E27FC236}">
                <a16:creationId xmlns:a16="http://schemas.microsoft.com/office/drawing/2014/main" id="{2EA706AA-E70C-EFEC-162C-EC850E4AEAB5}"/>
              </a:ext>
            </a:extLst>
          </p:cNvPr>
          <p:cNvSpPr/>
          <p:nvPr/>
        </p:nvSpPr>
        <p:spPr>
          <a:xfrm>
            <a:off x="4360002" y="1524898"/>
            <a:ext cx="3676651" cy="3290382"/>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r>
              <a:rPr lang="es-MX" sz="1200" dirty="0">
                <a:solidFill>
                  <a:schemeClr val="tx1"/>
                </a:solidFill>
              </a:rPr>
              <a:t>DESAFÍOS:</a:t>
            </a:r>
          </a:p>
          <a:p>
            <a:endParaRPr lang="es-MX" sz="1200" dirty="0">
              <a:solidFill>
                <a:schemeClr val="tx1"/>
              </a:solidFill>
            </a:endParaRPr>
          </a:p>
          <a:p>
            <a:r>
              <a:rPr lang="es-MX" sz="1200" dirty="0">
                <a:solidFill>
                  <a:schemeClr val="tx1"/>
                </a:solidFill>
              </a:rPr>
              <a:t>• Estudio retrospectivo</a:t>
            </a:r>
          </a:p>
          <a:p>
            <a:r>
              <a:rPr lang="es-MX" sz="1200" dirty="0">
                <a:solidFill>
                  <a:schemeClr val="tx1"/>
                </a:solidFill>
              </a:rPr>
              <a:t>  → Necesita validación prospectiva</a:t>
            </a:r>
          </a:p>
          <a:p>
            <a:endParaRPr lang="es-MX" sz="1200" dirty="0">
              <a:solidFill>
                <a:schemeClr val="tx1"/>
              </a:solidFill>
            </a:endParaRPr>
          </a:p>
          <a:p>
            <a:r>
              <a:rPr lang="es-MX" sz="1200" dirty="0">
                <a:solidFill>
                  <a:schemeClr val="tx1"/>
                </a:solidFill>
              </a:rPr>
              <a:t>• Un solo centro hospitalario</a:t>
            </a:r>
          </a:p>
          <a:p>
            <a:r>
              <a:rPr lang="es-MX" sz="1200" dirty="0">
                <a:solidFill>
                  <a:schemeClr val="tx1"/>
                </a:solidFill>
              </a:rPr>
              <a:t>  → Generalización limitada</a:t>
            </a:r>
          </a:p>
          <a:p>
            <a:endParaRPr lang="es-MX" sz="1200" dirty="0">
              <a:solidFill>
                <a:schemeClr val="tx1"/>
              </a:solidFill>
            </a:endParaRPr>
          </a:p>
          <a:p>
            <a:r>
              <a:rPr lang="es-MX" sz="1200" dirty="0">
                <a:solidFill>
                  <a:schemeClr val="tx1"/>
                </a:solidFill>
              </a:rPr>
              <a:t>• Falta análisis de costo-beneficio</a:t>
            </a:r>
          </a:p>
          <a:p>
            <a:r>
              <a:rPr lang="es-MX" sz="1200" dirty="0">
                <a:solidFill>
                  <a:schemeClr val="tx1"/>
                </a:solidFill>
              </a:rPr>
              <a:t>  → Implementación incierta</a:t>
            </a:r>
          </a:p>
          <a:p>
            <a:endParaRPr lang="es-MX" sz="1200" dirty="0">
              <a:solidFill>
                <a:schemeClr val="tx1"/>
              </a:solidFill>
            </a:endParaRPr>
          </a:p>
          <a:p>
            <a:r>
              <a:rPr lang="es-MX" sz="1200" dirty="0">
                <a:solidFill>
                  <a:schemeClr val="tx1"/>
                </a:solidFill>
              </a:rPr>
              <a:t>• No considera comorbilidades complejas</a:t>
            </a:r>
          </a:p>
          <a:p>
            <a:r>
              <a:rPr lang="es-MX" sz="1200" dirty="0">
                <a:solidFill>
                  <a:schemeClr val="tx1"/>
                </a:solidFill>
              </a:rPr>
              <a:t>  → Población real más heterogénea</a:t>
            </a:r>
          </a:p>
          <a:p>
            <a:endParaRPr lang="es-MX" sz="1200" dirty="0">
              <a:solidFill>
                <a:schemeClr val="tx1"/>
              </a:solidFill>
            </a:endParaRPr>
          </a:p>
          <a:p>
            <a:r>
              <a:rPr lang="es-MX" sz="1200" dirty="0">
                <a:solidFill>
                  <a:schemeClr val="tx1"/>
                </a:solidFill>
              </a:rPr>
              <a:t>• Dependencia de estudios imagenológicos</a:t>
            </a:r>
          </a:p>
          <a:p>
            <a:r>
              <a:rPr lang="es-MX" sz="1200" dirty="0">
                <a:solidFill>
                  <a:schemeClr val="tx1"/>
                </a:solidFill>
              </a:rPr>
              <a:t>  → Disponibilidad variable en regiones</a:t>
            </a:r>
            <a:endParaRPr lang="es-CL" sz="1200" dirty="0">
              <a:solidFill>
                <a:schemeClr val="tx1"/>
              </a:solidFill>
            </a:endParaRPr>
          </a:p>
        </p:txBody>
      </p:sp>
      <p:sp>
        <p:nvSpPr>
          <p:cNvPr id="11" name="Rectángulo: esquinas redondeadas 10">
            <a:extLst>
              <a:ext uri="{FF2B5EF4-FFF2-40B4-BE49-F238E27FC236}">
                <a16:creationId xmlns:a16="http://schemas.microsoft.com/office/drawing/2014/main" id="{9AA29E8B-261E-00AC-CE81-758EF3850932}"/>
              </a:ext>
            </a:extLst>
          </p:cNvPr>
          <p:cNvSpPr/>
          <p:nvPr/>
        </p:nvSpPr>
        <p:spPr>
          <a:xfrm>
            <a:off x="8358055" y="1524898"/>
            <a:ext cx="3676651" cy="3290382"/>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SI GES ADOPTARA LAS 4 VARIABLES NUEVAS:</a:t>
            </a:r>
          </a:p>
          <a:p>
            <a:endParaRPr lang="es-MX" sz="1200" dirty="0"/>
          </a:p>
          <a:p>
            <a:r>
              <a:rPr lang="es-MX" sz="1200" dirty="0"/>
              <a:t>Modelo actual GES: 5 variables validadas</a:t>
            </a:r>
          </a:p>
          <a:p>
            <a:r>
              <a:rPr lang="es-MX" sz="1200" dirty="0"/>
              <a:t>Modelo propuesto: 9 variables (+ 4 nuevas)</a:t>
            </a:r>
          </a:p>
          <a:p>
            <a:endParaRPr lang="es-MX" sz="1200" dirty="0"/>
          </a:p>
          <a:p>
            <a:r>
              <a:rPr lang="es-MX" sz="1200" dirty="0"/>
              <a:t>IMPACTO ESTIMADO (por cada 1.000 pacientes):</a:t>
            </a:r>
          </a:p>
          <a:p>
            <a:endParaRPr lang="es-MX" sz="1200" dirty="0"/>
          </a:p>
          <a:p>
            <a:r>
              <a:rPr lang="es-MX" sz="1200" dirty="0"/>
              <a:t>• Mejora en detección temprana: +12-15%</a:t>
            </a:r>
          </a:p>
          <a:p>
            <a:r>
              <a:rPr lang="es-MX" sz="1200" dirty="0"/>
              <a:t>• Reducción diagnóstico tardío: -8-10%</a:t>
            </a:r>
          </a:p>
          <a:p>
            <a:r>
              <a:rPr lang="es-MX" sz="1200" dirty="0"/>
              <a:t>• Vidas salvadas potenciales: 8-12 pacientes</a:t>
            </a:r>
          </a:p>
          <a:p>
            <a:r>
              <a:rPr lang="es-MX" sz="1200" dirty="0"/>
              <a:t>• Mejora supervivencia a 5 años: +18-22%</a:t>
            </a:r>
          </a:p>
          <a:p>
            <a:endParaRPr lang="es-MX" sz="1200" dirty="0"/>
          </a:p>
          <a:p>
            <a:r>
              <a:rPr lang="es-MX" sz="1200" dirty="0"/>
              <a:t>→ Costo adicional: Mínimo (variables clínicas)</a:t>
            </a:r>
          </a:p>
          <a:p>
            <a:r>
              <a:rPr lang="es-MX" sz="1200" dirty="0"/>
              <a:t>→ Beneficio: Alto impacto en salud pública</a:t>
            </a:r>
            <a:endParaRPr lang="es-CL" sz="1200" dirty="0"/>
          </a:p>
        </p:txBody>
      </p:sp>
      <p:sp>
        <p:nvSpPr>
          <p:cNvPr id="12" name="Rectángulo: esquinas redondeadas 11">
            <a:extLst>
              <a:ext uri="{FF2B5EF4-FFF2-40B4-BE49-F238E27FC236}">
                <a16:creationId xmlns:a16="http://schemas.microsoft.com/office/drawing/2014/main" id="{0BAECC97-EB37-0423-BD90-9D5DC19B1807}"/>
              </a:ext>
            </a:extLst>
          </p:cNvPr>
          <p:cNvSpPr/>
          <p:nvPr/>
        </p:nvSpPr>
        <p:spPr>
          <a:xfrm>
            <a:off x="361949" y="5005908"/>
            <a:ext cx="11672757" cy="107392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t>🔑 </a:t>
            </a:r>
            <a:r>
              <a:rPr lang="es-MX" sz="1200" dirty="0"/>
              <a:t>CONCLUSIÓN CRÍTICA:</a:t>
            </a:r>
          </a:p>
          <a:p>
            <a:pPr marL="285750" indent="-285750">
              <a:buFont typeface="Arial" panose="020B0604020202020204" pitchFamily="34" charset="0"/>
              <a:buChar char="•"/>
            </a:pPr>
            <a:endParaRPr lang="es-MX" sz="1200" dirty="0"/>
          </a:p>
          <a:p>
            <a:pPr marL="285750" indent="-285750">
              <a:buFont typeface="Arial" panose="020B0604020202020204" pitchFamily="34" charset="0"/>
              <a:buChar char="•"/>
            </a:pPr>
            <a:r>
              <a:rPr lang="es-MX" sz="1200" dirty="0"/>
              <a:t>La incorporación de 4 variables adicionales al protocolo GES podría mejorar significativamente la detección temprana de CCR sin aumentar sustancialmente los costos operacionales del sistema público.</a:t>
            </a:r>
          </a:p>
        </p:txBody>
      </p:sp>
    </p:spTree>
    <p:extLst>
      <p:ext uri="{BB962C8B-B14F-4D97-AF65-F5344CB8AC3E}">
        <p14:creationId xmlns:p14="http://schemas.microsoft.com/office/powerpoint/2010/main" val="1252844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dirty="0"/>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
        <p:nvSpPr>
          <p:cNvPr id="6" name="Rectángulo: esquinas redondeadas 5">
            <a:extLst>
              <a:ext uri="{FF2B5EF4-FFF2-40B4-BE49-F238E27FC236}">
                <a16:creationId xmlns:a16="http://schemas.microsoft.com/office/drawing/2014/main" id="{8D4D47E0-2ECA-DFF2-D316-F3A91E20A558}"/>
              </a:ext>
            </a:extLst>
          </p:cNvPr>
          <p:cNvSpPr/>
          <p:nvPr/>
        </p:nvSpPr>
        <p:spPr>
          <a:xfrm>
            <a:off x="2006330" y="1097055"/>
            <a:ext cx="8179339" cy="4970982"/>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p>
          <a:p>
            <a:pPr algn="ctr"/>
            <a:r>
              <a:rPr lang="es-MX" sz="1400" dirty="0">
                <a:solidFill>
                  <a:schemeClr val="tx1"/>
                </a:solidFill>
              </a:rPr>
              <a:t>                                                        </a:t>
            </a:r>
          </a:p>
          <a:p>
            <a:pPr algn="ctr"/>
            <a:endParaRPr lang="es-MX" sz="1400" dirty="0">
              <a:solidFill>
                <a:schemeClr val="tx1"/>
              </a:solidFill>
            </a:endParaRPr>
          </a:p>
          <a:p>
            <a:pPr algn="ctr"/>
            <a:r>
              <a:rPr lang="es-MX" sz="1400" dirty="0">
                <a:solidFill>
                  <a:schemeClr val="tx1"/>
                </a:solidFill>
              </a:rPr>
              <a:t> </a:t>
            </a:r>
          </a:p>
        </p:txBody>
      </p:sp>
      <p:pic>
        <p:nvPicPr>
          <p:cNvPr id="9" name="Imagen 8">
            <a:extLst>
              <a:ext uri="{FF2B5EF4-FFF2-40B4-BE49-F238E27FC236}">
                <a16:creationId xmlns:a16="http://schemas.microsoft.com/office/drawing/2014/main" id="{4A594D4B-C525-F809-A838-EEEBEA801C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3421" y="1307478"/>
            <a:ext cx="1015089" cy="997023"/>
          </a:xfrm>
          <a:prstGeom prst="rect">
            <a:avLst/>
          </a:prstGeom>
        </p:spPr>
      </p:pic>
      <p:pic>
        <p:nvPicPr>
          <p:cNvPr id="12" name="Imagen 11">
            <a:extLst>
              <a:ext uri="{FF2B5EF4-FFF2-40B4-BE49-F238E27FC236}">
                <a16:creationId xmlns:a16="http://schemas.microsoft.com/office/drawing/2014/main" id="{ACA2265E-6715-AC27-605B-5A76AC43310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87616" y="2512824"/>
            <a:ext cx="1292479" cy="1295208"/>
          </a:xfrm>
          <a:prstGeom prst="rect">
            <a:avLst/>
          </a:prstGeom>
        </p:spPr>
      </p:pic>
      <p:sp>
        <p:nvSpPr>
          <p:cNvPr id="13" name="CuadroTexto 12">
            <a:extLst>
              <a:ext uri="{FF2B5EF4-FFF2-40B4-BE49-F238E27FC236}">
                <a16:creationId xmlns:a16="http://schemas.microsoft.com/office/drawing/2014/main" id="{1590354D-FC85-0B52-77D3-FA420A87845D}"/>
              </a:ext>
            </a:extLst>
          </p:cNvPr>
          <p:cNvSpPr txBox="1"/>
          <p:nvPr/>
        </p:nvSpPr>
        <p:spPr>
          <a:xfrm>
            <a:off x="3745784" y="2702815"/>
            <a:ext cx="6158600" cy="923330"/>
          </a:xfrm>
          <a:prstGeom prst="rect">
            <a:avLst/>
          </a:prstGeom>
          <a:noFill/>
        </p:spPr>
        <p:txBody>
          <a:bodyPr wrap="square" rtlCol="0">
            <a:spAutoFit/>
          </a:bodyPr>
          <a:lstStyle/>
          <a:p>
            <a:r>
              <a:rPr lang="es-MX" dirty="0"/>
              <a:t>Se encontraron 4 variables que el protocolo actual no considera y 7 que no tienen relevancia a la hora de detectar CCR lo cual mejora el nivel predictivo del modelo.</a:t>
            </a:r>
            <a:endParaRPr lang="es-CL" dirty="0"/>
          </a:p>
        </p:txBody>
      </p:sp>
      <p:sp>
        <p:nvSpPr>
          <p:cNvPr id="14" name="CuadroTexto 13">
            <a:extLst>
              <a:ext uri="{FF2B5EF4-FFF2-40B4-BE49-F238E27FC236}">
                <a16:creationId xmlns:a16="http://schemas.microsoft.com/office/drawing/2014/main" id="{7DC68EDD-9D59-8218-273C-B0548A876694}"/>
              </a:ext>
            </a:extLst>
          </p:cNvPr>
          <p:cNvSpPr txBox="1"/>
          <p:nvPr/>
        </p:nvSpPr>
        <p:spPr>
          <a:xfrm>
            <a:off x="3754315" y="1642427"/>
            <a:ext cx="5338921" cy="646331"/>
          </a:xfrm>
          <a:prstGeom prst="rect">
            <a:avLst/>
          </a:prstGeom>
          <a:noFill/>
        </p:spPr>
        <p:txBody>
          <a:bodyPr wrap="square" rtlCol="0">
            <a:spAutoFit/>
          </a:bodyPr>
          <a:lstStyle/>
          <a:p>
            <a:r>
              <a:rPr lang="es-MX" dirty="0"/>
              <a:t>Se analizaron 5 años de datos de más de mil pacientes                                                          </a:t>
            </a:r>
          </a:p>
          <a:p>
            <a:endParaRPr lang="es-CL" dirty="0"/>
          </a:p>
        </p:txBody>
      </p:sp>
      <p:pic>
        <p:nvPicPr>
          <p:cNvPr id="22" name="Imagen 21">
            <a:extLst>
              <a:ext uri="{FF2B5EF4-FFF2-40B4-BE49-F238E27FC236}">
                <a16:creationId xmlns:a16="http://schemas.microsoft.com/office/drawing/2014/main" id="{B76F36BE-5F53-81BF-0D06-B463DDE8202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31085" y="4546786"/>
            <a:ext cx="544697" cy="363236"/>
          </a:xfrm>
          <a:prstGeom prst="rect">
            <a:avLst/>
          </a:prstGeom>
        </p:spPr>
      </p:pic>
      <p:pic>
        <p:nvPicPr>
          <p:cNvPr id="23" name="Imagen 22">
            <a:extLst>
              <a:ext uri="{FF2B5EF4-FFF2-40B4-BE49-F238E27FC236}">
                <a16:creationId xmlns:a16="http://schemas.microsoft.com/office/drawing/2014/main" id="{BE6D6C57-D715-E7D9-8E4B-7FC66E90701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51746" y="4546786"/>
            <a:ext cx="544697" cy="363236"/>
          </a:xfrm>
          <a:prstGeom prst="rect">
            <a:avLst/>
          </a:prstGeom>
        </p:spPr>
      </p:pic>
      <p:sp>
        <p:nvSpPr>
          <p:cNvPr id="24" name="CuadroTexto 23">
            <a:extLst>
              <a:ext uri="{FF2B5EF4-FFF2-40B4-BE49-F238E27FC236}">
                <a16:creationId xmlns:a16="http://schemas.microsoft.com/office/drawing/2014/main" id="{C82A0E2D-4EFF-F371-5BEA-7EADF0E2ABDC}"/>
              </a:ext>
            </a:extLst>
          </p:cNvPr>
          <p:cNvSpPr txBox="1"/>
          <p:nvPr/>
        </p:nvSpPr>
        <p:spPr>
          <a:xfrm>
            <a:off x="5082962" y="4190398"/>
            <a:ext cx="2068195" cy="369332"/>
          </a:xfrm>
          <a:prstGeom prst="rect">
            <a:avLst/>
          </a:prstGeom>
          <a:noFill/>
        </p:spPr>
        <p:txBody>
          <a:bodyPr wrap="none" rtlCol="0">
            <a:spAutoFit/>
          </a:bodyPr>
          <a:lstStyle/>
          <a:p>
            <a:r>
              <a:rPr lang="es-CL" dirty="0"/>
              <a:t>Datos y Preparación</a:t>
            </a:r>
          </a:p>
        </p:txBody>
      </p:sp>
      <p:sp>
        <p:nvSpPr>
          <p:cNvPr id="25" name="CuadroTexto 24">
            <a:extLst>
              <a:ext uri="{FF2B5EF4-FFF2-40B4-BE49-F238E27FC236}">
                <a16:creationId xmlns:a16="http://schemas.microsoft.com/office/drawing/2014/main" id="{4B8CCF01-B76E-E261-2D82-E75A2715380B}"/>
              </a:ext>
            </a:extLst>
          </p:cNvPr>
          <p:cNvSpPr txBox="1"/>
          <p:nvPr/>
        </p:nvSpPr>
        <p:spPr>
          <a:xfrm>
            <a:off x="2623473" y="4190398"/>
            <a:ext cx="2201244" cy="369332"/>
          </a:xfrm>
          <a:prstGeom prst="rect">
            <a:avLst/>
          </a:prstGeom>
          <a:noFill/>
        </p:spPr>
        <p:txBody>
          <a:bodyPr wrap="none" rtlCol="0">
            <a:spAutoFit/>
          </a:bodyPr>
          <a:lstStyle/>
          <a:p>
            <a:r>
              <a:rPr lang="es-CL" dirty="0"/>
              <a:t>Problema de Negocio</a:t>
            </a:r>
          </a:p>
        </p:txBody>
      </p:sp>
      <p:sp>
        <p:nvSpPr>
          <p:cNvPr id="26" name="CuadroTexto 25">
            <a:extLst>
              <a:ext uri="{FF2B5EF4-FFF2-40B4-BE49-F238E27FC236}">
                <a16:creationId xmlns:a16="http://schemas.microsoft.com/office/drawing/2014/main" id="{F2AA34D0-B73E-ED7F-8E36-6BF784028649}"/>
              </a:ext>
            </a:extLst>
          </p:cNvPr>
          <p:cNvSpPr txBox="1"/>
          <p:nvPr/>
        </p:nvSpPr>
        <p:spPr>
          <a:xfrm>
            <a:off x="7667646" y="4190398"/>
            <a:ext cx="1577676" cy="369332"/>
          </a:xfrm>
          <a:prstGeom prst="rect">
            <a:avLst/>
          </a:prstGeom>
          <a:noFill/>
        </p:spPr>
        <p:txBody>
          <a:bodyPr wrap="none" rtlCol="0">
            <a:spAutoFit/>
          </a:bodyPr>
          <a:lstStyle/>
          <a:p>
            <a:r>
              <a:rPr lang="es-CL" dirty="0"/>
              <a:t>Modelamiento</a:t>
            </a:r>
          </a:p>
        </p:txBody>
      </p:sp>
      <p:pic>
        <p:nvPicPr>
          <p:cNvPr id="27" name="Imagen 26">
            <a:extLst>
              <a:ext uri="{FF2B5EF4-FFF2-40B4-BE49-F238E27FC236}">
                <a16:creationId xmlns:a16="http://schemas.microsoft.com/office/drawing/2014/main" id="{7231EEDA-6F12-B0D2-FAC6-858F9383DA7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84136" y="4512904"/>
            <a:ext cx="544697" cy="363236"/>
          </a:xfrm>
          <a:prstGeom prst="rect">
            <a:avLst/>
          </a:prstGeom>
        </p:spPr>
      </p:pic>
      <p:sp>
        <p:nvSpPr>
          <p:cNvPr id="28" name="CuadroTexto 27">
            <a:extLst>
              <a:ext uri="{FF2B5EF4-FFF2-40B4-BE49-F238E27FC236}">
                <a16:creationId xmlns:a16="http://schemas.microsoft.com/office/drawing/2014/main" id="{18703E2F-91B5-B044-7C94-CE6EFE563E77}"/>
              </a:ext>
            </a:extLst>
          </p:cNvPr>
          <p:cNvSpPr txBox="1"/>
          <p:nvPr/>
        </p:nvSpPr>
        <p:spPr>
          <a:xfrm>
            <a:off x="5500323" y="5162771"/>
            <a:ext cx="1191352" cy="369332"/>
          </a:xfrm>
          <a:prstGeom prst="rect">
            <a:avLst/>
          </a:prstGeom>
          <a:noFill/>
        </p:spPr>
        <p:txBody>
          <a:bodyPr wrap="none" rtlCol="0">
            <a:spAutoFit/>
          </a:bodyPr>
          <a:lstStyle/>
          <a:p>
            <a:r>
              <a:rPr lang="es-CL" dirty="0"/>
              <a:t>Evaluación</a:t>
            </a:r>
          </a:p>
        </p:txBody>
      </p:sp>
      <p:pic>
        <p:nvPicPr>
          <p:cNvPr id="29" name="Imagen 28">
            <a:extLst>
              <a:ext uri="{FF2B5EF4-FFF2-40B4-BE49-F238E27FC236}">
                <a16:creationId xmlns:a16="http://schemas.microsoft.com/office/drawing/2014/main" id="{B26D6BC1-E1A4-33BF-6D85-998E4480259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23650" y="5559422"/>
            <a:ext cx="544697" cy="363236"/>
          </a:xfrm>
          <a:prstGeom prst="rect">
            <a:avLst/>
          </a:prstGeom>
        </p:spPr>
      </p:pic>
    </p:spTree>
    <p:extLst>
      <p:ext uri="{BB962C8B-B14F-4D97-AF65-F5344CB8AC3E}">
        <p14:creationId xmlns:p14="http://schemas.microsoft.com/office/powerpoint/2010/main" val="1120360699"/>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dirty="0"/>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
        <p:nvSpPr>
          <p:cNvPr id="7" name="Rectángulo: esquinas redondeadas 6">
            <a:extLst>
              <a:ext uri="{FF2B5EF4-FFF2-40B4-BE49-F238E27FC236}">
                <a16:creationId xmlns:a16="http://schemas.microsoft.com/office/drawing/2014/main" id="{CFB5B916-0E61-CE3E-500B-D66C78DB20E2}"/>
              </a:ext>
            </a:extLst>
          </p:cNvPr>
          <p:cNvSpPr/>
          <p:nvPr/>
        </p:nvSpPr>
        <p:spPr>
          <a:xfrm>
            <a:off x="2006330" y="2223655"/>
            <a:ext cx="8179339" cy="2957945"/>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solidFill>
                  <a:schemeClr val="tx1"/>
                </a:solidFill>
              </a:rPr>
              <a:t>Benavides, C., &amp; Alvarado, J. (2025). Modelo predictivo basado en síntomas para el diagnóstico de cáncer colorrectal: Optimización según las directrices de la política pública de salud chilena. Revista Médica De Chile, 153 (03) [citado en Abr 4, 2023]. Recuperado a partir de </a:t>
            </a:r>
            <a:r>
              <a:rPr lang="es-MX" sz="1400" dirty="0">
                <a:solidFill>
                  <a:schemeClr val="tx1"/>
                </a:solidFill>
                <a:hlinkClick r:id="rId4"/>
              </a:rPr>
              <a:t>https://revistamedicadechile.cl/index.php/rmedica/article/view/10992</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WHO. Colorectal cancer – IARC. [citado en May 14, 2023]. Recuperado a partir de: </a:t>
            </a:r>
            <a:r>
              <a:rPr lang="es-MX" sz="1400" dirty="0">
                <a:solidFill>
                  <a:schemeClr val="tx1"/>
                </a:solidFill>
                <a:hlinkClick r:id="rId5"/>
              </a:rPr>
              <a:t>https://www.iarc.who.int/cancer-type/colorectal-cancer/</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Colorectal cancer trends in Chile: A Latin-American country with marked socioeconomic inequities PLOS ONE. [citado en May 14, 2023]. Recuperado a partir de: </a:t>
            </a:r>
            <a:r>
              <a:rPr lang="es-MX" sz="1400" dirty="0">
                <a:solidFill>
                  <a:schemeClr val="tx1"/>
                </a:solidFill>
                <a:hlinkClick r:id="rId6"/>
              </a:rPr>
              <a:t>https://journals.plos.org/plosone/article?id=10.1371/journal.pone.0271929</a:t>
            </a:r>
            <a:endParaRPr lang="es-MX" sz="1400" dirty="0">
              <a:solidFill>
                <a:schemeClr val="tx1"/>
              </a:solidFill>
            </a:endParaRPr>
          </a:p>
          <a:p>
            <a:pPr marL="285750" indent="-285750">
              <a:buFont typeface="Arial" panose="020B0604020202020204" pitchFamily="34" charset="0"/>
              <a:buChar char="•"/>
            </a:pPr>
            <a:r>
              <a:rPr lang="es-MX" sz="1400" dirty="0">
                <a:solidFill>
                  <a:schemeClr val="tx1"/>
                </a:solidFill>
              </a:rPr>
              <a:t>Cancer today. [citado en August 9, 2022]. Recuperado a partir de: </a:t>
            </a:r>
            <a:r>
              <a:rPr lang="es-MX" sz="1400" dirty="0">
                <a:solidFill>
                  <a:schemeClr val="tx1"/>
                </a:solidFill>
                <a:hlinkClick r:id="rId7"/>
              </a:rPr>
              <a:t>http://gco.iarc.fr/today/home</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Colorectal Cancer Awareness Month 2021–IARC. [citado en September 29, 2021]. Recuperado a partir de: </a:t>
            </a:r>
            <a:r>
              <a:rPr lang="es-MX" sz="1400" dirty="0">
                <a:solidFill>
                  <a:schemeClr val="tx1"/>
                </a:solidFill>
                <a:hlinkClick r:id="rId8"/>
              </a:rPr>
              <a:t>https://www.iarc.who.int/featured- news/ccam2021/</a:t>
            </a:r>
            <a:endParaRPr lang="es-MX" sz="1400" dirty="0">
              <a:solidFill>
                <a:schemeClr val="tx1"/>
              </a:solidFill>
            </a:endParaRPr>
          </a:p>
          <a:p>
            <a:pPr algn="ctr"/>
            <a:endParaRPr lang="es-MX" sz="1400" dirty="0">
              <a:solidFill>
                <a:schemeClr val="tx1"/>
              </a:solidFill>
            </a:endParaRPr>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dirty="0"/>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4938</TotalTime>
  <Words>1261</Words>
  <Application>Microsoft Office PowerPoint</Application>
  <PresentationFormat>Panorámica</PresentationFormat>
  <Paragraphs>226</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Montserrat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Eric Silva Latorre</cp:lastModifiedBy>
  <cp:revision>37</cp:revision>
  <dcterms:created xsi:type="dcterms:W3CDTF">2023-10-13T18:05:47Z</dcterms:created>
  <dcterms:modified xsi:type="dcterms:W3CDTF">2025-11-18T00:04:08Z</dcterms:modified>
</cp:coreProperties>
</file>