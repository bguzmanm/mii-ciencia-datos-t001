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BBF578F_ED886971.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comments/modernComment_7BBF5796_ED99224E.xml" ContentType="application/vnd.ms-powerpoint.comments+xml"/>
  <Override PartName="/ppt/notesSlides/notesSlide4.xml" ContentType="application/vnd.openxmlformats-officedocument.presentationml.notesSlide+xml"/>
  <Override PartName="/ppt/comments/modernComment_7BBF5795_E4D899E3.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comments/modernComment_7BBF5791_8474DF0E.xml" ContentType="application/vnd.ms-powerpoint.comments+xml"/>
  <Override PartName="/ppt/notesSlides/notesSlide6.xml" ContentType="application/vnd.openxmlformats-officedocument.presentationml.notesSlide+xml"/>
  <Override PartName="/ppt/comments/modernComment_7BBF5792_F6775C34.xml" ContentType="application/vnd.ms-powerpoint.comments+xml"/>
  <Override PartName="/ppt/notesSlides/notesSlide7.xml" ContentType="application/vnd.openxmlformats-officedocument.presentationml.notesSlide+xml"/>
  <Override PartName="/ppt/comments/modernComment_7BBF5798_F299D2FB.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notesSlides/notesSlide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5"/>
  </p:notesMasterIdLst>
  <p:sldIdLst>
    <p:sldId id="2076137175" r:id="rId2"/>
    <p:sldId id="2076137359" r:id="rId3"/>
    <p:sldId id="2076137366" r:id="rId4"/>
    <p:sldId id="2076137365" r:id="rId5"/>
    <p:sldId id="2076137361" r:id="rId6"/>
    <p:sldId id="2076137362" r:id="rId7"/>
    <p:sldId id="2076137368" r:id="rId8"/>
    <p:sldId id="2076137371" r:id="rId9"/>
    <p:sldId id="2076137372" r:id="rId10"/>
    <p:sldId id="2076137369" r:id="rId11"/>
    <p:sldId id="2076137370" r:id="rId12"/>
    <p:sldId id="2076137373" r:id="rId13"/>
    <p:sldId id="207613736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1D8B98-483F-74EF-7ECF-E3886A2D2BF2}" name="Eric Silva Latorre" initials="ES" userId="74806c10bc288813" providerId="Windows Live"/>
  <p188:author id="{FB1660F4-BA9A-82B8-C334-CF91C75A5656}" name="Ruth Marcela Espinosa Sarmiento" initials="RS" userId="S::ruth.espinosa@unab.cl::2acad1b5-36c7-4a86-bd14-a01055d811d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D0D0D0"/>
    <a:srgbClr val="20236D"/>
    <a:srgbClr val="B63C0F"/>
    <a:srgbClr val="A4C93C"/>
    <a:srgbClr val="01BF9F"/>
    <a:srgbClr val="4A7AEB"/>
    <a:srgbClr val="00644F"/>
    <a:srgbClr val="40306E"/>
    <a:srgbClr val="41BB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40" autoAdjust="0"/>
    <p:restoredTop sz="94674"/>
  </p:normalViewPr>
  <p:slideViewPr>
    <p:cSldViewPr snapToGrid="0">
      <p:cViewPr varScale="1">
        <p:scale>
          <a:sx n="138" d="100"/>
          <a:sy n="138" d="100"/>
        </p:scale>
        <p:origin x="156"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Importancia</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Importancia</c:v>
                </c:pt>
              </c:strCache>
            </c:strRef>
          </c:tx>
          <c:spPr>
            <a:solidFill>
              <a:schemeClr val="accent2"/>
            </a:solidFill>
            <a:ln>
              <a:noFill/>
            </a:ln>
            <a:effectLst/>
          </c:spPr>
          <c:invertIfNegative val="0"/>
          <c:cat>
            <c:strRef>
              <c:f>Hoja1!$A$2:$A$10</c:f>
              <c:strCache>
                <c:ptCount val="9"/>
                <c:pt idx="0">
                  <c:v>Sexo</c:v>
                </c:pt>
                <c:pt idx="1">
                  <c:v>Diarrea</c:v>
                </c:pt>
                <c:pt idx="2">
                  <c:v>Condición General Comprometida</c:v>
                </c:pt>
                <c:pt idx="3">
                  <c:v>Ecografía Sugestiva</c:v>
                </c:pt>
                <c:pt idx="4">
                  <c:v>Anemia</c:v>
                </c:pt>
                <c:pt idx="5">
                  <c:v>Masa Rectal Palpable</c:v>
                </c:pt>
                <c:pt idx="6">
                  <c:v>Edad</c:v>
                </c:pt>
                <c:pt idx="7">
                  <c:v>Tomografía Computarizada</c:v>
                </c:pt>
                <c:pt idx="8">
                  <c:v>Sangrado Gastrointestinal</c:v>
                </c:pt>
              </c:strCache>
            </c:strRef>
          </c:cat>
          <c:val>
            <c:numRef>
              <c:f>Hoja1!$B$2:$B$10</c:f>
              <c:numCache>
                <c:formatCode>General</c:formatCode>
                <c:ptCount val="9"/>
                <c:pt idx="0">
                  <c:v>5.5</c:v>
                </c:pt>
                <c:pt idx="1">
                  <c:v>6.3</c:v>
                </c:pt>
                <c:pt idx="2">
                  <c:v>6.8</c:v>
                </c:pt>
                <c:pt idx="3">
                  <c:v>7.2</c:v>
                </c:pt>
                <c:pt idx="4">
                  <c:v>7.5</c:v>
                </c:pt>
                <c:pt idx="5">
                  <c:v>7.9</c:v>
                </c:pt>
                <c:pt idx="6">
                  <c:v>8.5</c:v>
                </c:pt>
                <c:pt idx="7">
                  <c:v>8.8000000000000007</c:v>
                </c:pt>
                <c:pt idx="8">
                  <c:v>9.1999999999999993</c:v>
                </c:pt>
              </c:numCache>
            </c:numRef>
          </c:val>
          <c:extLst>
            <c:ext xmlns:c16="http://schemas.microsoft.com/office/drawing/2014/chart" uri="{C3380CC4-5D6E-409C-BE32-E72D297353CC}">
              <c16:uniqueId val="{00000000-7120-467C-BF7F-9498318AFAA3}"/>
            </c:ext>
          </c:extLst>
        </c:ser>
        <c:dLbls>
          <c:showLegendKey val="0"/>
          <c:showVal val="0"/>
          <c:showCatName val="0"/>
          <c:showSerName val="0"/>
          <c:showPercent val="0"/>
          <c:showBubbleSize val="0"/>
        </c:dLbls>
        <c:gapWidth val="150"/>
        <c:overlap val="100"/>
        <c:axId val="582373391"/>
        <c:axId val="582373871"/>
      </c:barChart>
      <c:catAx>
        <c:axId val="58237339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582373871"/>
        <c:crosses val="autoZero"/>
        <c:auto val="1"/>
        <c:lblAlgn val="ctr"/>
        <c:lblOffset val="100"/>
        <c:noMultiLvlLbl val="0"/>
      </c:catAx>
      <c:valAx>
        <c:axId val="58237387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58237339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3496070242674636E-2"/>
          <c:y val="5.8887966504770038E-2"/>
          <c:w val="0.58006283000841485"/>
          <c:h val="0.8037306439074352"/>
        </c:manualLayout>
      </c:layout>
      <c:scatterChart>
        <c:scatterStyle val="smoothMarker"/>
        <c:varyColors val="0"/>
        <c:ser>
          <c:idx val="0"/>
          <c:order val="0"/>
          <c:tx>
            <c:strRef>
              <c:f>Hoja1!$B$1</c:f>
              <c:strCache>
                <c:ptCount val="1"/>
                <c:pt idx="0">
                  <c:v>Modelo_Completo</c:v>
                </c:pt>
              </c:strCache>
            </c:strRef>
          </c:tx>
          <c:spPr>
            <a:ln w="38100" cap="rnd">
              <a:solidFill>
                <a:schemeClr val="accent4">
                  <a:lumMod val="50000"/>
                </a:schemeClr>
              </a:solidFill>
              <a:round/>
            </a:ln>
            <a:effectLst/>
          </c:spPr>
          <c:marker>
            <c:symbol val="none"/>
          </c:marker>
          <c:xVal>
            <c:numRef>
              <c:f>Hoja1!$A$2:$A$15</c:f>
              <c:numCache>
                <c:formatCode>0.00</c:formatCode>
                <c:ptCount val="14"/>
                <c:pt idx="0">
                  <c:v>0</c:v>
                </c:pt>
                <c:pt idx="1">
                  <c:v>0.05</c:v>
                </c:pt>
                <c:pt idx="2">
                  <c:v>0.1</c:v>
                </c:pt>
                <c:pt idx="3">
                  <c:v>0.15</c:v>
                </c:pt>
                <c:pt idx="4">
                  <c:v>0.2</c:v>
                </c:pt>
                <c:pt idx="5">
                  <c:v>0.25</c:v>
                </c:pt>
                <c:pt idx="6">
                  <c:v>0.3</c:v>
                </c:pt>
                <c:pt idx="7">
                  <c:v>0.4</c:v>
                </c:pt>
                <c:pt idx="8">
                  <c:v>0.5</c:v>
                </c:pt>
                <c:pt idx="9">
                  <c:v>0.6</c:v>
                </c:pt>
                <c:pt idx="10">
                  <c:v>0.7</c:v>
                </c:pt>
                <c:pt idx="11">
                  <c:v>0.8</c:v>
                </c:pt>
                <c:pt idx="12">
                  <c:v>0.9</c:v>
                </c:pt>
                <c:pt idx="13">
                  <c:v>1</c:v>
                </c:pt>
              </c:numCache>
            </c:numRef>
          </c:xVal>
          <c:yVal>
            <c:numRef>
              <c:f>Hoja1!$B$2:$B$15</c:f>
              <c:numCache>
                <c:formatCode>#,##0.00</c:formatCode>
                <c:ptCount val="14"/>
                <c:pt idx="0">
                  <c:v>0</c:v>
                </c:pt>
                <c:pt idx="1">
                  <c:v>0.35</c:v>
                </c:pt>
                <c:pt idx="2">
                  <c:v>0.55000000000000004</c:v>
                </c:pt>
                <c:pt idx="3">
                  <c:v>0.68</c:v>
                </c:pt>
                <c:pt idx="4">
                  <c:v>0.75</c:v>
                </c:pt>
                <c:pt idx="5">
                  <c:v>0.79</c:v>
                </c:pt>
                <c:pt idx="6">
                  <c:v>0.82</c:v>
                </c:pt>
                <c:pt idx="7">
                  <c:v>0.85</c:v>
                </c:pt>
                <c:pt idx="8">
                  <c:v>0.87</c:v>
                </c:pt>
                <c:pt idx="9">
                  <c:v>0.89</c:v>
                </c:pt>
                <c:pt idx="10">
                  <c:v>0.91</c:v>
                </c:pt>
                <c:pt idx="11">
                  <c:v>0.94</c:v>
                </c:pt>
                <c:pt idx="12">
                  <c:v>0.97</c:v>
                </c:pt>
                <c:pt idx="13">
                  <c:v>1</c:v>
                </c:pt>
              </c:numCache>
            </c:numRef>
          </c:yVal>
          <c:smooth val="1"/>
          <c:extLst>
            <c:ext xmlns:c16="http://schemas.microsoft.com/office/drawing/2014/chart" uri="{C3380CC4-5D6E-409C-BE32-E72D297353CC}">
              <c16:uniqueId val="{00000000-579D-4B94-8F04-8F7C84E6BC0D}"/>
            </c:ext>
          </c:extLst>
        </c:ser>
        <c:ser>
          <c:idx val="1"/>
          <c:order val="1"/>
          <c:tx>
            <c:strRef>
              <c:f>Hoja1!$C$1</c:f>
              <c:strCache>
                <c:ptCount val="1"/>
                <c:pt idx="0">
                  <c:v>Modelo_Simplificado</c:v>
                </c:pt>
              </c:strCache>
            </c:strRef>
          </c:tx>
          <c:spPr>
            <a:ln w="38100" cap="rnd">
              <a:solidFill>
                <a:schemeClr val="accent4">
                  <a:lumMod val="60000"/>
                  <a:lumOff val="40000"/>
                </a:schemeClr>
              </a:solidFill>
              <a:round/>
            </a:ln>
            <a:effectLst/>
          </c:spPr>
          <c:marker>
            <c:symbol val="none"/>
          </c:marker>
          <c:xVal>
            <c:numRef>
              <c:f>Hoja1!$A$2:$A$15</c:f>
              <c:numCache>
                <c:formatCode>0.00</c:formatCode>
                <c:ptCount val="14"/>
                <c:pt idx="0">
                  <c:v>0</c:v>
                </c:pt>
                <c:pt idx="1">
                  <c:v>0.05</c:v>
                </c:pt>
                <c:pt idx="2">
                  <c:v>0.1</c:v>
                </c:pt>
                <c:pt idx="3">
                  <c:v>0.15</c:v>
                </c:pt>
                <c:pt idx="4">
                  <c:v>0.2</c:v>
                </c:pt>
                <c:pt idx="5">
                  <c:v>0.25</c:v>
                </c:pt>
                <c:pt idx="6">
                  <c:v>0.3</c:v>
                </c:pt>
                <c:pt idx="7">
                  <c:v>0.4</c:v>
                </c:pt>
                <c:pt idx="8">
                  <c:v>0.5</c:v>
                </c:pt>
                <c:pt idx="9">
                  <c:v>0.6</c:v>
                </c:pt>
                <c:pt idx="10">
                  <c:v>0.7</c:v>
                </c:pt>
                <c:pt idx="11">
                  <c:v>0.8</c:v>
                </c:pt>
                <c:pt idx="12">
                  <c:v>0.9</c:v>
                </c:pt>
                <c:pt idx="13">
                  <c:v>1</c:v>
                </c:pt>
              </c:numCache>
            </c:numRef>
          </c:xVal>
          <c:yVal>
            <c:numRef>
              <c:f>Hoja1!$C$2:$C$15</c:f>
              <c:numCache>
                <c:formatCode>0.00</c:formatCode>
                <c:ptCount val="14"/>
                <c:pt idx="0">
                  <c:v>0</c:v>
                </c:pt>
                <c:pt idx="1">
                  <c:v>0.3</c:v>
                </c:pt>
                <c:pt idx="2">
                  <c:v>0.48</c:v>
                </c:pt>
                <c:pt idx="3">
                  <c:v>0.62</c:v>
                </c:pt>
                <c:pt idx="4">
                  <c:v>0.7</c:v>
                </c:pt>
                <c:pt idx="5">
                  <c:v>0.75</c:v>
                </c:pt>
                <c:pt idx="6">
                  <c:v>0.78</c:v>
                </c:pt>
                <c:pt idx="7">
                  <c:v>0.81</c:v>
                </c:pt>
                <c:pt idx="8">
                  <c:v>0.84</c:v>
                </c:pt>
                <c:pt idx="9">
                  <c:v>0.86</c:v>
                </c:pt>
                <c:pt idx="10">
                  <c:v>0.88</c:v>
                </c:pt>
                <c:pt idx="11">
                  <c:v>0.91</c:v>
                </c:pt>
                <c:pt idx="12">
                  <c:v>0.95</c:v>
                </c:pt>
                <c:pt idx="13">
                  <c:v>1</c:v>
                </c:pt>
              </c:numCache>
            </c:numRef>
          </c:yVal>
          <c:smooth val="1"/>
          <c:extLst>
            <c:ext xmlns:c16="http://schemas.microsoft.com/office/drawing/2014/chart" uri="{C3380CC4-5D6E-409C-BE32-E72D297353CC}">
              <c16:uniqueId val="{00000001-579D-4B94-8F04-8F7C84E6BC0D}"/>
            </c:ext>
          </c:extLst>
        </c:ser>
        <c:ser>
          <c:idx val="2"/>
          <c:order val="2"/>
          <c:tx>
            <c:strRef>
              <c:f>Hoja1!$D$1</c:f>
              <c:strCache>
                <c:ptCount val="1"/>
                <c:pt idx="0">
                  <c:v>Azar</c:v>
                </c:pt>
              </c:strCache>
            </c:strRef>
          </c:tx>
          <c:spPr>
            <a:ln w="25400" cap="rnd">
              <a:solidFill>
                <a:schemeClr val="tx1">
                  <a:lumMod val="50000"/>
                  <a:lumOff val="50000"/>
                </a:schemeClr>
              </a:solidFill>
              <a:prstDash val="sysDot"/>
              <a:round/>
            </a:ln>
            <a:effectLst/>
          </c:spPr>
          <c:marker>
            <c:symbol val="none"/>
          </c:marker>
          <c:xVal>
            <c:numRef>
              <c:f>Hoja1!$A$2:$A$15</c:f>
              <c:numCache>
                <c:formatCode>0.00</c:formatCode>
                <c:ptCount val="14"/>
                <c:pt idx="0">
                  <c:v>0</c:v>
                </c:pt>
                <c:pt idx="1">
                  <c:v>0.05</c:v>
                </c:pt>
                <c:pt idx="2">
                  <c:v>0.1</c:v>
                </c:pt>
                <c:pt idx="3">
                  <c:v>0.15</c:v>
                </c:pt>
                <c:pt idx="4">
                  <c:v>0.2</c:v>
                </c:pt>
                <c:pt idx="5">
                  <c:v>0.25</c:v>
                </c:pt>
                <c:pt idx="6">
                  <c:v>0.3</c:v>
                </c:pt>
                <c:pt idx="7">
                  <c:v>0.4</c:v>
                </c:pt>
                <c:pt idx="8">
                  <c:v>0.5</c:v>
                </c:pt>
                <c:pt idx="9">
                  <c:v>0.6</c:v>
                </c:pt>
                <c:pt idx="10">
                  <c:v>0.7</c:v>
                </c:pt>
                <c:pt idx="11">
                  <c:v>0.8</c:v>
                </c:pt>
                <c:pt idx="12">
                  <c:v>0.9</c:v>
                </c:pt>
                <c:pt idx="13">
                  <c:v>1</c:v>
                </c:pt>
              </c:numCache>
            </c:numRef>
          </c:xVal>
          <c:yVal>
            <c:numRef>
              <c:f>Hoja1!$D$2:$D$15</c:f>
              <c:numCache>
                <c:formatCode>0.00</c:formatCode>
                <c:ptCount val="14"/>
                <c:pt idx="0">
                  <c:v>0</c:v>
                </c:pt>
                <c:pt idx="1">
                  <c:v>0.05</c:v>
                </c:pt>
                <c:pt idx="2">
                  <c:v>0.1</c:v>
                </c:pt>
                <c:pt idx="3">
                  <c:v>0.15</c:v>
                </c:pt>
                <c:pt idx="4">
                  <c:v>0.2</c:v>
                </c:pt>
                <c:pt idx="5">
                  <c:v>0.25</c:v>
                </c:pt>
                <c:pt idx="6">
                  <c:v>0.3</c:v>
                </c:pt>
                <c:pt idx="7">
                  <c:v>0.4</c:v>
                </c:pt>
                <c:pt idx="8">
                  <c:v>0.5</c:v>
                </c:pt>
                <c:pt idx="9">
                  <c:v>0.6</c:v>
                </c:pt>
                <c:pt idx="10">
                  <c:v>0.7</c:v>
                </c:pt>
                <c:pt idx="11">
                  <c:v>0.8</c:v>
                </c:pt>
                <c:pt idx="12">
                  <c:v>0.9</c:v>
                </c:pt>
                <c:pt idx="13">
                  <c:v>1</c:v>
                </c:pt>
              </c:numCache>
            </c:numRef>
          </c:yVal>
          <c:smooth val="1"/>
          <c:extLst>
            <c:ext xmlns:c16="http://schemas.microsoft.com/office/drawing/2014/chart" uri="{C3380CC4-5D6E-409C-BE32-E72D297353CC}">
              <c16:uniqueId val="{00000002-579D-4B94-8F04-8F7C84E6BC0D}"/>
            </c:ext>
          </c:extLst>
        </c:ser>
        <c:dLbls>
          <c:showLegendKey val="0"/>
          <c:showVal val="0"/>
          <c:showCatName val="0"/>
          <c:showSerName val="0"/>
          <c:showPercent val="0"/>
          <c:showBubbleSize val="0"/>
        </c:dLbls>
        <c:axId val="1520245184"/>
        <c:axId val="1520253824"/>
      </c:scatterChart>
      <c:valAx>
        <c:axId val="1520245184"/>
        <c:scaling>
          <c:orientation val="minMax"/>
          <c:max val="1"/>
        </c:scaling>
        <c:delete val="0"/>
        <c:axPos val="b"/>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1520253824"/>
        <c:crosses val="autoZero"/>
        <c:crossBetween val="midCat"/>
      </c:valAx>
      <c:valAx>
        <c:axId val="1520253824"/>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1520245184"/>
        <c:crosses val="autoZero"/>
        <c:crossBetween val="midCat"/>
      </c:valAx>
      <c:spPr>
        <a:noFill/>
        <a:ln>
          <a:noFill/>
        </a:ln>
        <a:effectLst/>
      </c:spPr>
    </c:plotArea>
    <c:legend>
      <c:legendPos val="tr"/>
      <c:layout>
        <c:manualLayout>
          <c:xMode val="edge"/>
          <c:yMode val="edge"/>
          <c:x val="0.74006174778798239"/>
          <c:y val="0.30628344558325177"/>
          <c:w val="0.22357743341176989"/>
          <c:h val="0.29380149079548157"/>
        </c:manualLayout>
      </c:layout>
      <c:overlay val="1"/>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L"/>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Tasa de Detección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pieChart>
        <c:varyColors val="1"/>
        <c:ser>
          <c:idx val="0"/>
          <c:order val="0"/>
          <c:tx>
            <c:strRef>
              <c:f>Hoja1!$B$1</c:f>
              <c:strCache>
                <c:ptCount val="1"/>
                <c:pt idx="0">
                  <c:v>Valor</c:v>
                </c:pt>
              </c:strCache>
            </c:strRef>
          </c:tx>
          <c:dPt>
            <c:idx val="0"/>
            <c:bubble3D val="0"/>
            <c:spPr>
              <a:solidFill>
                <a:srgbClr val="C00000"/>
              </a:solidFill>
              <a:ln w="19050">
                <a:solidFill>
                  <a:schemeClr val="lt1"/>
                </a:solidFill>
              </a:ln>
              <a:effectLst/>
            </c:spPr>
            <c:extLst>
              <c:ext xmlns:c16="http://schemas.microsoft.com/office/drawing/2014/chart" uri="{C3380CC4-5D6E-409C-BE32-E72D297353CC}">
                <c16:uniqueId val="{00000003-15D2-4E36-BAAB-61525CD9568E}"/>
              </c:ext>
            </c:extLst>
          </c:dPt>
          <c:dPt>
            <c:idx val="1"/>
            <c:bubble3D val="0"/>
            <c:spPr>
              <a:solidFill>
                <a:schemeClr val="bg2"/>
              </a:solidFill>
              <a:ln w="19050">
                <a:solidFill>
                  <a:schemeClr val="lt1"/>
                </a:solidFill>
              </a:ln>
              <a:effectLst/>
            </c:spPr>
            <c:extLst>
              <c:ext xmlns:c16="http://schemas.microsoft.com/office/drawing/2014/chart" uri="{C3380CC4-5D6E-409C-BE32-E72D297353CC}">
                <c16:uniqueId val="{00000002-15D2-4E36-BAAB-61525CD9568E}"/>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CL"/>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Hoja1!$A$2:$A$3</c:f>
              <c:strCache>
                <c:ptCount val="2"/>
                <c:pt idx="0">
                  <c:v>Sin CCR</c:v>
                </c:pt>
                <c:pt idx="1">
                  <c:v>CCR Confirmado</c:v>
                </c:pt>
              </c:strCache>
            </c:strRef>
          </c:cat>
          <c:val>
            <c:numRef>
              <c:f>Hoja1!$B$2:$B$3</c:f>
              <c:numCache>
                <c:formatCode>0%</c:formatCode>
                <c:ptCount val="2"/>
                <c:pt idx="0">
                  <c:v>0.13</c:v>
                </c:pt>
                <c:pt idx="1">
                  <c:v>0.87</c:v>
                </c:pt>
              </c:numCache>
            </c:numRef>
          </c:val>
          <c:extLst>
            <c:ext xmlns:c16="http://schemas.microsoft.com/office/drawing/2014/chart" uri="{C3380CC4-5D6E-409C-BE32-E72D297353CC}">
              <c16:uniqueId val="{00000000-15D2-4E36-BAAB-61525CD9568E}"/>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hade val="15000"/>
        </a:schemeClr>
      </a:solidFill>
    </a:ln>
    <a:effectLst/>
  </c:spPr>
  <c:txPr>
    <a:bodyPr/>
    <a:lstStyle/>
    <a:p>
      <a:pPr>
        <a:defRPr/>
      </a:pPr>
      <a:endParaRPr lang="es-C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L" dirty="0"/>
              <a:t>Estadificación al Diagnóstico</a:t>
            </a:r>
          </a:p>
          <a:p>
            <a:pPr>
              <a:defRPr/>
            </a:pPr>
            <a:r>
              <a:rPr lang="es-CL" dirty="0"/>
              <a:t>(% de pacientes)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Tempranos (I-II)</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c:f>
              <c:strCache>
                <c:ptCount val="1"/>
                <c:pt idx="0">
                  <c:v>Estadificación</c:v>
                </c:pt>
              </c:strCache>
            </c:strRef>
          </c:cat>
          <c:val>
            <c:numRef>
              <c:f>Hoja1!$B$2</c:f>
              <c:numCache>
                <c:formatCode>0.00%</c:formatCode>
                <c:ptCount val="1"/>
                <c:pt idx="0">
                  <c:v>0.33100000000000002</c:v>
                </c:pt>
              </c:numCache>
            </c:numRef>
          </c:val>
          <c:extLst>
            <c:ext xmlns:c16="http://schemas.microsoft.com/office/drawing/2014/chart" uri="{C3380CC4-5D6E-409C-BE32-E72D297353CC}">
              <c16:uniqueId val="{00000000-6B81-4C82-988A-CC16F34A5C1E}"/>
            </c:ext>
          </c:extLst>
        </c:ser>
        <c:ser>
          <c:idx val="1"/>
          <c:order val="1"/>
          <c:tx>
            <c:strRef>
              <c:f>Hoja1!$C$1</c:f>
              <c:strCache>
                <c:ptCount val="1"/>
                <c:pt idx="0">
                  <c:v>Avanzados (III-IV)</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Hoja1!$A$2</c:f>
              <c:strCache>
                <c:ptCount val="1"/>
                <c:pt idx="0">
                  <c:v>Estadificación</c:v>
                </c:pt>
              </c:strCache>
            </c:strRef>
          </c:cat>
          <c:val>
            <c:numRef>
              <c:f>Hoja1!$C$2</c:f>
              <c:numCache>
                <c:formatCode>0.00%</c:formatCode>
                <c:ptCount val="1"/>
                <c:pt idx="0">
                  <c:v>0.66900000000000004</c:v>
                </c:pt>
              </c:numCache>
            </c:numRef>
          </c:val>
          <c:extLst>
            <c:ext xmlns:c16="http://schemas.microsoft.com/office/drawing/2014/chart" uri="{C3380CC4-5D6E-409C-BE32-E72D297353CC}">
              <c16:uniqueId val="{00000001-6B81-4C82-988A-CC16F34A5C1E}"/>
            </c:ext>
          </c:extLst>
        </c:ser>
        <c:dLbls>
          <c:showLegendKey val="0"/>
          <c:showVal val="0"/>
          <c:showCatName val="0"/>
          <c:showSerName val="0"/>
          <c:showPercent val="0"/>
          <c:showBubbleSize val="0"/>
        </c:dLbls>
        <c:gapWidth val="219"/>
        <c:overlap val="-27"/>
        <c:axId val="1520263424"/>
        <c:axId val="1520257664"/>
      </c:barChart>
      <c:catAx>
        <c:axId val="1520263424"/>
        <c:scaling>
          <c:orientation val="minMax"/>
        </c:scaling>
        <c:delete val="1"/>
        <c:axPos val="b"/>
        <c:numFmt formatCode="General" sourceLinked="1"/>
        <c:majorTickMark val="none"/>
        <c:minorTickMark val="none"/>
        <c:tickLblPos val="nextTo"/>
        <c:crossAx val="1520257664"/>
        <c:crosses val="autoZero"/>
        <c:auto val="1"/>
        <c:lblAlgn val="ctr"/>
        <c:lblOffset val="100"/>
        <c:noMultiLvlLbl val="0"/>
      </c:catAx>
      <c:valAx>
        <c:axId val="1520257664"/>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15202634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hade val="15000"/>
        </a:schemeClr>
      </a:solidFill>
    </a:ln>
    <a:effectLst/>
  </c:spPr>
  <c:txPr>
    <a:bodyPr/>
    <a:lstStyle/>
    <a:p>
      <a:pPr>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7BBF578F_ED886971.xml><?xml version="1.0" encoding="utf-8"?>
<p188:cmLst xmlns:a="http://schemas.openxmlformats.org/drawingml/2006/main" xmlns:r="http://schemas.openxmlformats.org/officeDocument/2006/relationships" xmlns:p188="http://schemas.microsoft.com/office/powerpoint/2018/8/main">
  <p188:cm id="{D6F4DB02-C0E5-4A90-8AD8-A7370D20E2A9}" authorId="{F41D8B98-483F-74EF-7ECF-E3886A2D2BF2}" created="2025-11-16T00:47:47.916">
    <pc:sldMkLst xmlns:pc="http://schemas.microsoft.com/office/powerpoint/2013/main/command">
      <pc:docMk/>
      <pc:sldMk cId="3985140081" sldId="2076137359"/>
    </pc:sldMkLst>
    <p188:txBody>
      <a:bodyPr/>
      <a:lstStyle/>
      <a:p>
        <a:r>
          <a:rPr lang="es-CL"/>
          <a:t>En nuestro trabajo de investigación, abordamos una aplicación de Ciencia de Datos en salud pública chilena: modelos predictivos para diagnóstico de cáncer colorrectal."
Seleccionamos este estudio—publicado en la Revista Médica de Chile—porque combina técnicas que estamos aprendiendo con un problema real: cómo optimizar la derivación de pacientes en un sistema con recursos limitados.
Durante la presentación vamos a exponer el contexto del problema, los objetivos, la metodología empleada, los resultados, y una discusión crítica sobre ventajas y limitaciones.
Empecemos por el contexto...</a:t>
        </a:r>
      </a:p>
    </p188:txBody>
  </p188:cm>
</p188:cmLst>
</file>

<file path=ppt/comments/modernComment_7BBF5791_8474DF0E.xml><?xml version="1.0" encoding="utf-8"?>
<p188:cmLst xmlns:a="http://schemas.openxmlformats.org/drawingml/2006/main" xmlns:r="http://schemas.openxmlformats.org/officeDocument/2006/relationships" xmlns:p188="http://schemas.microsoft.com/office/powerpoint/2018/8/main">
  <p188:cm id="{6919AEB8-78BB-4D21-A5F1-D317F909E041}" authorId="{F41D8B98-483F-74EF-7ECF-E3886A2D2BF2}" created="2025-11-15T23:30:03.198">
    <pc:sldMkLst xmlns:pc="http://schemas.microsoft.com/office/powerpoint/2013/main/command">
      <pc:docMk/>
      <pc:sldMk cId="2222251790" sldId="2076137361"/>
    </pc:sldMkLst>
    <p188:txBody>
      <a:bodyPr/>
      <a:lstStyle/>
      <a:p>
        <a:r>
          <a:rPr lang="es-CL"/>
          <a:t>A la izquierda tenemos pacientes con síntomas sospechosos que son evaluados según las guías GES.
Estos pacientes son derivados a colonoscopia—un procedimiento costoso que requiere equipamiento especializado y personal capacitado. Los medidores de riesgo representan que hay pacientes de alto, medio y bajo riesgo, pero actualmente no hay forma sistemática de diferenciarlos."
El resultado es que solo el 13% de los pacientes derivados realmente tienen cáncer colorrectal. Esto significa que el 87% de las colonoscopias no detectan neoplasia.
Éste es nuestro problema central en donde existe una dificultad de priorización. El sistema enfrenta procedimientos costosos, capacidad limitada de equipos y personal, y la necesidad urgente de optimizar recursos.
Sin un sistema predictivo, pacientes de alto riesgo pueden esperar lo mismo que pacientes de bajo riesgo, retrasando diagnósticos críticos y utilizando recursos ineficientemente.</a:t>
        </a:r>
      </a:p>
    </p188:txBody>
  </p188:cm>
</p188:cmLst>
</file>

<file path=ppt/comments/modernComment_7BBF5792_F6775C34.xml><?xml version="1.0" encoding="utf-8"?>
<p188:cmLst xmlns:a="http://schemas.openxmlformats.org/drawingml/2006/main" xmlns:r="http://schemas.openxmlformats.org/officeDocument/2006/relationships" xmlns:p188="http://schemas.microsoft.com/office/powerpoint/2018/8/main">
  <p188:cm id="{98B65F0B-E48C-4BF0-BD0F-8DCE81250F4C}" authorId="{F41D8B98-483F-74EF-7ECF-E3886A2D2BF2}" created="2025-11-15T23:24:45.330">
    <pc:sldMkLst xmlns:pc="http://schemas.microsoft.com/office/powerpoint/2013/main/command">
      <pc:docMk/>
      <pc:sldMk cId="4135017524" sldId="2076137362"/>
    </pc:sldMkLst>
    <p188:txBody>
      <a:bodyPr/>
      <a:lstStyle/>
      <a:p>
        <a:r>
          <a:rPr lang="es-CL"/>
          <a:t>La metodología del estudio fue un diseño retrospectivo analítico, es decir, se analizaron datos históricos de pacientes que ya habían sido atendidos.
Se evaluaron 1,099 pacientes derivados a colonoscopia entre julio 2016 y diciembre 2021 en el Hospital Guillermo Grant Benavente de Concepción. Se analizaron 16 variables en total: 10 provenientes de las guías GES y 6 adicionales de interés clínico.
La técnica principal fue regresión logística binaria, que es apropiada para este tipo de problema porque la variable dependiente es binaria: el paciente tiene o no tiene cáncer colorrectal. Esta técnica es ampliamente aceptada en investigación médica porque además de predecir, permite interpretar el efecto de cada variable</a:t>
        </a:r>
      </a:p>
    </p188:txBody>
  </p188:cm>
</p188:cmLst>
</file>

<file path=ppt/comments/modernComment_7BBF5795_E4D899E3.xml><?xml version="1.0" encoding="utf-8"?>
<p188:cmLst xmlns:a="http://schemas.openxmlformats.org/drawingml/2006/main" xmlns:r="http://schemas.openxmlformats.org/officeDocument/2006/relationships" xmlns:p188="http://schemas.microsoft.com/office/powerpoint/2018/8/main">
  <p188:cm id="{E726EA32-7390-490F-962C-43357F246E4C}" authorId="{F41D8B98-483F-74EF-7ECF-E3886A2D2BF2}" created="2025-11-15T23:28:15.715">
    <pc:sldMkLst xmlns:pc="http://schemas.microsoft.com/office/powerpoint/2013/main/command">
      <pc:docMk/>
      <pc:sldMk cId="3839400419" sldId="2076137365"/>
    </pc:sldMkLst>
    <p188:txBody>
      <a:bodyPr/>
      <a:lstStyle/>
      <a:p>
        <a:r>
          <a:rPr lang="es-CL"/>
          <a:t>El objetivo principal fue desarrollar un modelo predictivo que identifique qué pacientes tienen mayor probabilidad de tener cáncer colorrectal, usando síntomas clínicos. Esto permitiría priorizar las colonoscopias para los casos de mayor riesgo y optimizar los recursos limitados del sistema público chileno."</a:t>
        </a:r>
      </a:p>
    </p188:txBody>
  </p188:cm>
</p188:cmLst>
</file>

<file path=ppt/comments/modernComment_7BBF5796_ED99224E.xml><?xml version="1.0" encoding="utf-8"?>
<p188:cmLst xmlns:a="http://schemas.openxmlformats.org/drawingml/2006/main" xmlns:r="http://schemas.openxmlformats.org/officeDocument/2006/relationships" xmlns:p188="http://schemas.microsoft.com/office/powerpoint/2018/8/main">
  <p188:cm id="{0661420B-078B-441D-9EAC-9811E56BA576}" authorId="{F41D8B98-483F-74EF-7ECF-E3886A2D2BF2}" created="2025-11-15T19:26:49.164">
    <ac:deMkLst xmlns:ac="http://schemas.microsoft.com/office/drawing/2013/main/command">
      <pc:docMk xmlns:pc="http://schemas.microsoft.com/office/powerpoint/2013/main/command"/>
      <pc:sldMk xmlns:pc="http://schemas.microsoft.com/office/powerpoint/2013/main/command" cId="3986235982" sldId="2076137366"/>
      <ac:spMk id="5" creationId="{DA79A54B-4E4B-1859-3196-338F21D316A1}"/>
    </ac:deMkLst>
    <p188:txBody>
      <a:bodyPr/>
      <a:lstStyle/>
      <a:p>
        <a:r>
          <a:rPr lang="es-CL"/>
          <a:t>El estudios de desarrolla en el contexto del sistema público de salud chileno, específicamente bajo el marco de las garantías explicitas en salud (GES), que establece que pacientes con sospecha de cáncer colorrectal deben recibir una colonoscopía dentro de 45 días.  
Sin embargo, la correlación entre los síntomas establecidos en las guías GES y el diagnóstico real del CRC no había sido analizada sistemáticamente.</a:t>
        </a:r>
      </a:p>
    </p188:txBody>
  </p188:cm>
</p188:cmLst>
</file>

<file path=ppt/comments/modernComment_7BBF5798_F299D2FB.xml><?xml version="1.0" encoding="utf-8"?>
<p188:cmLst xmlns:a="http://schemas.openxmlformats.org/drawingml/2006/main" xmlns:r="http://schemas.openxmlformats.org/officeDocument/2006/relationships" xmlns:p188="http://schemas.microsoft.com/office/powerpoint/2018/8/main">
  <p188:cm id="{FBFB5005-5FDD-4E43-9589-016AB65068D2}" authorId="{F41D8B98-483F-74EF-7ECF-E3886A2D2BF2}" created="2025-11-17T06:22:49.824">
    <pc:sldMkLst xmlns:pc="http://schemas.microsoft.com/office/powerpoint/2013/main/command">
      <pc:docMk/>
      <pc:sldMk cId="4070167291" sldId="2076137368"/>
    </pc:sldMkLst>
    <p188:txBody>
      <a:bodyPr/>
      <a:lstStyle/>
      <a:p>
        <a:r>
          <a:rPr lang="es-CL"/>
          <a:t>En este primer resultado vemos el análisis de importancia de variables 
del modelo predictivo.
De 16 variables iniciales, el modelo identificó 9 ESTADÍSTICAMENTE 
SIGNIFICATIVAS, ordenadas aquí según su poder predictivo.
Las variables con MAYOR IMPORTANCIA son el sangrado gastrointestinal 
y la tomografía computarizada.
Lo relevante desde ciencia de datos es la comparación con el protocolo 
GES actual:
En AZUL vemos las 5 variables que YA están en el protocolo GES y que 
el modelo validó como importantes.
En VERDE están las 4 VARIABLES NUEVAS que el modelo identificó pero 
que NO están actualmente en el protocolo GES.
Estas 4 variables adicionales - especialmente las imagenológicas como 
TAC y ecografía - mejoran la capacidad predictiva del modelo en 5 puntos 
de AUC, pasando de 0,81 a 0,86.
Esto demuestra cómo el análisis de datos puede optimizar protocolos 
clínicos existentes identificando variables relevantes que antes 
no se consideraban.</a:t>
        </a:r>
      </a:p>
    </p188:txBody>
  </p188:cm>
</p188:cmLst>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F67478-54D9-4B0B-9A03-A21D7575795F}"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s-CL"/>
        </a:p>
      </dgm:t>
    </dgm:pt>
    <dgm:pt modelId="{6836BD31-2BDF-4CD5-8450-B40A19B75971}">
      <dgm:prSet phldrT="[Texto]" phldr="0"/>
      <dgm:spPr>
        <a:solidFill>
          <a:schemeClr val="accent2">
            <a:lumMod val="75000"/>
          </a:schemeClr>
        </a:solidFill>
      </dgm:spPr>
      <dgm:t>
        <a:bodyPr/>
        <a:lstStyle/>
        <a:p>
          <a:r>
            <a:rPr lang="es-CL" dirty="0"/>
            <a:t>Contexto</a:t>
          </a:r>
        </a:p>
      </dgm:t>
    </dgm:pt>
    <dgm:pt modelId="{A132D41C-D890-4BD8-B40F-D6FAF9344DE0}" type="parTrans" cxnId="{57C3D6BF-CDA1-44D6-91AB-26FCB35F701C}">
      <dgm:prSet/>
      <dgm:spPr/>
      <dgm:t>
        <a:bodyPr/>
        <a:lstStyle/>
        <a:p>
          <a:endParaRPr lang="es-CL"/>
        </a:p>
      </dgm:t>
    </dgm:pt>
    <dgm:pt modelId="{A8D1C80F-0BA5-49A0-A7D4-0C02AA25FE1E}" type="sibTrans" cxnId="{57C3D6BF-CDA1-44D6-91AB-26FCB35F701C}">
      <dgm:prSet/>
      <dgm:spPr/>
      <dgm:t>
        <a:bodyPr/>
        <a:lstStyle/>
        <a:p>
          <a:endParaRPr lang="es-CL" dirty="0"/>
        </a:p>
      </dgm:t>
    </dgm:pt>
    <dgm:pt modelId="{AEA42B3C-BDA0-4798-8E7A-DDEAAD7CD145}">
      <dgm:prSet phldrT="[Texto]" phldr="0"/>
      <dgm:spPr>
        <a:solidFill>
          <a:schemeClr val="accent2">
            <a:lumMod val="75000"/>
          </a:schemeClr>
        </a:solidFill>
      </dgm:spPr>
      <dgm:t>
        <a:bodyPr/>
        <a:lstStyle/>
        <a:p>
          <a:r>
            <a:rPr lang="es-CL" dirty="0"/>
            <a:t>Objetivos</a:t>
          </a:r>
        </a:p>
      </dgm:t>
    </dgm:pt>
    <dgm:pt modelId="{47DADE20-7E86-43F2-9791-DEA892D2E989}" type="parTrans" cxnId="{71850FD5-07C8-4352-9B4D-47DC5ED84706}">
      <dgm:prSet/>
      <dgm:spPr/>
      <dgm:t>
        <a:bodyPr/>
        <a:lstStyle/>
        <a:p>
          <a:endParaRPr lang="es-CL"/>
        </a:p>
      </dgm:t>
    </dgm:pt>
    <dgm:pt modelId="{86776166-9EBF-44A5-900D-22DED3F568AB}" type="sibTrans" cxnId="{71850FD5-07C8-4352-9B4D-47DC5ED84706}">
      <dgm:prSet/>
      <dgm:spPr/>
      <dgm:t>
        <a:bodyPr/>
        <a:lstStyle/>
        <a:p>
          <a:endParaRPr lang="es-CL" dirty="0"/>
        </a:p>
      </dgm:t>
    </dgm:pt>
    <dgm:pt modelId="{FCCEDDE4-BCBB-4CFA-8C78-E354A38ECD97}">
      <dgm:prSet phldrT="[Texto]" phldr="0"/>
      <dgm:spPr>
        <a:solidFill>
          <a:schemeClr val="accent2">
            <a:lumMod val="75000"/>
          </a:schemeClr>
        </a:solidFill>
      </dgm:spPr>
      <dgm:t>
        <a:bodyPr/>
        <a:lstStyle/>
        <a:p>
          <a:r>
            <a:rPr lang="es-CL" dirty="0"/>
            <a:t>Resultados</a:t>
          </a:r>
        </a:p>
      </dgm:t>
    </dgm:pt>
    <dgm:pt modelId="{59B9707C-8B40-4919-8429-2AFF5E6B2BFA}" type="parTrans" cxnId="{BC0FF288-EDBD-4310-BB61-2F12CEA1785F}">
      <dgm:prSet/>
      <dgm:spPr/>
      <dgm:t>
        <a:bodyPr/>
        <a:lstStyle/>
        <a:p>
          <a:endParaRPr lang="es-CL"/>
        </a:p>
      </dgm:t>
    </dgm:pt>
    <dgm:pt modelId="{5D545422-5B6A-4502-93F9-4B3B68541570}" type="sibTrans" cxnId="{BC0FF288-EDBD-4310-BB61-2F12CEA1785F}">
      <dgm:prSet/>
      <dgm:spPr/>
      <dgm:t>
        <a:bodyPr/>
        <a:lstStyle/>
        <a:p>
          <a:endParaRPr lang="es-CL"/>
        </a:p>
      </dgm:t>
    </dgm:pt>
    <dgm:pt modelId="{1310C5F0-D649-4B0F-AD16-6BD9015D4906}">
      <dgm:prSet phldrT="[Texto]" phldr="0"/>
      <dgm:spPr>
        <a:solidFill>
          <a:schemeClr val="accent2">
            <a:lumMod val="75000"/>
          </a:schemeClr>
        </a:solidFill>
      </dgm:spPr>
      <dgm:t>
        <a:bodyPr/>
        <a:lstStyle/>
        <a:p>
          <a:r>
            <a:rPr lang="es-CL" dirty="0"/>
            <a:t>Metodología</a:t>
          </a:r>
        </a:p>
      </dgm:t>
    </dgm:pt>
    <dgm:pt modelId="{A142671D-4D08-4457-9B41-6D1561D28607}" type="parTrans" cxnId="{2CD5A14C-B4F8-4FED-8D8F-685FFF726E2C}">
      <dgm:prSet/>
      <dgm:spPr/>
      <dgm:t>
        <a:bodyPr/>
        <a:lstStyle/>
        <a:p>
          <a:endParaRPr lang="es-CL"/>
        </a:p>
      </dgm:t>
    </dgm:pt>
    <dgm:pt modelId="{ADD42979-CD44-4EE5-A03A-8478A9296814}" type="sibTrans" cxnId="{2CD5A14C-B4F8-4FED-8D8F-685FFF726E2C}">
      <dgm:prSet/>
      <dgm:spPr/>
      <dgm:t>
        <a:bodyPr/>
        <a:lstStyle/>
        <a:p>
          <a:endParaRPr lang="es-CL" dirty="0"/>
        </a:p>
      </dgm:t>
    </dgm:pt>
    <dgm:pt modelId="{39C23D9A-F99C-4FDC-B4DC-3F8C361B07B0}" type="pres">
      <dgm:prSet presAssocID="{E7F67478-54D9-4B0B-9A03-A21D7575795F}" presName="Name0" presStyleCnt="0">
        <dgm:presLayoutVars>
          <dgm:dir/>
          <dgm:resizeHandles val="exact"/>
        </dgm:presLayoutVars>
      </dgm:prSet>
      <dgm:spPr/>
    </dgm:pt>
    <dgm:pt modelId="{337591AE-6555-4F75-9113-7A7FAA107325}" type="pres">
      <dgm:prSet presAssocID="{6836BD31-2BDF-4CD5-8450-B40A19B75971}" presName="node" presStyleLbl="node1" presStyleIdx="0" presStyleCnt="4">
        <dgm:presLayoutVars>
          <dgm:bulletEnabled val="1"/>
        </dgm:presLayoutVars>
      </dgm:prSet>
      <dgm:spPr/>
    </dgm:pt>
    <dgm:pt modelId="{D5A75AE2-0C65-43F3-A77C-1B98C363F9D8}" type="pres">
      <dgm:prSet presAssocID="{A8D1C80F-0BA5-49A0-A7D4-0C02AA25FE1E}" presName="sibTrans" presStyleLbl="sibTrans2D1" presStyleIdx="0" presStyleCnt="3"/>
      <dgm:spPr/>
    </dgm:pt>
    <dgm:pt modelId="{985911DD-A1A8-46D0-8793-12C7FF56F03C}" type="pres">
      <dgm:prSet presAssocID="{A8D1C80F-0BA5-49A0-A7D4-0C02AA25FE1E}" presName="connectorText" presStyleLbl="sibTrans2D1" presStyleIdx="0" presStyleCnt="3"/>
      <dgm:spPr/>
    </dgm:pt>
    <dgm:pt modelId="{3B671785-4A69-4752-8ACD-8F63B137CE87}" type="pres">
      <dgm:prSet presAssocID="{AEA42B3C-BDA0-4798-8E7A-DDEAAD7CD145}" presName="node" presStyleLbl="node1" presStyleIdx="1" presStyleCnt="4">
        <dgm:presLayoutVars>
          <dgm:bulletEnabled val="1"/>
        </dgm:presLayoutVars>
      </dgm:prSet>
      <dgm:spPr/>
    </dgm:pt>
    <dgm:pt modelId="{49321268-7CB5-496D-A373-97DAF59D1EB5}" type="pres">
      <dgm:prSet presAssocID="{86776166-9EBF-44A5-900D-22DED3F568AB}" presName="sibTrans" presStyleLbl="sibTrans2D1" presStyleIdx="1" presStyleCnt="3"/>
      <dgm:spPr/>
    </dgm:pt>
    <dgm:pt modelId="{4446F919-E241-48C2-AA97-1771423B086E}" type="pres">
      <dgm:prSet presAssocID="{86776166-9EBF-44A5-900D-22DED3F568AB}" presName="connectorText" presStyleLbl="sibTrans2D1" presStyleIdx="1" presStyleCnt="3"/>
      <dgm:spPr/>
    </dgm:pt>
    <dgm:pt modelId="{AEDD0B79-EB03-4389-8BD5-3D46123C0587}" type="pres">
      <dgm:prSet presAssocID="{1310C5F0-D649-4B0F-AD16-6BD9015D4906}" presName="node" presStyleLbl="node1" presStyleIdx="2" presStyleCnt="4">
        <dgm:presLayoutVars>
          <dgm:bulletEnabled val="1"/>
        </dgm:presLayoutVars>
      </dgm:prSet>
      <dgm:spPr/>
    </dgm:pt>
    <dgm:pt modelId="{A049C9E4-2F13-471B-8696-6D2F3DF97271}" type="pres">
      <dgm:prSet presAssocID="{ADD42979-CD44-4EE5-A03A-8478A9296814}" presName="sibTrans" presStyleLbl="sibTrans2D1" presStyleIdx="2" presStyleCnt="3"/>
      <dgm:spPr/>
    </dgm:pt>
    <dgm:pt modelId="{B72028E5-6B62-461D-BCD2-2FA776BF77C3}" type="pres">
      <dgm:prSet presAssocID="{ADD42979-CD44-4EE5-A03A-8478A9296814}" presName="connectorText" presStyleLbl="sibTrans2D1" presStyleIdx="2" presStyleCnt="3"/>
      <dgm:spPr/>
    </dgm:pt>
    <dgm:pt modelId="{CB9D8AB9-D5D1-4FBC-86B5-D1E7F2AA95D9}" type="pres">
      <dgm:prSet presAssocID="{FCCEDDE4-BCBB-4CFA-8C78-E354A38ECD97}" presName="node" presStyleLbl="node1" presStyleIdx="3" presStyleCnt="4">
        <dgm:presLayoutVars>
          <dgm:bulletEnabled val="1"/>
        </dgm:presLayoutVars>
      </dgm:prSet>
      <dgm:spPr/>
    </dgm:pt>
  </dgm:ptLst>
  <dgm:cxnLst>
    <dgm:cxn modelId="{8CA95401-5D19-433F-82CE-C56FE0649010}" type="presOf" srcId="{E7F67478-54D9-4B0B-9A03-A21D7575795F}" destId="{39C23D9A-F99C-4FDC-B4DC-3F8C361B07B0}" srcOrd="0" destOrd="0" presId="urn:microsoft.com/office/officeart/2005/8/layout/process1"/>
    <dgm:cxn modelId="{4CF24610-EDF6-4055-86C0-80F64D2F06D3}" type="presOf" srcId="{6836BD31-2BDF-4CD5-8450-B40A19B75971}" destId="{337591AE-6555-4F75-9113-7A7FAA107325}" srcOrd="0" destOrd="0" presId="urn:microsoft.com/office/officeart/2005/8/layout/process1"/>
    <dgm:cxn modelId="{8C2E3632-E39F-404D-97D3-808436B1FD7F}" type="presOf" srcId="{86776166-9EBF-44A5-900D-22DED3F568AB}" destId="{4446F919-E241-48C2-AA97-1771423B086E}" srcOrd="1" destOrd="0" presId="urn:microsoft.com/office/officeart/2005/8/layout/process1"/>
    <dgm:cxn modelId="{8A415F3D-045D-4BC6-9213-E719BB37076E}" type="presOf" srcId="{ADD42979-CD44-4EE5-A03A-8478A9296814}" destId="{A049C9E4-2F13-471B-8696-6D2F3DF97271}" srcOrd="0" destOrd="0" presId="urn:microsoft.com/office/officeart/2005/8/layout/process1"/>
    <dgm:cxn modelId="{3EF27161-D36A-42DA-ADB2-FDA99B1FD0CF}" type="presOf" srcId="{FCCEDDE4-BCBB-4CFA-8C78-E354A38ECD97}" destId="{CB9D8AB9-D5D1-4FBC-86B5-D1E7F2AA95D9}" srcOrd="0" destOrd="0" presId="urn:microsoft.com/office/officeart/2005/8/layout/process1"/>
    <dgm:cxn modelId="{7E4E5E6B-58B4-49A5-80B7-6EB029EF42C8}" type="presOf" srcId="{1310C5F0-D649-4B0F-AD16-6BD9015D4906}" destId="{AEDD0B79-EB03-4389-8BD5-3D46123C0587}" srcOrd="0" destOrd="0" presId="urn:microsoft.com/office/officeart/2005/8/layout/process1"/>
    <dgm:cxn modelId="{2CD5A14C-B4F8-4FED-8D8F-685FFF726E2C}" srcId="{E7F67478-54D9-4B0B-9A03-A21D7575795F}" destId="{1310C5F0-D649-4B0F-AD16-6BD9015D4906}" srcOrd="2" destOrd="0" parTransId="{A142671D-4D08-4457-9B41-6D1561D28607}" sibTransId="{ADD42979-CD44-4EE5-A03A-8478A9296814}"/>
    <dgm:cxn modelId="{F9108452-EAE8-43D6-805F-557A7C7F0E95}" type="presOf" srcId="{AEA42B3C-BDA0-4798-8E7A-DDEAAD7CD145}" destId="{3B671785-4A69-4752-8ACD-8F63B137CE87}" srcOrd="0" destOrd="0" presId="urn:microsoft.com/office/officeart/2005/8/layout/process1"/>
    <dgm:cxn modelId="{876D6A79-7974-4273-81CF-0ED23F001C14}" type="presOf" srcId="{86776166-9EBF-44A5-900D-22DED3F568AB}" destId="{49321268-7CB5-496D-A373-97DAF59D1EB5}" srcOrd="0" destOrd="0" presId="urn:microsoft.com/office/officeart/2005/8/layout/process1"/>
    <dgm:cxn modelId="{BC0FF288-EDBD-4310-BB61-2F12CEA1785F}" srcId="{E7F67478-54D9-4B0B-9A03-A21D7575795F}" destId="{FCCEDDE4-BCBB-4CFA-8C78-E354A38ECD97}" srcOrd="3" destOrd="0" parTransId="{59B9707C-8B40-4919-8429-2AFF5E6B2BFA}" sibTransId="{5D545422-5B6A-4502-93F9-4B3B68541570}"/>
    <dgm:cxn modelId="{57C3D6BF-CDA1-44D6-91AB-26FCB35F701C}" srcId="{E7F67478-54D9-4B0B-9A03-A21D7575795F}" destId="{6836BD31-2BDF-4CD5-8450-B40A19B75971}" srcOrd="0" destOrd="0" parTransId="{A132D41C-D890-4BD8-B40F-D6FAF9344DE0}" sibTransId="{A8D1C80F-0BA5-49A0-A7D4-0C02AA25FE1E}"/>
    <dgm:cxn modelId="{71850FD5-07C8-4352-9B4D-47DC5ED84706}" srcId="{E7F67478-54D9-4B0B-9A03-A21D7575795F}" destId="{AEA42B3C-BDA0-4798-8E7A-DDEAAD7CD145}" srcOrd="1" destOrd="0" parTransId="{47DADE20-7E86-43F2-9791-DEA892D2E989}" sibTransId="{86776166-9EBF-44A5-900D-22DED3F568AB}"/>
    <dgm:cxn modelId="{AAD7B3EF-BEEF-492F-92EE-6A35F5DE9FFA}" type="presOf" srcId="{ADD42979-CD44-4EE5-A03A-8478A9296814}" destId="{B72028E5-6B62-461D-BCD2-2FA776BF77C3}" srcOrd="1" destOrd="0" presId="urn:microsoft.com/office/officeart/2005/8/layout/process1"/>
    <dgm:cxn modelId="{41C3A1F1-7E18-4743-8DC0-A0D3128FA482}" type="presOf" srcId="{A8D1C80F-0BA5-49A0-A7D4-0C02AA25FE1E}" destId="{D5A75AE2-0C65-43F3-A77C-1B98C363F9D8}" srcOrd="0" destOrd="0" presId="urn:microsoft.com/office/officeart/2005/8/layout/process1"/>
    <dgm:cxn modelId="{2759D9F4-FAF1-45F9-A624-CABE9EE6A855}" type="presOf" srcId="{A8D1C80F-0BA5-49A0-A7D4-0C02AA25FE1E}" destId="{985911DD-A1A8-46D0-8793-12C7FF56F03C}" srcOrd="1" destOrd="0" presId="urn:microsoft.com/office/officeart/2005/8/layout/process1"/>
    <dgm:cxn modelId="{67A31EEB-5574-4D4B-973A-4DBCB8BB5D25}" type="presParOf" srcId="{39C23D9A-F99C-4FDC-B4DC-3F8C361B07B0}" destId="{337591AE-6555-4F75-9113-7A7FAA107325}" srcOrd="0" destOrd="0" presId="urn:microsoft.com/office/officeart/2005/8/layout/process1"/>
    <dgm:cxn modelId="{9403011F-948F-4A67-8B4D-C51F042D7F1E}" type="presParOf" srcId="{39C23D9A-F99C-4FDC-B4DC-3F8C361B07B0}" destId="{D5A75AE2-0C65-43F3-A77C-1B98C363F9D8}" srcOrd="1" destOrd="0" presId="urn:microsoft.com/office/officeart/2005/8/layout/process1"/>
    <dgm:cxn modelId="{1FEAB356-FC17-4204-9CEE-039DE2A9DC80}" type="presParOf" srcId="{D5A75AE2-0C65-43F3-A77C-1B98C363F9D8}" destId="{985911DD-A1A8-46D0-8793-12C7FF56F03C}" srcOrd="0" destOrd="0" presId="urn:microsoft.com/office/officeart/2005/8/layout/process1"/>
    <dgm:cxn modelId="{4E5E7367-4F84-4142-9551-3BC544305FD4}" type="presParOf" srcId="{39C23D9A-F99C-4FDC-B4DC-3F8C361B07B0}" destId="{3B671785-4A69-4752-8ACD-8F63B137CE87}" srcOrd="2" destOrd="0" presId="urn:microsoft.com/office/officeart/2005/8/layout/process1"/>
    <dgm:cxn modelId="{C108B3B5-6D21-4BF5-A9EF-67A8950CC969}" type="presParOf" srcId="{39C23D9A-F99C-4FDC-B4DC-3F8C361B07B0}" destId="{49321268-7CB5-496D-A373-97DAF59D1EB5}" srcOrd="3" destOrd="0" presId="urn:microsoft.com/office/officeart/2005/8/layout/process1"/>
    <dgm:cxn modelId="{5AD9FB9D-C31F-4730-BB76-C550334CCCE7}" type="presParOf" srcId="{49321268-7CB5-496D-A373-97DAF59D1EB5}" destId="{4446F919-E241-48C2-AA97-1771423B086E}" srcOrd="0" destOrd="0" presId="urn:microsoft.com/office/officeart/2005/8/layout/process1"/>
    <dgm:cxn modelId="{AE0A3092-D2B4-4D5C-A4FE-139639736044}" type="presParOf" srcId="{39C23D9A-F99C-4FDC-B4DC-3F8C361B07B0}" destId="{AEDD0B79-EB03-4389-8BD5-3D46123C0587}" srcOrd="4" destOrd="0" presId="urn:microsoft.com/office/officeart/2005/8/layout/process1"/>
    <dgm:cxn modelId="{B89C02D3-A3DA-4821-84E9-8516B2E90BB4}" type="presParOf" srcId="{39C23D9A-F99C-4FDC-B4DC-3F8C361B07B0}" destId="{A049C9E4-2F13-471B-8696-6D2F3DF97271}" srcOrd="5" destOrd="0" presId="urn:microsoft.com/office/officeart/2005/8/layout/process1"/>
    <dgm:cxn modelId="{0C17B36B-F0E9-4E7D-8426-F567CBF48A6B}" type="presParOf" srcId="{A049C9E4-2F13-471B-8696-6D2F3DF97271}" destId="{B72028E5-6B62-461D-BCD2-2FA776BF77C3}" srcOrd="0" destOrd="0" presId="urn:microsoft.com/office/officeart/2005/8/layout/process1"/>
    <dgm:cxn modelId="{1332C137-702D-40DD-9A96-12D1D3AB2977}" type="presParOf" srcId="{39C23D9A-F99C-4FDC-B4DC-3F8C361B07B0}" destId="{CB9D8AB9-D5D1-4FBC-86B5-D1E7F2AA95D9}" srcOrd="6" destOrd="0" presId="urn:microsoft.com/office/officeart/2005/8/layout/process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003047-7EC7-45AC-99C9-2379C182BF85}" type="doc">
      <dgm:prSet loTypeId="urn:microsoft.com/office/officeart/2008/layout/CaptionedPictures" loCatId="picture" qsTypeId="urn:microsoft.com/office/officeart/2005/8/quickstyle/simple1" qsCatId="simple" csTypeId="urn:microsoft.com/office/officeart/2005/8/colors/accent1_2" csCatId="accent1" phldr="1"/>
      <dgm:spPr/>
      <dgm:t>
        <a:bodyPr/>
        <a:lstStyle/>
        <a:p>
          <a:endParaRPr lang="es-CL"/>
        </a:p>
      </dgm:t>
    </dgm:pt>
    <dgm:pt modelId="{8D6711C7-EBA4-4293-AA5C-DF0F1A1002E4}">
      <dgm:prSet phldrT="[Texto]" custT="1"/>
      <dgm:spPr/>
      <dgm:t>
        <a:bodyPr/>
        <a:lstStyle/>
        <a:p>
          <a:pPr algn="ctr"/>
          <a:r>
            <a:rPr lang="es-MX" sz="1200" b="1" i="0" dirty="0"/>
            <a:t>2. Desarrollar un modelo de regresión logística</a:t>
          </a:r>
          <a:r>
            <a:rPr lang="es-MX" sz="1200" b="0" i="0" dirty="0"/>
            <a:t> que estime el riesgo de CCR basándose en síntomas y hallazgos clínicos.</a:t>
          </a:r>
          <a:endParaRPr lang="es-CL" sz="1200" dirty="0"/>
        </a:p>
      </dgm:t>
    </dgm:pt>
    <dgm:pt modelId="{8627006E-0CCF-467F-911B-F006D14F57A7}" type="parTrans" cxnId="{476A546A-3AB3-494F-8380-D6D58D2D8B07}">
      <dgm:prSet/>
      <dgm:spPr/>
      <dgm:t>
        <a:bodyPr/>
        <a:lstStyle/>
        <a:p>
          <a:endParaRPr lang="es-CL"/>
        </a:p>
      </dgm:t>
    </dgm:pt>
    <dgm:pt modelId="{771E4B68-7CB7-4179-A31F-6DAFA0447A54}" type="sibTrans" cxnId="{476A546A-3AB3-494F-8380-D6D58D2D8B07}">
      <dgm:prSet/>
      <dgm:spPr/>
      <dgm:t>
        <a:bodyPr/>
        <a:lstStyle/>
        <a:p>
          <a:endParaRPr lang="es-CL"/>
        </a:p>
      </dgm:t>
    </dgm:pt>
    <dgm:pt modelId="{98E8E6FB-3364-4808-B796-83B20C1B9D82}">
      <dgm:prSet phldrT="[Texto]" custT="1"/>
      <dgm:spPr/>
      <dgm:t>
        <a:bodyPr/>
        <a:lstStyle/>
        <a:p>
          <a:pPr algn="ctr"/>
          <a:r>
            <a:rPr lang="es-MX" sz="1200" b="1" i="0" dirty="0"/>
            <a:t>3. Validar el rendimiento del modelo</a:t>
          </a:r>
          <a:r>
            <a:rPr lang="es-MX" sz="1200" b="0" i="0" dirty="0"/>
            <a:t> mediante métricas estadísticas (sensibilidad, especificidad, AUC-ROC).</a:t>
          </a:r>
          <a:endParaRPr lang="es-CL" sz="1200" dirty="0"/>
        </a:p>
      </dgm:t>
    </dgm:pt>
    <dgm:pt modelId="{13A8E59F-7E70-4BC8-A776-D47A6A7D6610}" type="parTrans" cxnId="{4CC13B6F-FE86-4E2C-9A24-1868C7A84DD1}">
      <dgm:prSet/>
      <dgm:spPr/>
      <dgm:t>
        <a:bodyPr/>
        <a:lstStyle/>
        <a:p>
          <a:endParaRPr lang="es-CL"/>
        </a:p>
      </dgm:t>
    </dgm:pt>
    <dgm:pt modelId="{5BCCAB6C-11C6-406A-BBD5-C81DC28AE993}" type="sibTrans" cxnId="{4CC13B6F-FE86-4E2C-9A24-1868C7A84DD1}">
      <dgm:prSet/>
      <dgm:spPr/>
      <dgm:t>
        <a:bodyPr/>
        <a:lstStyle/>
        <a:p>
          <a:endParaRPr lang="es-CL"/>
        </a:p>
      </dgm:t>
    </dgm:pt>
    <dgm:pt modelId="{4BA9BD8C-9A90-4D30-A6BB-66ED64F14CFB}">
      <dgm:prSet phldrT="[Texto]" phldr="0" custT="1"/>
      <dgm:spPr/>
      <dgm:t>
        <a:bodyPr/>
        <a:lstStyle/>
        <a:p>
          <a:pPr algn="ctr"/>
          <a:r>
            <a:rPr lang="es-MX" sz="1200" b="1" i="0" dirty="0"/>
            <a:t>1. Identificar las variables clínicas y sintomáticas</a:t>
          </a:r>
          <a:r>
            <a:rPr lang="es-MX" sz="1200" b="0" i="0" dirty="0"/>
            <a:t> más relevantes asociadas al diagnóstico de CCR en pacientes derivados según protocolo GES.</a:t>
          </a:r>
          <a:endParaRPr lang="es-CL" sz="1200" dirty="0"/>
        </a:p>
      </dgm:t>
    </dgm:pt>
    <dgm:pt modelId="{24DEFB13-A2BF-49BF-9E76-2F192F357CDF}" type="sibTrans" cxnId="{506A0EA1-C98D-44A5-AED8-E1D4CF0307B8}">
      <dgm:prSet/>
      <dgm:spPr/>
      <dgm:t>
        <a:bodyPr/>
        <a:lstStyle/>
        <a:p>
          <a:endParaRPr lang="es-CL"/>
        </a:p>
      </dgm:t>
    </dgm:pt>
    <dgm:pt modelId="{3AB86FCE-FBF3-468B-8329-BC7BD9DFB648}" type="parTrans" cxnId="{506A0EA1-C98D-44A5-AED8-E1D4CF0307B8}">
      <dgm:prSet/>
      <dgm:spPr/>
      <dgm:t>
        <a:bodyPr/>
        <a:lstStyle/>
        <a:p>
          <a:endParaRPr lang="es-CL"/>
        </a:p>
      </dgm:t>
    </dgm:pt>
    <dgm:pt modelId="{A07F1609-7F02-4981-9CAF-D63C0AEF65CC}" type="pres">
      <dgm:prSet presAssocID="{6C003047-7EC7-45AC-99C9-2379C182BF85}" presName="Name0" presStyleCnt="0">
        <dgm:presLayoutVars>
          <dgm:chMax/>
          <dgm:chPref/>
          <dgm:dir/>
        </dgm:presLayoutVars>
      </dgm:prSet>
      <dgm:spPr/>
    </dgm:pt>
    <dgm:pt modelId="{62E7F3FE-F0F3-4120-911D-23229C51F0A4}" type="pres">
      <dgm:prSet presAssocID="{4BA9BD8C-9A90-4D30-A6BB-66ED64F14CFB}" presName="composite" presStyleCnt="0">
        <dgm:presLayoutVars>
          <dgm:chMax val="1"/>
          <dgm:chPref val="1"/>
        </dgm:presLayoutVars>
      </dgm:prSet>
      <dgm:spPr/>
    </dgm:pt>
    <dgm:pt modelId="{E90BDCC0-D759-40F4-A96D-92E9F049D01D}" type="pres">
      <dgm:prSet presAssocID="{4BA9BD8C-9A90-4D30-A6BB-66ED64F14CFB}" presName="Accent" presStyleLbl="trAlignAcc1" presStyleIdx="0" presStyleCnt="3" custScaleX="196911">
        <dgm:presLayoutVars>
          <dgm:chMax val="0"/>
          <dgm:chPref val="0"/>
        </dgm:presLayoutVars>
      </dgm:prSet>
      <dgm:spPr>
        <a:ln>
          <a:solidFill>
            <a:schemeClr val="accent2">
              <a:lumMod val="75000"/>
            </a:schemeClr>
          </a:solidFill>
        </a:ln>
      </dgm:spPr>
    </dgm:pt>
    <dgm:pt modelId="{797DA9BC-3513-43D2-A24B-F59CAF4FD71D}" type="pres">
      <dgm:prSet presAssocID="{4BA9BD8C-9A90-4D30-A6BB-66ED64F14CFB}" presName="Image" presStyleLbl="alignImgPlace1" presStyleIdx="0" presStyleCnt="3" custScaleX="59248" custScaleY="60062">
        <dgm:presLayoutVars>
          <dgm:chMax val="0"/>
          <dgm:chPref val="0"/>
        </dgm:presLayoutVars>
      </dgm:prSet>
      <dgm:spPr>
        <a:blipFill rotWithShape="1">
          <a:blip xmlns:r="http://schemas.openxmlformats.org/officeDocument/2006/relationships" r:embed="rId1"/>
          <a:srcRect/>
          <a:stretch>
            <a:fillRect t="-14000" b="-14000"/>
          </a:stretch>
        </a:blipFill>
      </dgm:spPr>
    </dgm:pt>
    <dgm:pt modelId="{2C5C3DC8-8AA4-45C9-ABE1-928AFBCB2309}" type="pres">
      <dgm:prSet presAssocID="{4BA9BD8C-9A90-4D30-A6BB-66ED64F14CFB}" presName="ChildComposite" presStyleCnt="0"/>
      <dgm:spPr/>
    </dgm:pt>
    <dgm:pt modelId="{34779847-E7BE-493B-9252-30BD90DDA0B6}" type="pres">
      <dgm:prSet presAssocID="{4BA9BD8C-9A90-4D30-A6BB-66ED64F14CFB}" presName="Child" presStyleLbl="node1" presStyleIdx="0" presStyleCnt="0" custScaleY="287811">
        <dgm:presLayoutVars>
          <dgm:chMax val="0"/>
          <dgm:chPref val="0"/>
          <dgm:bulletEnabled val="1"/>
        </dgm:presLayoutVars>
      </dgm:prSet>
      <dgm:spPr/>
    </dgm:pt>
    <dgm:pt modelId="{D6AE907E-AE29-409E-8F09-DAB7C0B88382}" type="pres">
      <dgm:prSet presAssocID="{4BA9BD8C-9A90-4D30-A6BB-66ED64F14CFB}" presName="Parent" presStyleLbl="revTx" presStyleIdx="0" presStyleCnt="3" custScaleX="206528">
        <dgm:presLayoutVars>
          <dgm:chMax val="1"/>
          <dgm:chPref val="0"/>
          <dgm:bulletEnabled val="1"/>
        </dgm:presLayoutVars>
      </dgm:prSet>
      <dgm:spPr/>
    </dgm:pt>
    <dgm:pt modelId="{4AA5B8AE-9F50-4BC7-99C5-35F578332ACA}" type="pres">
      <dgm:prSet presAssocID="{24DEFB13-A2BF-49BF-9E76-2F192F357CDF}" presName="sibTrans" presStyleCnt="0"/>
      <dgm:spPr/>
    </dgm:pt>
    <dgm:pt modelId="{D9870404-9B6C-46FC-BEE0-FA016580C99B}" type="pres">
      <dgm:prSet presAssocID="{8D6711C7-EBA4-4293-AA5C-DF0F1A1002E4}" presName="composite" presStyleCnt="0">
        <dgm:presLayoutVars>
          <dgm:chMax val="1"/>
          <dgm:chPref val="1"/>
        </dgm:presLayoutVars>
      </dgm:prSet>
      <dgm:spPr/>
    </dgm:pt>
    <dgm:pt modelId="{0CBCACA4-5509-4AC5-8BA1-B6FBBC625853}" type="pres">
      <dgm:prSet presAssocID="{8D6711C7-EBA4-4293-AA5C-DF0F1A1002E4}" presName="Accent" presStyleLbl="trAlignAcc1" presStyleIdx="1" presStyleCnt="3" custScaleX="209578">
        <dgm:presLayoutVars>
          <dgm:chMax val="0"/>
          <dgm:chPref val="0"/>
        </dgm:presLayoutVars>
      </dgm:prSet>
      <dgm:spPr>
        <a:ln>
          <a:solidFill>
            <a:schemeClr val="accent2">
              <a:lumMod val="75000"/>
            </a:schemeClr>
          </a:solidFill>
        </a:ln>
      </dgm:spPr>
    </dgm:pt>
    <dgm:pt modelId="{F7B2FEA5-C89B-4B41-B3B1-6D4C83F8D03C}" type="pres">
      <dgm:prSet presAssocID="{8D6711C7-EBA4-4293-AA5C-DF0F1A1002E4}" presName="Image" presStyleLbl="alignImgPlace1" presStyleIdx="1" presStyleCnt="3" custScaleX="59170" custScaleY="67151" custLinFactNeighborX="-489" custLinFactNeighborY="-3193">
        <dgm:presLayoutVars>
          <dgm:chMax val="0"/>
          <dgm:chPref val="0"/>
        </dgm:presLayoutVars>
      </dgm:prSet>
      <dgm:spPr>
        <a:blipFill rotWithShape="1">
          <a:blip xmlns:r="http://schemas.openxmlformats.org/officeDocument/2006/relationships" r:embed="rId2"/>
          <a:srcRect/>
          <a:stretch>
            <a:fillRect t="-9000" b="-9000"/>
          </a:stretch>
        </a:blipFill>
      </dgm:spPr>
    </dgm:pt>
    <dgm:pt modelId="{B34E4125-4007-40E1-BA76-AA8D00D08B9B}" type="pres">
      <dgm:prSet presAssocID="{8D6711C7-EBA4-4293-AA5C-DF0F1A1002E4}" presName="ChildComposite" presStyleCnt="0"/>
      <dgm:spPr/>
    </dgm:pt>
    <dgm:pt modelId="{D38901F6-C22E-44EF-9017-1D795139C806}" type="pres">
      <dgm:prSet presAssocID="{8D6711C7-EBA4-4293-AA5C-DF0F1A1002E4}" presName="Child" presStyleLbl="node1" presStyleIdx="0" presStyleCnt="0">
        <dgm:presLayoutVars>
          <dgm:chMax val="0"/>
          <dgm:chPref val="0"/>
          <dgm:bulletEnabled val="1"/>
        </dgm:presLayoutVars>
      </dgm:prSet>
      <dgm:spPr/>
    </dgm:pt>
    <dgm:pt modelId="{AFD93600-91BB-4031-9511-B1A163AEBCD6}" type="pres">
      <dgm:prSet presAssocID="{8D6711C7-EBA4-4293-AA5C-DF0F1A1002E4}" presName="Parent" presStyleLbl="revTx" presStyleIdx="1" presStyleCnt="3" custScaleX="223898">
        <dgm:presLayoutVars>
          <dgm:chMax val="1"/>
          <dgm:chPref val="0"/>
          <dgm:bulletEnabled val="1"/>
        </dgm:presLayoutVars>
      </dgm:prSet>
      <dgm:spPr/>
    </dgm:pt>
    <dgm:pt modelId="{2236CD9B-6132-4960-AFFB-FBB26211341E}" type="pres">
      <dgm:prSet presAssocID="{771E4B68-7CB7-4179-A31F-6DAFA0447A54}" presName="sibTrans" presStyleCnt="0"/>
      <dgm:spPr/>
    </dgm:pt>
    <dgm:pt modelId="{0B7F80DF-7744-4F17-8180-0A4D9D1881C0}" type="pres">
      <dgm:prSet presAssocID="{98E8E6FB-3364-4808-B796-83B20C1B9D82}" presName="composite" presStyleCnt="0">
        <dgm:presLayoutVars>
          <dgm:chMax val="1"/>
          <dgm:chPref val="1"/>
        </dgm:presLayoutVars>
      </dgm:prSet>
      <dgm:spPr/>
    </dgm:pt>
    <dgm:pt modelId="{42AB1D78-EE73-4CCD-B6B4-0D60B73E2F48}" type="pres">
      <dgm:prSet presAssocID="{98E8E6FB-3364-4808-B796-83B20C1B9D82}" presName="Accent" presStyleLbl="trAlignAcc1" presStyleIdx="2" presStyleCnt="3" custScaleX="188913">
        <dgm:presLayoutVars>
          <dgm:chMax val="0"/>
          <dgm:chPref val="0"/>
        </dgm:presLayoutVars>
      </dgm:prSet>
      <dgm:spPr>
        <a:ln>
          <a:solidFill>
            <a:schemeClr val="accent2">
              <a:lumMod val="75000"/>
            </a:schemeClr>
          </a:solidFill>
        </a:ln>
      </dgm:spPr>
    </dgm:pt>
    <dgm:pt modelId="{B4642D14-B191-4FF4-A255-98F7A7C88D1D}" type="pres">
      <dgm:prSet presAssocID="{98E8E6FB-3364-4808-B796-83B20C1B9D82}" presName="Image" presStyleLbl="alignImgPlace1" presStyleIdx="2" presStyleCnt="3" custScaleX="57066" custScaleY="56690" custLinFactNeighborX="1297" custLinFactNeighborY="-4269">
        <dgm:presLayoutVars>
          <dgm:chMax val="0"/>
          <dgm:chPref val="0"/>
        </dgm:presLayoutVars>
      </dgm:prSet>
      <dgm:spPr>
        <a:blipFill rotWithShape="1">
          <a:blip xmlns:r="http://schemas.openxmlformats.org/officeDocument/2006/relationships" r:embed="rId3"/>
          <a:srcRect/>
          <a:stretch>
            <a:fillRect t="-9000" b="-9000"/>
          </a:stretch>
        </a:blipFill>
      </dgm:spPr>
    </dgm:pt>
    <dgm:pt modelId="{AC080DBD-C1B6-466B-A5A8-EF058237E278}" type="pres">
      <dgm:prSet presAssocID="{98E8E6FB-3364-4808-B796-83B20C1B9D82}" presName="ChildComposite" presStyleCnt="0"/>
      <dgm:spPr/>
    </dgm:pt>
    <dgm:pt modelId="{0C37B16D-2CEB-47C8-868E-3BE99694CD59}" type="pres">
      <dgm:prSet presAssocID="{98E8E6FB-3364-4808-B796-83B20C1B9D82}" presName="Child" presStyleLbl="node1" presStyleIdx="0" presStyleCnt="0">
        <dgm:presLayoutVars>
          <dgm:chMax val="0"/>
          <dgm:chPref val="0"/>
          <dgm:bulletEnabled val="1"/>
        </dgm:presLayoutVars>
      </dgm:prSet>
      <dgm:spPr/>
    </dgm:pt>
    <dgm:pt modelId="{E0161CE7-EF98-4813-9C2D-ECE3D28594FC}" type="pres">
      <dgm:prSet presAssocID="{98E8E6FB-3364-4808-B796-83B20C1B9D82}" presName="Parent" presStyleLbl="revTx" presStyleIdx="2" presStyleCnt="3" custScaleX="203239">
        <dgm:presLayoutVars>
          <dgm:chMax val="1"/>
          <dgm:chPref val="0"/>
          <dgm:bulletEnabled val="1"/>
        </dgm:presLayoutVars>
      </dgm:prSet>
      <dgm:spPr/>
    </dgm:pt>
  </dgm:ptLst>
  <dgm:cxnLst>
    <dgm:cxn modelId="{60F10638-0060-4BB4-ADEF-417C720DCB2E}" type="presOf" srcId="{4BA9BD8C-9A90-4D30-A6BB-66ED64F14CFB}" destId="{D6AE907E-AE29-409E-8F09-DAB7C0B88382}" srcOrd="0" destOrd="0" presId="urn:microsoft.com/office/officeart/2008/layout/CaptionedPictures"/>
    <dgm:cxn modelId="{D08B9D45-2C30-49D6-8E0C-D5C03857E505}" type="presOf" srcId="{98E8E6FB-3364-4808-B796-83B20C1B9D82}" destId="{E0161CE7-EF98-4813-9C2D-ECE3D28594FC}" srcOrd="0" destOrd="0" presId="urn:microsoft.com/office/officeart/2008/layout/CaptionedPictures"/>
    <dgm:cxn modelId="{476A546A-3AB3-494F-8380-D6D58D2D8B07}" srcId="{6C003047-7EC7-45AC-99C9-2379C182BF85}" destId="{8D6711C7-EBA4-4293-AA5C-DF0F1A1002E4}" srcOrd="1" destOrd="0" parTransId="{8627006E-0CCF-467F-911B-F006D14F57A7}" sibTransId="{771E4B68-7CB7-4179-A31F-6DAFA0447A54}"/>
    <dgm:cxn modelId="{4CC13B6F-FE86-4E2C-9A24-1868C7A84DD1}" srcId="{6C003047-7EC7-45AC-99C9-2379C182BF85}" destId="{98E8E6FB-3364-4808-B796-83B20C1B9D82}" srcOrd="2" destOrd="0" parTransId="{13A8E59F-7E70-4BC8-A776-D47A6A7D6610}" sibTransId="{5BCCAB6C-11C6-406A-BBD5-C81DC28AE993}"/>
    <dgm:cxn modelId="{F3DC147A-C25C-48B2-8447-1D3B8FAC5E5A}" type="presOf" srcId="{8D6711C7-EBA4-4293-AA5C-DF0F1A1002E4}" destId="{AFD93600-91BB-4031-9511-B1A163AEBCD6}" srcOrd="0" destOrd="0" presId="urn:microsoft.com/office/officeart/2008/layout/CaptionedPictures"/>
    <dgm:cxn modelId="{506A0EA1-C98D-44A5-AED8-E1D4CF0307B8}" srcId="{6C003047-7EC7-45AC-99C9-2379C182BF85}" destId="{4BA9BD8C-9A90-4D30-A6BB-66ED64F14CFB}" srcOrd="0" destOrd="0" parTransId="{3AB86FCE-FBF3-468B-8329-BC7BD9DFB648}" sibTransId="{24DEFB13-A2BF-49BF-9E76-2F192F357CDF}"/>
    <dgm:cxn modelId="{F3CA1FA6-6E29-468A-9792-EC7A157CFA12}" type="presOf" srcId="{6C003047-7EC7-45AC-99C9-2379C182BF85}" destId="{A07F1609-7F02-4981-9CAF-D63C0AEF65CC}" srcOrd="0" destOrd="0" presId="urn:microsoft.com/office/officeart/2008/layout/CaptionedPictures"/>
    <dgm:cxn modelId="{5288045B-D7DC-454F-9A0F-C2EF49E3EFB0}" type="presParOf" srcId="{A07F1609-7F02-4981-9CAF-D63C0AEF65CC}" destId="{62E7F3FE-F0F3-4120-911D-23229C51F0A4}" srcOrd="0" destOrd="0" presId="urn:microsoft.com/office/officeart/2008/layout/CaptionedPictures"/>
    <dgm:cxn modelId="{8D0EA523-6BF1-4287-A72A-1A1C1149AD97}" type="presParOf" srcId="{62E7F3FE-F0F3-4120-911D-23229C51F0A4}" destId="{E90BDCC0-D759-40F4-A96D-92E9F049D01D}" srcOrd="0" destOrd="0" presId="urn:microsoft.com/office/officeart/2008/layout/CaptionedPictures"/>
    <dgm:cxn modelId="{7A516DA9-6CD6-49BA-A44B-6E811DFDA81C}" type="presParOf" srcId="{62E7F3FE-F0F3-4120-911D-23229C51F0A4}" destId="{797DA9BC-3513-43D2-A24B-F59CAF4FD71D}" srcOrd="1" destOrd="0" presId="urn:microsoft.com/office/officeart/2008/layout/CaptionedPictures"/>
    <dgm:cxn modelId="{24B08DB1-8F39-40B6-978A-C93C2FEFE4FD}" type="presParOf" srcId="{62E7F3FE-F0F3-4120-911D-23229C51F0A4}" destId="{2C5C3DC8-8AA4-45C9-ABE1-928AFBCB2309}" srcOrd="2" destOrd="0" presId="urn:microsoft.com/office/officeart/2008/layout/CaptionedPictures"/>
    <dgm:cxn modelId="{71570D00-4778-4540-A150-867385F9FAC1}" type="presParOf" srcId="{2C5C3DC8-8AA4-45C9-ABE1-928AFBCB2309}" destId="{34779847-E7BE-493B-9252-30BD90DDA0B6}" srcOrd="0" destOrd="0" presId="urn:microsoft.com/office/officeart/2008/layout/CaptionedPictures"/>
    <dgm:cxn modelId="{45693D51-0AD2-4F56-93E5-6BC546D98F36}" type="presParOf" srcId="{2C5C3DC8-8AA4-45C9-ABE1-928AFBCB2309}" destId="{D6AE907E-AE29-409E-8F09-DAB7C0B88382}" srcOrd="1" destOrd="0" presId="urn:microsoft.com/office/officeart/2008/layout/CaptionedPictures"/>
    <dgm:cxn modelId="{AF26739C-834D-43F3-B016-876BA541ABF5}" type="presParOf" srcId="{A07F1609-7F02-4981-9CAF-D63C0AEF65CC}" destId="{4AA5B8AE-9F50-4BC7-99C5-35F578332ACA}" srcOrd="1" destOrd="0" presId="urn:microsoft.com/office/officeart/2008/layout/CaptionedPictures"/>
    <dgm:cxn modelId="{8A8744D4-28BE-4EEC-A317-3C9E33CBC24A}" type="presParOf" srcId="{A07F1609-7F02-4981-9CAF-D63C0AEF65CC}" destId="{D9870404-9B6C-46FC-BEE0-FA016580C99B}" srcOrd="2" destOrd="0" presId="urn:microsoft.com/office/officeart/2008/layout/CaptionedPictures"/>
    <dgm:cxn modelId="{E4B46515-E025-450E-B8DB-F911D47C9911}" type="presParOf" srcId="{D9870404-9B6C-46FC-BEE0-FA016580C99B}" destId="{0CBCACA4-5509-4AC5-8BA1-B6FBBC625853}" srcOrd="0" destOrd="0" presId="urn:microsoft.com/office/officeart/2008/layout/CaptionedPictures"/>
    <dgm:cxn modelId="{CB514370-EB51-4F91-A45E-8C8D572543D0}" type="presParOf" srcId="{D9870404-9B6C-46FC-BEE0-FA016580C99B}" destId="{F7B2FEA5-C89B-4B41-B3B1-6D4C83F8D03C}" srcOrd="1" destOrd="0" presId="urn:microsoft.com/office/officeart/2008/layout/CaptionedPictures"/>
    <dgm:cxn modelId="{AE1C5F80-68F5-4B41-9AC3-A3AFD192FCD3}" type="presParOf" srcId="{D9870404-9B6C-46FC-BEE0-FA016580C99B}" destId="{B34E4125-4007-40E1-BA76-AA8D00D08B9B}" srcOrd="2" destOrd="0" presId="urn:microsoft.com/office/officeart/2008/layout/CaptionedPictures"/>
    <dgm:cxn modelId="{E69546FD-4EE3-4ED7-840E-E8F43652D33B}" type="presParOf" srcId="{B34E4125-4007-40E1-BA76-AA8D00D08B9B}" destId="{D38901F6-C22E-44EF-9017-1D795139C806}" srcOrd="0" destOrd="0" presId="urn:microsoft.com/office/officeart/2008/layout/CaptionedPictures"/>
    <dgm:cxn modelId="{388EA8DF-B96A-47AB-BED2-14FE995974B8}" type="presParOf" srcId="{B34E4125-4007-40E1-BA76-AA8D00D08B9B}" destId="{AFD93600-91BB-4031-9511-B1A163AEBCD6}" srcOrd="1" destOrd="0" presId="urn:microsoft.com/office/officeart/2008/layout/CaptionedPictures"/>
    <dgm:cxn modelId="{6F624CDC-3A28-44D1-ADE4-389877A75E1C}" type="presParOf" srcId="{A07F1609-7F02-4981-9CAF-D63C0AEF65CC}" destId="{2236CD9B-6132-4960-AFFB-FBB26211341E}" srcOrd="3" destOrd="0" presId="urn:microsoft.com/office/officeart/2008/layout/CaptionedPictures"/>
    <dgm:cxn modelId="{8F1D1AC8-232F-4C3C-8841-4CE0CB8597CA}" type="presParOf" srcId="{A07F1609-7F02-4981-9CAF-D63C0AEF65CC}" destId="{0B7F80DF-7744-4F17-8180-0A4D9D1881C0}" srcOrd="4" destOrd="0" presId="urn:microsoft.com/office/officeart/2008/layout/CaptionedPictures"/>
    <dgm:cxn modelId="{6A02E0CB-70D3-48FC-A6ED-431064FFB9F2}" type="presParOf" srcId="{0B7F80DF-7744-4F17-8180-0A4D9D1881C0}" destId="{42AB1D78-EE73-4CCD-B6B4-0D60B73E2F48}" srcOrd="0" destOrd="0" presId="urn:microsoft.com/office/officeart/2008/layout/CaptionedPictures"/>
    <dgm:cxn modelId="{18AEA94B-2F08-4294-BEEF-AAB8F703FA95}" type="presParOf" srcId="{0B7F80DF-7744-4F17-8180-0A4D9D1881C0}" destId="{B4642D14-B191-4FF4-A255-98F7A7C88D1D}" srcOrd="1" destOrd="0" presId="urn:microsoft.com/office/officeart/2008/layout/CaptionedPictures"/>
    <dgm:cxn modelId="{2844F583-ED45-4976-B393-3B1DA5A354B5}" type="presParOf" srcId="{0B7F80DF-7744-4F17-8180-0A4D9D1881C0}" destId="{AC080DBD-C1B6-466B-A5A8-EF058237E278}" srcOrd="2" destOrd="0" presId="urn:microsoft.com/office/officeart/2008/layout/CaptionedPictures"/>
    <dgm:cxn modelId="{8F538ADE-611A-40DB-BB65-18F2E2628216}" type="presParOf" srcId="{AC080DBD-C1B6-466B-A5A8-EF058237E278}" destId="{0C37B16D-2CEB-47C8-868E-3BE99694CD59}" srcOrd="0" destOrd="0" presId="urn:microsoft.com/office/officeart/2008/layout/CaptionedPictures"/>
    <dgm:cxn modelId="{36A7BD7A-374D-4B2B-AF38-BE80F2662DCE}" type="presParOf" srcId="{AC080DBD-C1B6-466B-A5A8-EF058237E278}" destId="{E0161CE7-EF98-4813-9C2D-ECE3D28594FC}" srcOrd="1" destOrd="0" presId="urn:microsoft.com/office/officeart/2008/layout/CaptionedPictures"/>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7591AE-6555-4F75-9113-7A7FAA107325}">
      <dsp:nvSpPr>
        <dsp:cNvPr id="0" name=""/>
        <dsp:cNvSpPr/>
      </dsp:nvSpPr>
      <dsp:spPr>
        <a:xfrm>
          <a:off x="4236" y="212237"/>
          <a:ext cx="1852387" cy="1111432"/>
        </a:xfrm>
        <a:prstGeom prst="roundRect">
          <a:avLst>
            <a:gd name="adj" fmla="val 10000"/>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CL" sz="2400" kern="1200" dirty="0"/>
            <a:t>Contexto</a:t>
          </a:r>
        </a:p>
      </dsp:txBody>
      <dsp:txXfrm>
        <a:off x="36789" y="244790"/>
        <a:ext cx="1787281" cy="1046326"/>
      </dsp:txXfrm>
    </dsp:sp>
    <dsp:sp modelId="{D5A75AE2-0C65-43F3-A77C-1B98C363F9D8}">
      <dsp:nvSpPr>
        <dsp:cNvPr id="0" name=""/>
        <dsp:cNvSpPr/>
      </dsp:nvSpPr>
      <dsp:spPr>
        <a:xfrm>
          <a:off x="2041863" y="538257"/>
          <a:ext cx="392706" cy="4593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s-CL" sz="1900" kern="1200" dirty="0"/>
        </a:p>
      </dsp:txBody>
      <dsp:txXfrm>
        <a:off x="2041863" y="630135"/>
        <a:ext cx="274894" cy="275636"/>
      </dsp:txXfrm>
    </dsp:sp>
    <dsp:sp modelId="{3B671785-4A69-4752-8ACD-8F63B137CE87}">
      <dsp:nvSpPr>
        <dsp:cNvPr id="0" name=""/>
        <dsp:cNvSpPr/>
      </dsp:nvSpPr>
      <dsp:spPr>
        <a:xfrm>
          <a:off x="2597579" y="212237"/>
          <a:ext cx="1852387" cy="1111432"/>
        </a:xfrm>
        <a:prstGeom prst="roundRect">
          <a:avLst>
            <a:gd name="adj" fmla="val 10000"/>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CL" sz="2400" kern="1200" dirty="0"/>
            <a:t>Objetivos</a:t>
          </a:r>
        </a:p>
      </dsp:txBody>
      <dsp:txXfrm>
        <a:off x="2630132" y="244790"/>
        <a:ext cx="1787281" cy="1046326"/>
      </dsp:txXfrm>
    </dsp:sp>
    <dsp:sp modelId="{49321268-7CB5-496D-A373-97DAF59D1EB5}">
      <dsp:nvSpPr>
        <dsp:cNvPr id="0" name=""/>
        <dsp:cNvSpPr/>
      </dsp:nvSpPr>
      <dsp:spPr>
        <a:xfrm>
          <a:off x="4635205" y="538257"/>
          <a:ext cx="392706" cy="4593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s-CL" sz="1900" kern="1200" dirty="0"/>
        </a:p>
      </dsp:txBody>
      <dsp:txXfrm>
        <a:off x="4635205" y="630135"/>
        <a:ext cx="274894" cy="275636"/>
      </dsp:txXfrm>
    </dsp:sp>
    <dsp:sp modelId="{AEDD0B79-EB03-4389-8BD5-3D46123C0587}">
      <dsp:nvSpPr>
        <dsp:cNvPr id="0" name=""/>
        <dsp:cNvSpPr/>
      </dsp:nvSpPr>
      <dsp:spPr>
        <a:xfrm>
          <a:off x="5190922" y="212237"/>
          <a:ext cx="1852387" cy="1111432"/>
        </a:xfrm>
        <a:prstGeom prst="roundRect">
          <a:avLst>
            <a:gd name="adj" fmla="val 10000"/>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CL" sz="2400" kern="1200" dirty="0"/>
            <a:t>Metodología</a:t>
          </a:r>
        </a:p>
      </dsp:txBody>
      <dsp:txXfrm>
        <a:off x="5223475" y="244790"/>
        <a:ext cx="1787281" cy="1046326"/>
      </dsp:txXfrm>
    </dsp:sp>
    <dsp:sp modelId="{A049C9E4-2F13-471B-8696-6D2F3DF97271}">
      <dsp:nvSpPr>
        <dsp:cNvPr id="0" name=""/>
        <dsp:cNvSpPr/>
      </dsp:nvSpPr>
      <dsp:spPr>
        <a:xfrm>
          <a:off x="7228548" y="538257"/>
          <a:ext cx="392706" cy="4593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s-CL" sz="1900" kern="1200" dirty="0"/>
        </a:p>
      </dsp:txBody>
      <dsp:txXfrm>
        <a:off x="7228548" y="630135"/>
        <a:ext cx="274894" cy="275636"/>
      </dsp:txXfrm>
    </dsp:sp>
    <dsp:sp modelId="{CB9D8AB9-D5D1-4FBC-86B5-D1E7F2AA95D9}">
      <dsp:nvSpPr>
        <dsp:cNvPr id="0" name=""/>
        <dsp:cNvSpPr/>
      </dsp:nvSpPr>
      <dsp:spPr>
        <a:xfrm>
          <a:off x="7784264" y="212237"/>
          <a:ext cx="1852387" cy="1111432"/>
        </a:xfrm>
        <a:prstGeom prst="roundRect">
          <a:avLst>
            <a:gd name="adj" fmla="val 10000"/>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CL" sz="2400" kern="1200" dirty="0"/>
            <a:t>Resultados</a:t>
          </a:r>
        </a:p>
      </dsp:txBody>
      <dsp:txXfrm>
        <a:off x="7816817" y="244790"/>
        <a:ext cx="1787281" cy="10463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0BDCC0-D759-40F4-A96D-92E9F049D01D}">
      <dsp:nvSpPr>
        <dsp:cNvPr id="0" name=""/>
        <dsp:cNvSpPr/>
      </dsp:nvSpPr>
      <dsp:spPr>
        <a:xfrm>
          <a:off x="6056" y="331880"/>
          <a:ext cx="3198239" cy="1910830"/>
        </a:xfrm>
        <a:prstGeom prst="rect">
          <a:avLst/>
        </a:prstGeom>
        <a:solidFill>
          <a:schemeClr val="lt1">
            <a:alpha val="40000"/>
            <a:hueOff val="0"/>
            <a:satOff val="0"/>
            <a:lumOff val="0"/>
            <a:alphaOff val="0"/>
          </a:schemeClr>
        </a:solidFill>
        <a:ln w="6350" cap="flat" cmpd="sng" algn="ctr">
          <a:solidFill>
            <a:schemeClr val="accent2">
              <a:lumMod val="75000"/>
            </a:schemeClr>
          </a:solidFill>
          <a:prstDash val="solid"/>
          <a:miter lim="800000"/>
        </a:ln>
        <a:effectLst/>
      </dsp:spPr>
      <dsp:style>
        <a:lnRef idx="1">
          <a:scrgbClr r="0" g="0" b="0"/>
        </a:lnRef>
        <a:fillRef idx="1">
          <a:scrgbClr r="0" g="0" b="0"/>
        </a:fillRef>
        <a:effectRef idx="0">
          <a:scrgbClr r="0" g="0" b="0"/>
        </a:effectRef>
        <a:fontRef idx="minor"/>
      </dsp:style>
    </dsp:sp>
    <dsp:sp modelId="{797DA9BC-3513-43D2-A24B-F59CAF4FD71D}">
      <dsp:nvSpPr>
        <dsp:cNvPr id="0" name=""/>
        <dsp:cNvSpPr/>
      </dsp:nvSpPr>
      <dsp:spPr>
        <a:xfrm>
          <a:off x="1172136" y="656337"/>
          <a:ext cx="866078" cy="745993"/>
        </a:xfrm>
        <a:prstGeom prst="rect">
          <a:avLst/>
        </a:prstGeom>
        <a:blipFill rotWithShape="1">
          <a:blip xmlns:r="http://schemas.openxmlformats.org/officeDocument/2006/relationships" r:embed="rId1"/>
          <a:srcRect/>
          <a:stretch>
            <a:fillRect t="-14000" b="-14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6AE907E-AE29-409E-8F09-DAB7C0B88382}">
      <dsp:nvSpPr>
        <dsp:cNvPr id="0" name=""/>
        <dsp:cNvSpPr/>
      </dsp:nvSpPr>
      <dsp:spPr>
        <a:xfrm>
          <a:off x="95678" y="1650353"/>
          <a:ext cx="3018995" cy="5159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i="0" kern="1200" dirty="0"/>
            <a:t>1. Identificar las variables clínicas y sintomáticas</a:t>
          </a:r>
          <a:r>
            <a:rPr lang="es-MX" sz="1200" b="0" i="0" kern="1200" dirty="0"/>
            <a:t> más relevantes asociadas al diagnóstico de CCR en pacientes derivados según protocolo GES.</a:t>
          </a:r>
          <a:endParaRPr lang="es-CL" sz="1200" kern="1200" dirty="0"/>
        </a:p>
      </dsp:txBody>
      <dsp:txXfrm>
        <a:off x="95678" y="1650353"/>
        <a:ext cx="3018995" cy="515924"/>
      </dsp:txXfrm>
    </dsp:sp>
    <dsp:sp modelId="{0CBCACA4-5509-4AC5-8BA1-B6FBBC625853}">
      <dsp:nvSpPr>
        <dsp:cNvPr id="0" name=""/>
        <dsp:cNvSpPr/>
      </dsp:nvSpPr>
      <dsp:spPr>
        <a:xfrm>
          <a:off x="4048197" y="331880"/>
          <a:ext cx="3403977" cy="1910830"/>
        </a:xfrm>
        <a:prstGeom prst="rect">
          <a:avLst/>
        </a:prstGeom>
        <a:solidFill>
          <a:schemeClr val="lt1">
            <a:alpha val="40000"/>
            <a:hueOff val="0"/>
            <a:satOff val="0"/>
            <a:lumOff val="0"/>
            <a:alphaOff val="0"/>
          </a:schemeClr>
        </a:solidFill>
        <a:ln w="6350" cap="flat" cmpd="sng" algn="ctr">
          <a:solidFill>
            <a:schemeClr val="accent2">
              <a:lumMod val="75000"/>
            </a:schemeClr>
          </a:solidFill>
          <a:prstDash val="solid"/>
          <a:miter lim="800000"/>
        </a:ln>
        <a:effectLst/>
      </dsp:spPr>
      <dsp:style>
        <a:lnRef idx="1">
          <a:scrgbClr r="0" g="0" b="0"/>
        </a:lnRef>
        <a:fillRef idx="1">
          <a:scrgbClr r="0" g="0" b="0"/>
        </a:fillRef>
        <a:effectRef idx="0">
          <a:scrgbClr r="0" g="0" b="0"/>
        </a:effectRef>
        <a:fontRef idx="minor"/>
      </dsp:style>
    </dsp:sp>
    <dsp:sp modelId="{F7B2FEA5-C89B-4B41-B3B1-6D4C83F8D03C}">
      <dsp:nvSpPr>
        <dsp:cNvPr id="0" name=""/>
        <dsp:cNvSpPr/>
      </dsp:nvSpPr>
      <dsp:spPr>
        <a:xfrm>
          <a:off x="5310568" y="572654"/>
          <a:ext cx="864938" cy="834041"/>
        </a:xfrm>
        <a:prstGeom prst="rect">
          <a:avLst/>
        </a:prstGeom>
        <a:blipFill rotWithShape="1">
          <a:blip xmlns:r="http://schemas.openxmlformats.org/officeDocument/2006/relationships" r:embed="rId2"/>
          <a:srcRect/>
          <a:stretch>
            <a:fillRect t="-9000" b="-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D93600-91BB-4031-9511-B1A163AEBCD6}">
      <dsp:nvSpPr>
        <dsp:cNvPr id="0" name=""/>
        <dsp:cNvSpPr/>
      </dsp:nvSpPr>
      <dsp:spPr>
        <a:xfrm>
          <a:off x="4113732" y="1650353"/>
          <a:ext cx="3272907" cy="5159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i="0" kern="1200" dirty="0"/>
            <a:t>2. Desarrollar un modelo de regresión logística</a:t>
          </a:r>
          <a:r>
            <a:rPr lang="es-MX" sz="1200" b="0" i="0" kern="1200" dirty="0"/>
            <a:t> que estime el riesgo de CCR basándose en síntomas y hallazgos clínicos.</a:t>
          </a:r>
          <a:endParaRPr lang="es-CL" sz="1200" kern="1200" dirty="0"/>
        </a:p>
      </dsp:txBody>
      <dsp:txXfrm>
        <a:off x="4113732" y="1650353"/>
        <a:ext cx="3272907" cy="515924"/>
      </dsp:txXfrm>
    </dsp:sp>
    <dsp:sp modelId="{42AB1D78-EE73-4CCD-B6B4-0D60B73E2F48}">
      <dsp:nvSpPr>
        <dsp:cNvPr id="0" name=""/>
        <dsp:cNvSpPr/>
      </dsp:nvSpPr>
      <dsp:spPr>
        <a:xfrm>
          <a:off x="8296076" y="331880"/>
          <a:ext cx="3068335" cy="1910830"/>
        </a:xfrm>
        <a:prstGeom prst="rect">
          <a:avLst/>
        </a:prstGeom>
        <a:solidFill>
          <a:schemeClr val="lt1">
            <a:alpha val="40000"/>
            <a:hueOff val="0"/>
            <a:satOff val="0"/>
            <a:lumOff val="0"/>
            <a:alphaOff val="0"/>
          </a:schemeClr>
        </a:solidFill>
        <a:ln w="6350" cap="flat" cmpd="sng" algn="ctr">
          <a:solidFill>
            <a:schemeClr val="accent2">
              <a:lumMod val="75000"/>
            </a:schemeClr>
          </a:solidFill>
          <a:prstDash val="solid"/>
          <a:miter lim="800000"/>
        </a:ln>
        <a:effectLst/>
      </dsp:spPr>
      <dsp:style>
        <a:lnRef idx="1">
          <a:scrgbClr r="0" g="0" b="0"/>
        </a:lnRef>
        <a:fillRef idx="1">
          <a:scrgbClr r="0" g="0" b="0"/>
        </a:fillRef>
        <a:effectRef idx="0">
          <a:scrgbClr r="0" g="0" b="0"/>
        </a:effectRef>
        <a:fontRef idx="minor"/>
      </dsp:style>
    </dsp:sp>
    <dsp:sp modelId="{B4642D14-B191-4FF4-A255-98F7A7C88D1D}">
      <dsp:nvSpPr>
        <dsp:cNvPr id="0" name=""/>
        <dsp:cNvSpPr/>
      </dsp:nvSpPr>
      <dsp:spPr>
        <a:xfrm>
          <a:off x="9432112" y="624255"/>
          <a:ext cx="834182" cy="704112"/>
        </a:xfrm>
        <a:prstGeom prst="rect">
          <a:avLst/>
        </a:prstGeom>
        <a:blipFill rotWithShape="1">
          <a:blip xmlns:r="http://schemas.openxmlformats.org/officeDocument/2006/relationships" r:embed="rId3"/>
          <a:srcRect/>
          <a:stretch>
            <a:fillRect t="-9000" b="-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0161CE7-EF98-4813-9C2D-ECE3D28594FC}">
      <dsp:nvSpPr>
        <dsp:cNvPr id="0" name=""/>
        <dsp:cNvSpPr/>
      </dsp:nvSpPr>
      <dsp:spPr>
        <a:xfrm>
          <a:off x="8344785" y="1650353"/>
          <a:ext cx="2970917" cy="5159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i="0" kern="1200" dirty="0"/>
            <a:t>3. Validar el rendimiento del modelo</a:t>
          </a:r>
          <a:r>
            <a:rPr lang="es-MX" sz="1200" b="0" i="0" kern="1200" dirty="0"/>
            <a:t> mediante métricas estadísticas (sensibilidad, especificidad, AUC-ROC).</a:t>
          </a:r>
          <a:endParaRPr lang="es-CL" sz="1200" kern="1200" dirty="0"/>
        </a:p>
      </dsp:txBody>
      <dsp:txXfrm>
        <a:off x="8344785" y="1650353"/>
        <a:ext cx="2970917" cy="51592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0.37256</cdr:x>
      <cdr:y>0</cdr:y>
    </cdr:from>
    <cdr:to>
      <cdr:x>0.37256</cdr:x>
      <cdr:y>0.8899</cdr:y>
    </cdr:to>
    <cdr:cxnSp macro="">
      <cdr:nvCxnSpPr>
        <cdr:cNvPr id="3" name="Conector recto 2">
          <a:extLst xmlns:a="http://schemas.openxmlformats.org/drawingml/2006/main">
            <a:ext uri="{FF2B5EF4-FFF2-40B4-BE49-F238E27FC236}">
              <a16:creationId xmlns:a16="http://schemas.microsoft.com/office/drawing/2014/main" id="{F55E30F7-02A6-9133-B91E-F2F230191756}"/>
            </a:ext>
          </a:extLst>
        </cdr:cNvPr>
        <cdr:cNvCxnSpPr/>
      </cdr:nvCxnSpPr>
      <cdr:spPr>
        <a:xfrm xmlns:a="http://schemas.openxmlformats.org/drawingml/2006/main">
          <a:off x="3775046" y="0"/>
          <a:ext cx="0" cy="2361565"/>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2B2D6A-D10B-4950-84AB-B76A76B41051}" type="datetimeFigureOut">
              <a:t>17-11-2025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2D85B4-8D15-40BA-BE63-8F85761BC2A6}" type="slidenum">
              <a:t>‹Nº›</a:t>
            </a:fld>
            <a:endParaRPr lang="es-ES" dirty="0"/>
          </a:p>
        </p:txBody>
      </p:sp>
    </p:spTree>
    <p:extLst>
      <p:ext uri="{BB962C8B-B14F-4D97-AF65-F5344CB8AC3E}">
        <p14:creationId xmlns:p14="http://schemas.microsoft.com/office/powerpoint/2010/main" val="1526282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D32D85B4-8D15-40BA-BE63-8F85761BC2A6}" type="slidenum">
              <a:rPr lang="es-CL" smtClean="0"/>
              <a:t>1</a:t>
            </a:fld>
            <a:endParaRPr lang="es-CL" dirty="0"/>
          </a:p>
        </p:txBody>
      </p:sp>
    </p:spTree>
    <p:extLst>
      <p:ext uri="{BB962C8B-B14F-4D97-AF65-F5344CB8AC3E}">
        <p14:creationId xmlns:p14="http://schemas.microsoft.com/office/powerpoint/2010/main" val="2695316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D32D85B4-8D15-40BA-BE63-8F85761BC2A6}" type="slidenum">
              <a:rPr lang="es-CL" smtClean="0"/>
              <a:t>2</a:t>
            </a:fld>
            <a:endParaRPr lang="es-CL" dirty="0"/>
          </a:p>
        </p:txBody>
      </p:sp>
    </p:spTree>
    <p:extLst>
      <p:ext uri="{BB962C8B-B14F-4D97-AF65-F5344CB8AC3E}">
        <p14:creationId xmlns:p14="http://schemas.microsoft.com/office/powerpoint/2010/main" val="1422311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89E16-CE75-12B7-DBCA-E0399CAA519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D842B55-6D13-626A-8EB5-6C23C6A9DCC8}"/>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0B098AFD-596C-D492-0E92-8985C2562244}"/>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2696B893-1E39-EE5F-077D-F1F984B1DE67}"/>
              </a:ext>
            </a:extLst>
          </p:cNvPr>
          <p:cNvSpPr>
            <a:spLocks noGrp="1"/>
          </p:cNvSpPr>
          <p:nvPr>
            <p:ph type="sldNum" sz="quarter" idx="5"/>
          </p:nvPr>
        </p:nvSpPr>
        <p:spPr/>
        <p:txBody>
          <a:bodyPr/>
          <a:lstStyle/>
          <a:p>
            <a:fld id="{D32D85B4-8D15-40BA-BE63-8F85761BC2A6}" type="slidenum">
              <a:rPr lang="es-CL" smtClean="0"/>
              <a:t>3</a:t>
            </a:fld>
            <a:endParaRPr lang="es-CL" dirty="0"/>
          </a:p>
        </p:txBody>
      </p:sp>
    </p:spTree>
    <p:extLst>
      <p:ext uri="{BB962C8B-B14F-4D97-AF65-F5344CB8AC3E}">
        <p14:creationId xmlns:p14="http://schemas.microsoft.com/office/powerpoint/2010/main" val="3672179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57F0B-912C-C010-388E-30F0443845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BC70651-DD4D-7971-E6BB-4DDE82CA5376}"/>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033BEFF5-3310-1A2B-81BD-4A820E1D7936}"/>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B8E5776F-5A1E-5DED-55A9-336048373A75}"/>
              </a:ext>
            </a:extLst>
          </p:cNvPr>
          <p:cNvSpPr>
            <a:spLocks noGrp="1"/>
          </p:cNvSpPr>
          <p:nvPr>
            <p:ph type="sldNum" sz="quarter" idx="5"/>
          </p:nvPr>
        </p:nvSpPr>
        <p:spPr/>
        <p:txBody>
          <a:bodyPr/>
          <a:lstStyle/>
          <a:p>
            <a:fld id="{D32D85B4-8D15-40BA-BE63-8F85761BC2A6}" type="slidenum">
              <a:rPr lang="es-CL" smtClean="0"/>
              <a:t>4</a:t>
            </a:fld>
            <a:endParaRPr lang="es-CL" dirty="0"/>
          </a:p>
        </p:txBody>
      </p:sp>
    </p:spTree>
    <p:extLst>
      <p:ext uri="{BB962C8B-B14F-4D97-AF65-F5344CB8AC3E}">
        <p14:creationId xmlns:p14="http://schemas.microsoft.com/office/powerpoint/2010/main" val="2929295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FE60D-1614-3DE2-FBE0-C9667D0FF6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CAB4A0-8482-8680-36E8-50D1268C6EAC}"/>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0FA308B0-C629-3072-BDD2-FF21121C25CC}"/>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B8CE7A50-E928-08E9-4C3B-775DD0BD56E4}"/>
              </a:ext>
            </a:extLst>
          </p:cNvPr>
          <p:cNvSpPr>
            <a:spLocks noGrp="1"/>
          </p:cNvSpPr>
          <p:nvPr>
            <p:ph type="sldNum" sz="quarter" idx="5"/>
          </p:nvPr>
        </p:nvSpPr>
        <p:spPr/>
        <p:txBody>
          <a:bodyPr/>
          <a:lstStyle/>
          <a:p>
            <a:fld id="{D32D85B4-8D15-40BA-BE63-8F85761BC2A6}" type="slidenum">
              <a:rPr lang="es-CL" smtClean="0"/>
              <a:t>5</a:t>
            </a:fld>
            <a:endParaRPr lang="es-CL" dirty="0"/>
          </a:p>
        </p:txBody>
      </p:sp>
    </p:spTree>
    <p:extLst>
      <p:ext uri="{BB962C8B-B14F-4D97-AF65-F5344CB8AC3E}">
        <p14:creationId xmlns:p14="http://schemas.microsoft.com/office/powerpoint/2010/main" val="3905916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009B8-40F8-A703-49AC-338F956EEC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608DD53-6A12-CAF3-5EB8-63BEE28672B2}"/>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1747E85B-9925-54A0-917E-39DC79118FF4}"/>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22DF0BF5-6F12-B91A-A442-FD12F667F34A}"/>
              </a:ext>
            </a:extLst>
          </p:cNvPr>
          <p:cNvSpPr>
            <a:spLocks noGrp="1"/>
          </p:cNvSpPr>
          <p:nvPr>
            <p:ph type="sldNum" sz="quarter" idx="5"/>
          </p:nvPr>
        </p:nvSpPr>
        <p:spPr/>
        <p:txBody>
          <a:bodyPr/>
          <a:lstStyle/>
          <a:p>
            <a:fld id="{D32D85B4-8D15-40BA-BE63-8F85761BC2A6}" type="slidenum">
              <a:rPr lang="es-CL" smtClean="0"/>
              <a:t>6</a:t>
            </a:fld>
            <a:endParaRPr lang="es-CL" dirty="0"/>
          </a:p>
        </p:txBody>
      </p:sp>
    </p:spTree>
    <p:extLst>
      <p:ext uri="{BB962C8B-B14F-4D97-AF65-F5344CB8AC3E}">
        <p14:creationId xmlns:p14="http://schemas.microsoft.com/office/powerpoint/2010/main" val="3654257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1EA94-B985-0A0F-7D03-0273E68E02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F2B0930-32F7-16D6-9AC0-F2A9FEBD8426}"/>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416DBBEE-239E-54D9-075A-D8C8CFF4C51E}"/>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88FC6744-0A15-C69B-6BB5-AA13F8613603}"/>
              </a:ext>
            </a:extLst>
          </p:cNvPr>
          <p:cNvSpPr>
            <a:spLocks noGrp="1"/>
          </p:cNvSpPr>
          <p:nvPr>
            <p:ph type="sldNum" sz="quarter" idx="5"/>
          </p:nvPr>
        </p:nvSpPr>
        <p:spPr/>
        <p:txBody>
          <a:bodyPr/>
          <a:lstStyle/>
          <a:p>
            <a:fld id="{D32D85B4-8D15-40BA-BE63-8F85761BC2A6}" type="slidenum">
              <a:rPr lang="es-CL" smtClean="0"/>
              <a:t>7</a:t>
            </a:fld>
            <a:endParaRPr lang="es-CL" dirty="0"/>
          </a:p>
        </p:txBody>
      </p:sp>
    </p:spTree>
    <p:extLst>
      <p:ext uri="{BB962C8B-B14F-4D97-AF65-F5344CB8AC3E}">
        <p14:creationId xmlns:p14="http://schemas.microsoft.com/office/powerpoint/2010/main" val="2536990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3B07C-EABD-A83E-EBFB-F26FFA1D18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AFE46A-FA93-D507-CBA7-D15571BC6473}"/>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CE2585E3-9C61-82F5-2684-08D109E855B8}"/>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5B4070CF-DAC8-95E1-81E5-EE8C14544A89}"/>
              </a:ext>
            </a:extLst>
          </p:cNvPr>
          <p:cNvSpPr>
            <a:spLocks noGrp="1"/>
          </p:cNvSpPr>
          <p:nvPr>
            <p:ph type="sldNum" sz="quarter" idx="5"/>
          </p:nvPr>
        </p:nvSpPr>
        <p:spPr/>
        <p:txBody>
          <a:bodyPr/>
          <a:lstStyle/>
          <a:p>
            <a:fld id="{D32D85B4-8D15-40BA-BE63-8F85761BC2A6}" type="slidenum">
              <a:rPr lang="es-CL" smtClean="0"/>
              <a:t>8</a:t>
            </a:fld>
            <a:endParaRPr lang="es-CL" dirty="0"/>
          </a:p>
        </p:txBody>
      </p:sp>
    </p:spTree>
    <p:extLst>
      <p:ext uri="{BB962C8B-B14F-4D97-AF65-F5344CB8AC3E}">
        <p14:creationId xmlns:p14="http://schemas.microsoft.com/office/powerpoint/2010/main" val="2774678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04A56-F3E8-FDB4-EB8F-D573BC8765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C487C5-8F72-529C-713C-71898633C348}"/>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C5B6BF18-4AE2-F24C-67F6-1CDEC6D7491A}"/>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DD8EC4E7-ED49-8D9C-3AA8-7F4678708DB3}"/>
              </a:ext>
            </a:extLst>
          </p:cNvPr>
          <p:cNvSpPr>
            <a:spLocks noGrp="1"/>
          </p:cNvSpPr>
          <p:nvPr>
            <p:ph type="sldNum" sz="quarter" idx="5"/>
          </p:nvPr>
        </p:nvSpPr>
        <p:spPr/>
        <p:txBody>
          <a:bodyPr/>
          <a:lstStyle/>
          <a:p>
            <a:fld id="{D32D85B4-8D15-40BA-BE63-8F85761BC2A6}" type="slidenum">
              <a:rPr lang="es-CL" smtClean="0"/>
              <a:t>9</a:t>
            </a:fld>
            <a:endParaRPr lang="es-CL" dirty="0"/>
          </a:p>
        </p:txBody>
      </p:sp>
    </p:spTree>
    <p:extLst>
      <p:ext uri="{BB962C8B-B14F-4D97-AF65-F5344CB8AC3E}">
        <p14:creationId xmlns:p14="http://schemas.microsoft.com/office/powerpoint/2010/main" val="2642247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A9919-AE54-44B9-8B63-05F2AE7888E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4A32B80-87A1-01EC-B631-9C3F56C8302C}"/>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290D4E91-7BE7-DA52-610E-9D59412DEF40}"/>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8515AB0B-FFEC-34BB-C0F7-9F492FA956BD}"/>
              </a:ext>
            </a:extLst>
          </p:cNvPr>
          <p:cNvSpPr>
            <a:spLocks noGrp="1"/>
          </p:cNvSpPr>
          <p:nvPr>
            <p:ph type="sldNum" sz="quarter" idx="5"/>
          </p:nvPr>
        </p:nvSpPr>
        <p:spPr/>
        <p:txBody>
          <a:bodyPr/>
          <a:lstStyle/>
          <a:p>
            <a:fld id="{D32D85B4-8D15-40BA-BE63-8F85761BC2A6}" type="slidenum">
              <a:rPr lang="es-CL" smtClean="0"/>
              <a:t>10</a:t>
            </a:fld>
            <a:endParaRPr lang="es-CL" dirty="0"/>
          </a:p>
        </p:txBody>
      </p:sp>
    </p:spTree>
    <p:extLst>
      <p:ext uri="{BB962C8B-B14F-4D97-AF65-F5344CB8AC3E}">
        <p14:creationId xmlns:p14="http://schemas.microsoft.com/office/powerpoint/2010/main" val="3135678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5C432-D2B4-7D30-843C-45DB2878623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9C70BF-EB4A-9937-2E49-576C5A3BF259}"/>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EFFA8768-5A0F-AC46-E0B6-948F01A7B7D3}"/>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C722B09A-3209-70BC-8C04-12BE2238E7C7}"/>
              </a:ext>
            </a:extLst>
          </p:cNvPr>
          <p:cNvSpPr>
            <a:spLocks noGrp="1"/>
          </p:cNvSpPr>
          <p:nvPr>
            <p:ph type="sldNum" sz="quarter" idx="5"/>
          </p:nvPr>
        </p:nvSpPr>
        <p:spPr/>
        <p:txBody>
          <a:bodyPr/>
          <a:lstStyle/>
          <a:p>
            <a:fld id="{D32D85B4-8D15-40BA-BE63-8F85761BC2A6}" type="slidenum">
              <a:rPr lang="es-CL" smtClean="0"/>
              <a:t>11</a:t>
            </a:fld>
            <a:endParaRPr lang="es-CL" dirty="0"/>
          </a:p>
        </p:txBody>
      </p:sp>
    </p:spTree>
    <p:extLst>
      <p:ext uri="{BB962C8B-B14F-4D97-AF65-F5344CB8AC3E}">
        <p14:creationId xmlns:p14="http://schemas.microsoft.com/office/powerpoint/2010/main" val="655987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1BF1B-5E25-726E-1E11-C1F05685B5C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DBDE2F5-B5DF-F7EB-BB9C-E2C88C09F01C}"/>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8E76C451-B83D-2BA4-4002-3F6C24140238}"/>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270CAC7B-8696-3AA2-15FE-F43E3C851D7E}"/>
              </a:ext>
            </a:extLst>
          </p:cNvPr>
          <p:cNvSpPr>
            <a:spLocks noGrp="1"/>
          </p:cNvSpPr>
          <p:nvPr>
            <p:ph type="sldNum" sz="quarter" idx="5"/>
          </p:nvPr>
        </p:nvSpPr>
        <p:spPr/>
        <p:txBody>
          <a:bodyPr/>
          <a:lstStyle/>
          <a:p>
            <a:fld id="{D32D85B4-8D15-40BA-BE63-8F85761BC2A6}" type="slidenum">
              <a:rPr lang="es-CL" smtClean="0"/>
              <a:t>12</a:t>
            </a:fld>
            <a:endParaRPr lang="es-CL" dirty="0"/>
          </a:p>
        </p:txBody>
      </p:sp>
    </p:spTree>
    <p:extLst>
      <p:ext uri="{BB962C8B-B14F-4D97-AF65-F5344CB8AC3E}">
        <p14:creationId xmlns:p14="http://schemas.microsoft.com/office/powerpoint/2010/main" val="2492940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FB249-3F02-5814-A2F1-E89724E3E1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F965E29-2D5B-62F6-6151-74698A8A584A}"/>
              </a:ext>
            </a:extLst>
          </p:cNvPr>
          <p:cNvSpPr>
            <a:spLocks noGrp="1" noRot="1" noChangeAspect="1"/>
          </p:cNvSpPr>
          <p:nvPr>
            <p:ph type="sldImg"/>
          </p:nvPr>
        </p:nvSpPr>
        <p:spPr/>
        <p:txBody>
          <a:bodyPr/>
          <a:lstStyle/>
          <a:p>
            <a:endParaRPr lang="es-CL" dirty="0"/>
          </a:p>
        </p:txBody>
      </p:sp>
      <p:sp>
        <p:nvSpPr>
          <p:cNvPr id="3" name="Marcador de notas 2">
            <a:extLst>
              <a:ext uri="{FF2B5EF4-FFF2-40B4-BE49-F238E27FC236}">
                <a16:creationId xmlns:a16="http://schemas.microsoft.com/office/drawing/2014/main" id="{F6C574FC-4184-F0EB-AC1D-63CEFB9ECB05}"/>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49A06561-D1F7-5717-D3DD-3F7C8FDEF584}"/>
              </a:ext>
            </a:extLst>
          </p:cNvPr>
          <p:cNvSpPr>
            <a:spLocks noGrp="1"/>
          </p:cNvSpPr>
          <p:nvPr>
            <p:ph type="sldNum" sz="quarter" idx="5"/>
          </p:nvPr>
        </p:nvSpPr>
        <p:spPr/>
        <p:txBody>
          <a:bodyPr/>
          <a:lstStyle/>
          <a:p>
            <a:fld id="{D32D85B4-8D15-40BA-BE63-8F85761BC2A6}" type="slidenum">
              <a:rPr lang="es-CL" smtClean="0"/>
              <a:t>13</a:t>
            </a:fld>
            <a:endParaRPr lang="es-CL" dirty="0"/>
          </a:p>
        </p:txBody>
      </p:sp>
    </p:spTree>
    <p:extLst>
      <p:ext uri="{BB962C8B-B14F-4D97-AF65-F5344CB8AC3E}">
        <p14:creationId xmlns:p14="http://schemas.microsoft.com/office/powerpoint/2010/main" val="1971981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BDD500C1-193D-466C-BA19-529CD99380B0}" type="datetime1">
              <a:rPr lang="es-CL" smtClean="0"/>
              <a:t>17-11-2025</a:t>
            </a:fld>
            <a:endParaRPr lang="es-CL" dirty="0"/>
          </a:p>
        </p:txBody>
      </p:sp>
      <p:sp>
        <p:nvSpPr>
          <p:cNvPr id="5" name="Footer Placeholder 4"/>
          <p:cNvSpPr>
            <a:spLocks noGrp="1"/>
          </p:cNvSpPr>
          <p:nvPr>
            <p:ph type="ftr" sz="quarter" idx="11"/>
          </p:nvPr>
        </p:nvSpPr>
        <p:spPr/>
        <p:txBody>
          <a:bodyPr/>
          <a:lstStyle/>
          <a:p>
            <a:r>
              <a:rPr lang="es-MX" dirty="0"/>
              <a:t>MSI600 - INTRODUCCIÓN CIENCIA DE DATOS</a:t>
            </a:r>
            <a:endParaRPr lang="es-CL" dirty="0"/>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dirty="0"/>
          </a:p>
        </p:txBody>
      </p:sp>
    </p:spTree>
    <p:extLst>
      <p:ext uri="{BB962C8B-B14F-4D97-AF65-F5344CB8AC3E}">
        <p14:creationId xmlns:p14="http://schemas.microsoft.com/office/powerpoint/2010/main" val="81876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43DAE21C-8755-4C47-9BC8-DA71F60B3971}" type="datetime1">
              <a:rPr lang="es-CL" smtClean="0"/>
              <a:t>17-11-2025</a:t>
            </a:fld>
            <a:endParaRPr lang="es-CL" dirty="0"/>
          </a:p>
        </p:txBody>
      </p:sp>
      <p:sp>
        <p:nvSpPr>
          <p:cNvPr id="5" name="Footer Placeholder 4"/>
          <p:cNvSpPr>
            <a:spLocks noGrp="1"/>
          </p:cNvSpPr>
          <p:nvPr>
            <p:ph type="ftr" sz="quarter" idx="11"/>
          </p:nvPr>
        </p:nvSpPr>
        <p:spPr/>
        <p:txBody>
          <a:bodyPr/>
          <a:lstStyle/>
          <a:p>
            <a:r>
              <a:rPr lang="es-MX" dirty="0"/>
              <a:t>MSI600 - INTRODUCCIÓN CIENCIA DE DATOS</a:t>
            </a:r>
            <a:endParaRPr lang="es-CL" dirty="0"/>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dirty="0"/>
          </a:p>
        </p:txBody>
      </p:sp>
    </p:spTree>
    <p:extLst>
      <p:ext uri="{BB962C8B-B14F-4D97-AF65-F5344CB8AC3E}">
        <p14:creationId xmlns:p14="http://schemas.microsoft.com/office/powerpoint/2010/main" val="777784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8E458565-2487-4F43-8934-E52A058854BE}" type="datetime1">
              <a:rPr lang="es-CL" smtClean="0"/>
              <a:t>17-11-2025</a:t>
            </a:fld>
            <a:endParaRPr lang="es-CL" dirty="0"/>
          </a:p>
        </p:txBody>
      </p:sp>
      <p:sp>
        <p:nvSpPr>
          <p:cNvPr id="5" name="Footer Placeholder 4"/>
          <p:cNvSpPr>
            <a:spLocks noGrp="1"/>
          </p:cNvSpPr>
          <p:nvPr>
            <p:ph type="ftr" sz="quarter" idx="11"/>
          </p:nvPr>
        </p:nvSpPr>
        <p:spPr/>
        <p:txBody>
          <a:bodyPr/>
          <a:lstStyle/>
          <a:p>
            <a:r>
              <a:rPr lang="es-MX" dirty="0"/>
              <a:t>MSI600 - INTRODUCCIÓN CIENCIA DE DATOS</a:t>
            </a:r>
            <a:endParaRPr lang="es-CL" dirty="0"/>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dirty="0"/>
          </a:p>
        </p:txBody>
      </p:sp>
    </p:spTree>
    <p:extLst>
      <p:ext uri="{BB962C8B-B14F-4D97-AF65-F5344CB8AC3E}">
        <p14:creationId xmlns:p14="http://schemas.microsoft.com/office/powerpoint/2010/main" val="463483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96A236D2-A8DB-4873-9CF3-122A89EE4DFB}" type="datetime1">
              <a:rPr lang="es-CL" smtClean="0"/>
              <a:t>17-11-2025</a:t>
            </a:fld>
            <a:endParaRPr lang="es-CL" dirty="0"/>
          </a:p>
        </p:txBody>
      </p:sp>
      <p:sp>
        <p:nvSpPr>
          <p:cNvPr id="6" name="Footer Placeholder 5"/>
          <p:cNvSpPr>
            <a:spLocks noGrp="1"/>
          </p:cNvSpPr>
          <p:nvPr>
            <p:ph type="ftr" sz="quarter" idx="11"/>
          </p:nvPr>
        </p:nvSpPr>
        <p:spPr/>
        <p:txBody>
          <a:bodyPr/>
          <a:lstStyle/>
          <a:p>
            <a:r>
              <a:rPr lang="es-MX" dirty="0"/>
              <a:t>MSI600 - INTRODUCCIÓN CIENCIA DE DATOS</a:t>
            </a:r>
            <a:endParaRPr lang="es-CL" dirty="0"/>
          </a:p>
        </p:txBody>
      </p:sp>
      <p:sp>
        <p:nvSpPr>
          <p:cNvPr id="7" name="Slide Number Placeholder 6"/>
          <p:cNvSpPr>
            <a:spLocks noGrp="1"/>
          </p:cNvSpPr>
          <p:nvPr>
            <p:ph type="sldNum" sz="quarter" idx="12"/>
          </p:nvPr>
        </p:nvSpPr>
        <p:spPr/>
        <p:txBody>
          <a:bodyPr/>
          <a:lstStyle/>
          <a:p>
            <a:fld id="{524E32BF-339A-4FD7-AF2D-884DBB49ECE9}" type="slidenum">
              <a:rPr lang="es-CL" smtClean="0"/>
              <a:t>‹Nº›</a:t>
            </a:fld>
            <a:endParaRPr lang="es-CL" dirty="0"/>
          </a:p>
        </p:txBody>
      </p:sp>
    </p:spTree>
    <p:extLst>
      <p:ext uri="{BB962C8B-B14F-4D97-AF65-F5344CB8AC3E}">
        <p14:creationId xmlns:p14="http://schemas.microsoft.com/office/powerpoint/2010/main" val="1643728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A974421A-8B2C-4E77-A0B2-02DE27D440B9}" type="datetime1">
              <a:rPr lang="es-CL" smtClean="0"/>
              <a:t>17-11-2025</a:t>
            </a:fld>
            <a:endParaRPr lang="es-CL" dirty="0"/>
          </a:p>
        </p:txBody>
      </p:sp>
      <p:sp>
        <p:nvSpPr>
          <p:cNvPr id="8" name="Footer Placeholder 7"/>
          <p:cNvSpPr>
            <a:spLocks noGrp="1"/>
          </p:cNvSpPr>
          <p:nvPr>
            <p:ph type="ftr" sz="quarter" idx="11"/>
          </p:nvPr>
        </p:nvSpPr>
        <p:spPr/>
        <p:txBody>
          <a:bodyPr/>
          <a:lstStyle/>
          <a:p>
            <a:r>
              <a:rPr lang="es-MX" dirty="0"/>
              <a:t>MSI600 - INTRODUCCIÓN CIENCIA DE DATOS</a:t>
            </a:r>
            <a:endParaRPr lang="es-CL" dirty="0"/>
          </a:p>
        </p:txBody>
      </p:sp>
      <p:sp>
        <p:nvSpPr>
          <p:cNvPr id="9" name="Slide Number Placeholder 8"/>
          <p:cNvSpPr>
            <a:spLocks noGrp="1"/>
          </p:cNvSpPr>
          <p:nvPr>
            <p:ph type="sldNum" sz="quarter" idx="12"/>
          </p:nvPr>
        </p:nvSpPr>
        <p:spPr/>
        <p:txBody>
          <a:bodyPr/>
          <a:lstStyle/>
          <a:p>
            <a:fld id="{524E32BF-339A-4FD7-AF2D-884DBB49ECE9}" type="slidenum">
              <a:rPr lang="es-CL" smtClean="0"/>
              <a:t>‹Nº›</a:t>
            </a:fld>
            <a:endParaRPr lang="es-CL" dirty="0"/>
          </a:p>
        </p:txBody>
      </p:sp>
    </p:spTree>
    <p:extLst>
      <p:ext uri="{BB962C8B-B14F-4D97-AF65-F5344CB8AC3E}">
        <p14:creationId xmlns:p14="http://schemas.microsoft.com/office/powerpoint/2010/main" val="1964894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B1C24CD4-A5D9-4150-A215-8F54EFF05417}" type="datetime1">
              <a:rPr lang="es-CL" smtClean="0"/>
              <a:t>17-11-2025</a:t>
            </a:fld>
            <a:endParaRPr lang="es-CL" dirty="0"/>
          </a:p>
        </p:txBody>
      </p:sp>
      <p:sp>
        <p:nvSpPr>
          <p:cNvPr id="4" name="Footer Placeholder 3"/>
          <p:cNvSpPr>
            <a:spLocks noGrp="1"/>
          </p:cNvSpPr>
          <p:nvPr>
            <p:ph type="ftr" sz="quarter" idx="11"/>
          </p:nvPr>
        </p:nvSpPr>
        <p:spPr/>
        <p:txBody>
          <a:bodyPr/>
          <a:lstStyle/>
          <a:p>
            <a:r>
              <a:rPr lang="es-MX" dirty="0"/>
              <a:t>MSI600 - INTRODUCCIÓN CIENCIA DE DATOS</a:t>
            </a:r>
            <a:endParaRPr lang="es-CL" dirty="0"/>
          </a:p>
        </p:txBody>
      </p:sp>
      <p:sp>
        <p:nvSpPr>
          <p:cNvPr id="5" name="Slide Number Placeholder 4"/>
          <p:cNvSpPr>
            <a:spLocks noGrp="1"/>
          </p:cNvSpPr>
          <p:nvPr>
            <p:ph type="sldNum" sz="quarter" idx="12"/>
          </p:nvPr>
        </p:nvSpPr>
        <p:spPr/>
        <p:txBody>
          <a:bodyPr/>
          <a:lstStyle/>
          <a:p>
            <a:fld id="{524E32BF-339A-4FD7-AF2D-884DBB49ECE9}" type="slidenum">
              <a:rPr lang="es-CL" smtClean="0"/>
              <a:t>‹Nº›</a:t>
            </a:fld>
            <a:endParaRPr lang="es-CL" dirty="0"/>
          </a:p>
        </p:txBody>
      </p:sp>
    </p:spTree>
    <p:extLst>
      <p:ext uri="{BB962C8B-B14F-4D97-AF65-F5344CB8AC3E}">
        <p14:creationId xmlns:p14="http://schemas.microsoft.com/office/powerpoint/2010/main" val="2114832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A435D1-47BD-487C-A83D-C4C768926A5F}" type="datetime1">
              <a:rPr lang="es-CL" smtClean="0"/>
              <a:t>17-11-2025</a:t>
            </a:fld>
            <a:endParaRPr lang="es-CL" dirty="0"/>
          </a:p>
        </p:txBody>
      </p:sp>
      <p:sp>
        <p:nvSpPr>
          <p:cNvPr id="3" name="Footer Placeholder 2"/>
          <p:cNvSpPr>
            <a:spLocks noGrp="1"/>
          </p:cNvSpPr>
          <p:nvPr>
            <p:ph type="ftr" sz="quarter" idx="11"/>
          </p:nvPr>
        </p:nvSpPr>
        <p:spPr/>
        <p:txBody>
          <a:bodyPr/>
          <a:lstStyle/>
          <a:p>
            <a:r>
              <a:rPr lang="es-MX" dirty="0"/>
              <a:t>MSI600 - INTRODUCCIÓN CIENCIA DE DATOS</a:t>
            </a:r>
            <a:endParaRPr lang="es-CL" dirty="0"/>
          </a:p>
        </p:txBody>
      </p:sp>
      <p:sp>
        <p:nvSpPr>
          <p:cNvPr id="4" name="Slide Number Placeholder 3"/>
          <p:cNvSpPr>
            <a:spLocks noGrp="1"/>
          </p:cNvSpPr>
          <p:nvPr>
            <p:ph type="sldNum" sz="quarter" idx="12"/>
          </p:nvPr>
        </p:nvSpPr>
        <p:spPr/>
        <p:txBody>
          <a:bodyPr/>
          <a:lstStyle/>
          <a:p>
            <a:fld id="{524E32BF-339A-4FD7-AF2D-884DBB49ECE9}" type="slidenum">
              <a:rPr lang="es-CL" smtClean="0"/>
              <a:t>‹Nº›</a:t>
            </a:fld>
            <a:endParaRPr lang="es-CL" dirty="0"/>
          </a:p>
        </p:txBody>
      </p:sp>
    </p:spTree>
    <p:extLst>
      <p:ext uri="{BB962C8B-B14F-4D97-AF65-F5344CB8AC3E}">
        <p14:creationId xmlns:p14="http://schemas.microsoft.com/office/powerpoint/2010/main" val="474201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A683E110-4BCD-4DB5-9BB1-FE2F083E0D4C}" type="datetime1">
              <a:rPr lang="es-CL" smtClean="0"/>
              <a:t>17-11-2025</a:t>
            </a:fld>
            <a:endParaRPr lang="es-CL" dirty="0"/>
          </a:p>
        </p:txBody>
      </p:sp>
      <p:sp>
        <p:nvSpPr>
          <p:cNvPr id="6" name="Footer Placeholder 5"/>
          <p:cNvSpPr>
            <a:spLocks noGrp="1"/>
          </p:cNvSpPr>
          <p:nvPr>
            <p:ph type="ftr" sz="quarter" idx="11"/>
          </p:nvPr>
        </p:nvSpPr>
        <p:spPr/>
        <p:txBody>
          <a:bodyPr/>
          <a:lstStyle/>
          <a:p>
            <a:r>
              <a:rPr lang="es-MX" dirty="0"/>
              <a:t>MSI600 - INTRODUCCIÓN CIENCIA DE DATOS</a:t>
            </a:r>
            <a:endParaRPr lang="es-CL" dirty="0"/>
          </a:p>
        </p:txBody>
      </p:sp>
      <p:sp>
        <p:nvSpPr>
          <p:cNvPr id="7" name="Slide Number Placeholder 6"/>
          <p:cNvSpPr>
            <a:spLocks noGrp="1"/>
          </p:cNvSpPr>
          <p:nvPr>
            <p:ph type="sldNum" sz="quarter" idx="12"/>
          </p:nvPr>
        </p:nvSpPr>
        <p:spPr/>
        <p:txBody>
          <a:bodyPr/>
          <a:lstStyle/>
          <a:p>
            <a:fld id="{524E32BF-339A-4FD7-AF2D-884DBB49ECE9}" type="slidenum">
              <a:rPr lang="es-CL" smtClean="0"/>
              <a:t>‹Nº›</a:t>
            </a:fld>
            <a:endParaRPr lang="es-CL" dirty="0"/>
          </a:p>
        </p:txBody>
      </p:sp>
    </p:spTree>
    <p:extLst>
      <p:ext uri="{BB962C8B-B14F-4D97-AF65-F5344CB8AC3E}">
        <p14:creationId xmlns:p14="http://schemas.microsoft.com/office/powerpoint/2010/main" val="1242401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dirty="0"/>
              <a:t>Haz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94CACA55-7F1D-4061-AA7B-77C3B9068DBD}" type="datetime1">
              <a:rPr lang="es-CL" smtClean="0"/>
              <a:t>17-11-2025</a:t>
            </a:fld>
            <a:endParaRPr lang="es-CL" dirty="0"/>
          </a:p>
        </p:txBody>
      </p:sp>
      <p:sp>
        <p:nvSpPr>
          <p:cNvPr id="6" name="Footer Placeholder 5"/>
          <p:cNvSpPr>
            <a:spLocks noGrp="1"/>
          </p:cNvSpPr>
          <p:nvPr>
            <p:ph type="ftr" sz="quarter" idx="11"/>
          </p:nvPr>
        </p:nvSpPr>
        <p:spPr/>
        <p:txBody>
          <a:bodyPr/>
          <a:lstStyle/>
          <a:p>
            <a:r>
              <a:rPr lang="es-MX" dirty="0"/>
              <a:t>MSI600 - INTRODUCCIÓN CIENCIA DE DATOS</a:t>
            </a:r>
            <a:endParaRPr lang="es-CL" dirty="0"/>
          </a:p>
        </p:txBody>
      </p:sp>
      <p:sp>
        <p:nvSpPr>
          <p:cNvPr id="7" name="Slide Number Placeholder 6"/>
          <p:cNvSpPr>
            <a:spLocks noGrp="1"/>
          </p:cNvSpPr>
          <p:nvPr>
            <p:ph type="sldNum" sz="quarter" idx="12"/>
          </p:nvPr>
        </p:nvSpPr>
        <p:spPr/>
        <p:txBody>
          <a:bodyPr/>
          <a:lstStyle/>
          <a:p>
            <a:fld id="{524E32BF-339A-4FD7-AF2D-884DBB49ECE9}" type="slidenum">
              <a:rPr lang="es-CL" smtClean="0"/>
              <a:t>‹Nº›</a:t>
            </a:fld>
            <a:endParaRPr lang="es-CL" dirty="0"/>
          </a:p>
        </p:txBody>
      </p:sp>
    </p:spTree>
    <p:extLst>
      <p:ext uri="{BB962C8B-B14F-4D97-AF65-F5344CB8AC3E}">
        <p14:creationId xmlns:p14="http://schemas.microsoft.com/office/powerpoint/2010/main" val="1571960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36E3F141-C171-49B6-A38E-06F7755E5F72}" type="datetime1">
              <a:rPr lang="es-CL" smtClean="0"/>
              <a:t>17-11-2025</a:t>
            </a:fld>
            <a:endParaRPr lang="es-CL" dirty="0"/>
          </a:p>
        </p:txBody>
      </p:sp>
      <p:sp>
        <p:nvSpPr>
          <p:cNvPr id="5" name="Footer Placeholder 4"/>
          <p:cNvSpPr>
            <a:spLocks noGrp="1"/>
          </p:cNvSpPr>
          <p:nvPr>
            <p:ph type="ftr" sz="quarter" idx="11"/>
          </p:nvPr>
        </p:nvSpPr>
        <p:spPr/>
        <p:txBody>
          <a:bodyPr/>
          <a:lstStyle/>
          <a:p>
            <a:r>
              <a:rPr lang="es-MX" dirty="0"/>
              <a:t>MSI600 - INTRODUCCIÓN CIENCIA DE DATOS</a:t>
            </a:r>
            <a:endParaRPr lang="es-CL" dirty="0"/>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dirty="0"/>
          </a:p>
        </p:txBody>
      </p:sp>
    </p:spTree>
    <p:extLst>
      <p:ext uri="{BB962C8B-B14F-4D97-AF65-F5344CB8AC3E}">
        <p14:creationId xmlns:p14="http://schemas.microsoft.com/office/powerpoint/2010/main" val="3224430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0D3F19D1-0FE2-426C-97DA-07152340B981}" type="datetime1">
              <a:rPr lang="es-CL" smtClean="0"/>
              <a:t>17-11-2025</a:t>
            </a:fld>
            <a:endParaRPr lang="es-CL" dirty="0"/>
          </a:p>
        </p:txBody>
      </p:sp>
      <p:sp>
        <p:nvSpPr>
          <p:cNvPr id="5" name="Footer Placeholder 4"/>
          <p:cNvSpPr>
            <a:spLocks noGrp="1"/>
          </p:cNvSpPr>
          <p:nvPr>
            <p:ph type="ftr" sz="quarter" idx="11"/>
          </p:nvPr>
        </p:nvSpPr>
        <p:spPr/>
        <p:txBody>
          <a:bodyPr/>
          <a:lstStyle/>
          <a:p>
            <a:r>
              <a:rPr lang="es-MX" dirty="0"/>
              <a:t>MSI600 - INTRODUCCIÓN CIENCIA DE DATOS</a:t>
            </a:r>
            <a:endParaRPr lang="es-CL" dirty="0"/>
          </a:p>
        </p:txBody>
      </p:sp>
      <p:sp>
        <p:nvSpPr>
          <p:cNvPr id="6" name="Slide Number Placeholder 5"/>
          <p:cNvSpPr>
            <a:spLocks noGrp="1"/>
          </p:cNvSpPr>
          <p:nvPr>
            <p:ph type="sldNum" sz="quarter" idx="12"/>
          </p:nvPr>
        </p:nvSpPr>
        <p:spPr/>
        <p:txBody>
          <a:bodyPr/>
          <a:lstStyle/>
          <a:p>
            <a:fld id="{524E32BF-339A-4FD7-AF2D-884DBB49ECE9}" type="slidenum">
              <a:rPr lang="es-CL" smtClean="0"/>
              <a:t>‹Nº›</a:t>
            </a:fld>
            <a:endParaRPr lang="es-CL" dirty="0"/>
          </a:p>
        </p:txBody>
      </p:sp>
    </p:spTree>
    <p:extLst>
      <p:ext uri="{BB962C8B-B14F-4D97-AF65-F5344CB8AC3E}">
        <p14:creationId xmlns:p14="http://schemas.microsoft.com/office/powerpoint/2010/main" val="3811924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61D378-4650-4D9F-A1E9-478C02A7DF05}" type="datetime1">
              <a:rPr lang="es-CL" smtClean="0"/>
              <a:t>17-11-2025</a:t>
            </a:fld>
            <a:endParaRPr lang="es-CL"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MX" dirty="0"/>
              <a:t>MSI600 - INTRODUCCIÓN CIENCIA DE DATOS</a:t>
            </a:r>
            <a:endParaRPr lang="es-CL"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4E32BF-339A-4FD7-AF2D-884DBB49ECE9}" type="slidenum">
              <a:rPr lang="es-CL" smtClean="0"/>
              <a:t>‹Nº›</a:t>
            </a:fld>
            <a:endParaRPr lang="es-CL" dirty="0"/>
          </a:p>
        </p:txBody>
      </p:sp>
    </p:spTree>
    <p:extLst>
      <p:ext uri="{BB962C8B-B14F-4D97-AF65-F5344CB8AC3E}">
        <p14:creationId xmlns:p14="http://schemas.microsoft.com/office/powerpoint/2010/main" val="833609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microsoft.com/office/2018/10/relationships/comments" Target="../comments/modernComment_7BBF578F_ED886971.xml"/><Relationship Id="rId7" Type="http://schemas.openxmlformats.org/officeDocument/2006/relationships/diagramLayout" Target="../diagrams/layout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openxmlformats.org/officeDocument/2006/relationships/image" Target="../media/image3.png"/><Relationship Id="rId10" Type="http://schemas.microsoft.com/office/2007/relationships/diagramDrawing" Target="../diagrams/drawing1.xml"/><Relationship Id="rId4" Type="http://schemas.openxmlformats.org/officeDocument/2006/relationships/image" Target="../media/image2.png"/><Relationship Id="rId9" Type="http://schemas.openxmlformats.org/officeDocument/2006/relationships/diagramColors" Target="../diagrams/colors1.xml"/></Relationships>
</file>

<file path=ppt/slides/_rels/slide3.xml.rels><?xml version="1.0" encoding="UTF-8" standalone="yes"?>
<Relationships xmlns="http://schemas.openxmlformats.org/package/2006/relationships"><Relationship Id="rId8" Type="http://schemas.openxmlformats.org/officeDocument/2006/relationships/image" Target="../media/image7.jpeg"/><Relationship Id="rId3" Type="http://schemas.microsoft.com/office/2018/10/relationships/comments" Target="../comments/modernComment_7BBF5796_ED99224E.xml"/><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2.xml"/><Relationship Id="rId3" Type="http://schemas.microsoft.com/office/2018/10/relationships/comments" Target="../comments/modernComment_7BBF5795_E4D899E3.xml"/><Relationship Id="rId7" Type="http://schemas.openxmlformats.org/officeDocument/2006/relationships/diagramQuickStyle" Target="../diagrams/quickStyle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2.png"/><Relationship Id="rId9" Type="http://schemas.microsoft.com/office/2007/relationships/diagramDrawing" Target="../diagrams/drawing2.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microsoft.com/office/2018/10/relationships/comments" Target="../comments/modernComment_7BBF5791_8474DF0E.xml"/><Relationship Id="rId7"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2.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microsoft.com/office/2018/10/relationships/comments" Target="../comments/modernComment_7BBF5792_F6775C34.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microsoft.com/office/2018/10/relationships/comments" Target="../comments/modernComment_7BBF5798_F299D2FB.xm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chart" Target="../charts/char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extLst>
              <a:ext uri="{BEBA8EAE-BF5A-486C-A8C5-ECC9F3942E4B}">
                <a14:imgProps xmlns:a14="http://schemas.microsoft.com/office/drawing/2010/main">
                  <a14:imgLayer r:embed="rId4">
                    <a14:imgEffect>
                      <a14:sharpenSoften amount="-72000"/>
                    </a14:imgEffect>
                    <a14:imgEffect>
                      <a14:colorTemperature colorTemp="11500"/>
                    </a14:imgEffect>
                    <a14:imgEffect>
                      <a14:saturation sat="37000"/>
                    </a14:imgEffect>
                    <a14:imgEffect>
                      <a14:brightnessContrast bright="-15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8" name="Subtítulo 2">
            <a:extLst>
              <a:ext uri="{FF2B5EF4-FFF2-40B4-BE49-F238E27FC236}">
                <a16:creationId xmlns:a16="http://schemas.microsoft.com/office/drawing/2014/main" id="{41860A79-B110-9F78-3978-77AFA70E5855}"/>
              </a:ext>
            </a:extLst>
          </p:cNvPr>
          <p:cNvSpPr txBox="1">
            <a:spLocks/>
          </p:cNvSpPr>
          <p:nvPr/>
        </p:nvSpPr>
        <p:spPr>
          <a:xfrm>
            <a:off x="-32010" y="6143528"/>
            <a:ext cx="12192000" cy="425644"/>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ES" sz="1200" dirty="0">
                <a:solidFill>
                  <a:srgbClr val="FFFFFF"/>
                </a:solidFill>
                <a:latin typeface="Montserrat" pitchFamily="2" charset="77"/>
                <a:ea typeface="Calibri"/>
                <a:cs typeface="Calibri"/>
              </a:rPr>
              <a:t>Noviembre - 2025</a:t>
            </a:r>
          </a:p>
          <a:p>
            <a:endParaRPr lang="es-ES" sz="1200" dirty="0">
              <a:solidFill>
                <a:srgbClr val="FFFFFF"/>
              </a:solidFill>
              <a:latin typeface="Montserrat" pitchFamily="2" charset="77"/>
              <a:ea typeface="Calibri"/>
              <a:cs typeface="Calibri"/>
            </a:endParaRPr>
          </a:p>
          <a:p>
            <a:endParaRPr lang="es-ES" sz="1200" dirty="0">
              <a:solidFill>
                <a:srgbClr val="FFFFFF"/>
              </a:solidFill>
              <a:latin typeface="Montserrat" pitchFamily="2" charset="77"/>
              <a:ea typeface="Calibri"/>
              <a:cs typeface="Calibri"/>
            </a:endParaRPr>
          </a:p>
        </p:txBody>
      </p:sp>
      <p:sp>
        <p:nvSpPr>
          <p:cNvPr id="2" name="Título 1">
            <a:extLst>
              <a:ext uri="{FF2B5EF4-FFF2-40B4-BE49-F238E27FC236}">
                <a16:creationId xmlns:a16="http://schemas.microsoft.com/office/drawing/2014/main" id="{8261AC4D-D56B-FCD9-2D31-C2C2E0662094}"/>
              </a:ext>
            </a:extLst>
          </p:cNvPr>
          <p:cNvSpPr txBox="1">
            <a:spLocks/>
          </p:cNvSpPr>
          <p:nvPr/>
        </p:nvSpPr>
        <p:spPr>
          <a:xfrm>
            <a:off x="665958" y="2155121"/>
            <a:ext cx="10796067" cy="1255614"/>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S" sz="5400" dirty="0">
                <a:solidFill>
                  <a:srgbClr val="FFFFFF"/>
                </a:solidFill>
                <a:latin typeface="Montserrat" pitchFamily="2" charset="77"/>
                <a:cs typeface="Calibri Light"/>
              </a:rPr>
              <a:t>Aplicaciones en ciencia de datos</a:t>
            </a:r>
            <a:endParaRPr lang="es-ES" sz="5400" dirty="0">
              <a:solidFill>
                <a:srgbClr val="FFFFFF"/>
              </a:solidFill>
              <a:latin typeface="Montserrat" pitchFamily="2" charset="77"/>
            </a:endParaRPr>
          </a:p>
        </p:txBody>
      </p:sp>
      <p:sp>
        <p:nvSpPr>
          <p:cNvPr id="5" name="Rectángulo 4">
            <a:extLst>
              <a:ext uri="{FF2B5EF4-FFF2-40B4-BE49-F238E27FC236}">
                <a16:creationId xmlns:a16="http://schemas.microsoft.com/office/drawing/2014/main" id="{2944E5F5-76E7-7915-76DC-35DD2BF31062}"/>
              </a:ext>
            </a:extLst>
          </p:cNvPr>
          <p:cNvSpPr/>
          <p:nvPr/>
        </p:nvSpPr>
        <p:spPr>
          <a:xfrm>
            <a:off x="653217" y="3478378"/>
            <a:ext cx="10860084" cy="457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pic>
        <p:nvPicPr>
          <p:cNvPr id="9" name="Imagen 8">
            <a:extLst>
              <a:ext uri="{FF2B5EF4-FFF2-40B4-BE49-F238E27FC236}">
                <a16:creationId xmlns:a16="http://schemas.microsoft.com/office/drawing/2014/main" id="{50049516-04B1-49E2-CC29-A48B3B898DA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5170" y="372974"/>
            <a:ext cx="4562771" cy="1545455"/>
          </a:xfrm>
          <a:prstGeom prst="rect">
            <a:avLst/>
          </a:prstGeom>
        </p:spPr>
      </p:pic>
      <p:sp>
        <p:nvSpPr>
          <p:cNvPr id="11" name="CuadroTexto 10">
            <a:extLst>
              <a:ext uri="{FF2B5EF4-FFF2-40B4-BE49-F238E27FC236}">
                <a16:creationId xmlns:a16="http://schemas.microsoft.com/office/drawing/2014/main" id="{32798937-C6EC-C9F9-C757-7E6F0539318D}"/>
              </a:ext>
            </a:extLst>
          </p:cNvPr>
          <p:cNvSpPr txBox="1"/>
          <p:nvPr/>
        </p:nvSpPr>
        <p:spPr>
          <a:xfrm>
            <a:off x="1179478" y="3742052"/>
            <a:ext cx="9769025" cy="1107996"/>
          </a:xfrm>
          <a:prstGeom prst="rect">
            <a:avLst/>
          </a:prstGeom>
          <a:noFill/>
        </p:spPr>
        <p:txBody>
          <a:bodyPr wrap="square" rtlCol="0">
            <a:spAutoFit/>
          </a:bodyPr>
          <a:lstStyle/>
          <a:p>
            <a:pPr algn="ctr"/>
            <a:r>
              <a:rPr lang="es-MX" sz="2400" dirty="0">
                <a:solidFill>
                  <a:srgbClr val="FFFFFF"/>
                </a:solidFill>
                <a:latin typeface="Montserrat" pitchFamily="2" charset="77"/>
                <a:ea typeface="+mj-ea"/>
                <a:cs typeface="Calibri Light"/>
              </a:rPr>
              <a:t>Modelo predictivo basado en síntomas para el diagnóstico de cáncer colorrectal</a:t>
            </a:r>
          </a:p>
          <a:p>
            <a:pPr algn="ctr"/>
            <a:endParaRPr lang="es-CL" dirty="0"/>
          </a:p>
        </p:txBody>
      </p:sp>
      <p:sp>
        <p:nvSpPr>
          <p:cNvPr id="12" name="CuadroTexto 11">
            <a:extLst>
              <a:ext uri="{FF2B5EF4-FFF2-40B4-BE49-F238E27FC236}">
                <a16:creationId xmlns:a16="http://schemas.microsoft.com/office/drawing/2014/main" id="{F63E6B02-5A7C-CD85-4F88-786AE6D1F0BA}"/>
              </a:ext>
            </a:extLst>
          </p:cNvPr>
          <p:cNvSpPr txBox="1"/>
          <p:nvPr/>
        </p:nvSpPr>
        <p:spPr>
          <a:xfrm>
            <a:off x="9091905" y="5364692"/>
            <a:ext cx="1856598" cy="646331"/>
          </a:xfrm>
          <a:prstGeom prst="rect">
            <a:avLst/>
          </a:prstGeom>
          <a:noFill/>
        </p:spPr>
        <p:txBody>
          <a:bodyPr wrap="none" rtlCol="0">
            <a:spAutoFit/>
          </a:bodyPr>
          <a:lstStyle/>
          <a:p>
            <a:r>
              <a:rPr lang="es-CL" dirty="0">
                <a:solidFill>
                  <a:srgbClr val="FFFFFF"/>
                </a:solidFill>
                <a:latin typeface="Montserrat" pitchFamily="2" charset="77"/>
                <a:ea typeface="+mj-ea"/>
                <a:cs typeface="Calibri Light"/>
              </a:rPr>
              <a:t>Brian Guzmán</a:t>
            </a:r>
          </a:p>
          <a:p>
            <a:r>
              <a:rPr lang="es-CL" dirty="0">
                <a:solidFill>
                  <a:srgbClr val="FFFFFF"/>
                </a:solidFill>
                <a:latin typeface="Montserrat" pitchFamily="2" charset="77"/>
                <a:ea typeface="+mj-ea"/>
                <a:cs typeface="Calibri Light"/>
              </a:rPr>
              <a:t>Eric Silva</a:t>
            </a:r>
          </a:p>
        </p:txBody>
      </p:sp>
      <p:sp>
        <p:nvSpPr>
          <p:cNvPr id="14" name="Marcador de número de diapositiva 13">
            <a:extLst>
              <a:ext uri="{FF2B5EF4-FFF2-40B4-BE49-F238E27FC236}">
                <a16:creationId xmlns:a16="http://schemas.microsoft.com/office/drawing/2014/main" id="{946AF3EA-8E64-3E0E-E000-F07C8E9B60D8}"/>
              </a:ext>
            </a:extLst>
          </p:cNvPr>
          <p:cNvSpPr>
            <a:spLocks noGrp="1"/>
          </p:cNvSpPr>
          <p:nvPr>
            <p:ph type="sldNum" sz="quarter" idx="12"/>
          </p:nvPr>
        </p:nvSpPr>
        <p:spPr/>
        <p:txBody>
          <a:bodyPr/>
          <a:lstStyle/>
          <a:p>
            <a:fld id="{524E32BF-339A-4FD7-AF2D-884DBB49ECE9}" type="slidenum">
              <a:rPr lang="es-CL" smtClean="0"/>
              <a:t>1</a:t>
            </a:fld>
            <a:endParaRPr lang="es-CL" dirty="0"/>
          </a:p>
        </p:txBody>
      </p:sp>
      <p:sp>
        <p:nvSpPr>
          <p:cNvPr id="15" name="Marcador de pie de página 14">
            <a:extLst>
              <a:ext uri="{FF2B5EF4-FFF2-40B4-BE49-F238E27FC236}">
                <a16:creationId xmlns:a16="http://schemas.microsoft.com/office/drawing/2014/main" id="{9924B2D2-392A-4901-F9CD-F96BF9D8071B}"/>
              </a:ext>
            </a:extLst>
          </p:cNvPr>
          <p:cNvSpPr>
            <a:spLocks noGrp="1"/>
          </p:cNvSpPr>
          <p:nvPr>
            <p:ph type="ftr" sz="quarter" idx="11"/>
          </p:nvPr>
        </p:nvSpPr>
        <p:spPr/>
        <p:txBody>
          <a:bodyPr/>
          <a:lstStyle/>
          <a:p>
            <a:r>
              <a:rPr lang="es-MX" dirty="0"/>
              <a:t>MSI600 - INTRODUCCIÓN CIENCIA DE DATOS</a:t>
            </a:r>
            <a:endParaRPr lang="es-CL" dirty="0"/>
          </a:p>
        </p:txBody>
      </p:sp>
    </p:spTree>
    <p:extLst>
      <p:ext uri="{BB962C8B-B14F-4D97-AF65-F5344CB8AC3E}">
        <p14:creationId xmlns:p14="http://schemas.microsoft.com/office/powerpoint/2010/main" val="3319734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ACD47DFB-493A-6667-77EE-9717D911E58D}"/>
              </a:ext>
            </a:extLst>
          </p:cNvPr>
          <p:cNvSpPr/>
          <p:nvPr/>
        </p:nvSpPr>
        <p:spPr>
          <a:xfrm>
            <a:off x="0" y="8253"/>
            <a:ext cx="12206868" cy="879865"/>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pic>
        <p:nvPicPr>
          <p:cNvPr id="2" name="Imagen 1">
            <a:extLst>
              <a:ext uri="{FF2B5EF4-FFF2-40B4-BE49-F238E27FC236}">
                <a16:creationId xmlns:a16="http://schemas.microsoft.com/office/drawing/2014/main" id="{B72BD914-30DF-4F88-93CB-EE63CDFCFC5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658342" y="-60091"/>
            <a:ext cx="2996324" cy="1014884"/>
          </a:xfrm>
          <a:prstGeom prst="rect">
            <a:avLst/>
          </a:prstGeom>
        </p:spPr>
      </p:pic>
      <p:sp>
        <p:nvSpPr>
          <p:cNvPr id="8" name="Rectángulo 7">
            <a:extLst>
              <a:ext uri="{FF2B5EF4-FFF2-40B4-BE49-F238E27FC236}">
                <a16:creationId xmlns:a16="http://schemas.microsoft.com/office/drawing/2014/main" id="{12C6A6C6-E957-5BDA-C108-B218E9E9F0CD}"/>
              </a:ext>
            </a:extLst>
          </p:cNvPr>
          <p:cNvSpPr/>
          <p:nvPr/>
        </p:nvSpPr>
        <p:spPr>
          <a:xfrm>
            <a:off x="0" y="6276975"/>
            <a:ext cx="12206868" cy="572772"/>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sp>
        <p:nvSpPr>
          <p:cNvPr id="10" name="Marcador de número de diapositiva 9">
            <a:extLst>
              <a:ext uri="{FF2B5EF4-FFF2-40B4-BE49-F238E27FC236}">
                <a16:creationId xmlns:a16="http://schemas.microsoft.com/office/drawing/2014/main" id="{3F74B42D-7742-6731-D40A-F39ED21010FE}"/>
              </a:ext>
            </a:extLst>
          </p:cNvPr>
          <p:cNvSpPr>
            <a:spLocks noGrp="1"/>
          </p:cNvSpPr>
          <p:nvPr>
            <p:ph type="sldNum" sz="quarter" idx="12"/>
          </p:nvPr>
        </p:nvSpPr>
        <p:spPr/>
        <p:txBody>
          <a:bodyPr/>
          <a:lstStyle/>
          <a:p>
            <a:fld id="{524E32BF-339A-4FD7-AF2D-884DBB49ECE9}" type="slidenum">
              <a:rPr lang="es-CL" smtClean="0"/>
              <a:t>2</a:t>
            </a:fld>
            <a:endParaRPr lang="es-CL" dirty="0"/>
          </a:p>
        </p:txBody>
      </p:sp>
      <p:sp>
        <p:nvSpPr>
          <p:cNvPr id="16" name="Marcador de pie de página 15">
            <a:extLst>
              <a:ext uri="{FF2B5EF4-FFF2-40B4-BE49-F238E27FC236}">
                <a16:creationId xmlns:a16="http://schemas.microsoft.com/office/drawing/2014/main" id="{6EC667C0-5D63-5395-69B7-0CA32338CE80}"/>
              </a:ext>
            </a:extLst>
          </p:cNvPr>
          <p:cNvSpPr>
            <a:spLocks noGrp="1"/>
          </p:cNvSpPr>
          <p:nvPr>
            <p:ph type="ftr" sz="quarter" idx="11"/>
          </p:nvPr>
        </p:nvSpPr>
        <p:spPr/>
        <p:txBody>
          <a:bodyPr/>
          <a:lstStyle/>
          <a:p>
            <a:r>
              <a:rPr lang="es-MX" dirty="0"/>
              <a:t>MSI600 - INTRODUCCIÓN CIENCIA DE DATOS</a:t>
            </a:r>
            <a:endParaRPr lang="es-CL" dirty="0"/>
          </a:p>
        </p:txBody>
      </p:sp>
      <p:sp>
        <p:nvSpPr>
          <p:cNvPr id="17" name="CuadroTexto 16">
            <a:extLst>
              <a:ext uri="{FF2B5EF4-FFF2-40B4-BE49-F238E27FC236}">
                <a16:creationId xmlns:a16="http://schemas.microsoft.com/office/drawing/2014/main" id="{AAA9FA37-A5C0-E01B-68EB-AC0297B0B34F}"/>
              </a:ext>
            </a:extLst>
          </p:cNvPr>
          <p:cNvSpPr txBox="1"/>
          <p:nvPr/>
        </p:nvSpPr>
        <p:spPr>
          <a:xfrm>
            <a:off x="361949" y="231182"/>
            <a:ext cx="8535891" cy="461665"/>
          </a:xfrm>
          <a:prstGeom prst="rect">
            <a:avLst/>
          </a:prstGeom>
          <a:noFill/>
        </p:spPr>
        <p:txBody>
          <a:bodyPr wrap="square" rtlCol="0">
            <a:spAutoFit/>
          </a:bodyPr>
          <a:lstStyle/>
          <a:p>
            <a:r>
              <a:rPr lang="es-MX" sz="2400" dirty="0">
                <a:solidFill>
                  <a:srgbClr val="FFFFFF"/>
                </a:solidFill>
                <a:latin typeface="Montserrat" pitchFamily="2" charset="77"/>
                <a:ea typeface="+mj-ea"/>
                <a:cs typeface="Calibri Light"/>
              </a:rPr>
              <a:t>Introducción</a:t>
            </a:r>
            <a:endParaRPr lang="es-CL" dirty="0"/>
          </a:p>
        </p:txBody>
      </p:sp>
      <p:pic>
        <p:nvPicPr>
          <p:cNvPr id="4098" name="Picture 2" descr="Libro, Lectura, Biblioteca, Icono De Línea De Estudio, Vector, Ilustración,  Plantilla De Logotipo. Adecuado Para Muchos Propósitos Ilustraciones svg,  vectoriales, clip art vectorizado libre de derechos. Image 179457280">
            <a:extLst>
              <a:ext uri="{FF2B5EF4-FFF2-40B4-BE49-F238E27FC236}">
                <a16:creationId xmlns:a16="http://schemas.microsoft.com/office/drawing/2014/main" id="{73FE2DC6-96F5-77DC-60E8-6113D82DBC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3980" y="1020174"/>
            <a:ext cx="1621631" cy="1621631"/>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5CE79658-5947-5C4F-3A3A-4CD38BF499A2}"/>
              </a:ext>
            </a:extLst>
          </p:cNvPr>
          <p:cNvSpPr txBox="1"/>
          <p:nvPr/>
        </p:nvSpPr>
        <p:spPr>
          <a:xfrm>
            <a:off x="3181350" y="1519510"/>
            <a:ext cx="8082855" cy="646331"/>
          </a:xfrm>
          <a:prstGeom prst="rect">
            <a:avLst/>
          </a:prstGeom>
          <a:noFill/>
        </p:spPr>
        <p:txBody>
          <a:bodyPr wrap="square" rtlCol="0">
            <a:spAutoFit/>
          </a:bodyPr>
          <a:lstStyle/>
          <a:p>
            <a:pPr algn="just"/>
            <a:r>
              <a:rPr lang="es-MX" dirty="0"/>
              <a:t>Estudio analizado: Modelo predictivo basado en síntomas para CCR </a:t>
            </a:r>
          </a:p>
          <a:p>
            <a:pPr algn="just"/>
            <a:r>
              <a:rPr lang="es-MX" dirty="0"/>
              <a:t>(Revista Médica de Chile, 2025)</a:t>
            </a:r>
            <a:endParaRPr lang="es-CL" sz="1400" dirty="0"/>
          </a:p>
        </p:txBody>
      </p:sp>
      <p:graphicFrame>
        <p:nvGraphicFramePr>
          <p:cNvPr id="6" name="Diagrama 5">
            <a:extLst>
              <a:ext uri="{FF2B5EF4-FFF2-40B4-BE49-F238E27FC236}">
                <a16:creationId xmlns:a16="http://schemas.microsoft.com/office/drawing/2014/main" id="{CBCB570C-0F66-6A31-3558-7A32FDBC33BF}"/>
              </a:ext>
            </a:extLst>
          </p:cNvPr>
          <p:cNvGraphicFramePr/>
          <p:nvPr>
            <p:extLst>
              <p:ext uri="{D42A27DB-BD31-4B8C-83A1-F6EECF244321}">
                <p14:modId xmlns:p14="http://schemas.microsoft.com/office/powerpoint/2010/main" val="76299536"/>
              </p:ext>
            </p:extLst>
          </p:nvPr>
        </p:nvGraphicFramePr>
        <p:xfrm>
          <a:off x="1124700" y="2575189"/>
          <a:ext cx="9640889" cy="153590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7" name="CuadroTexto 6">
            <a:extLst>
              <a:ext uri="{FF2B5EF4-FFF2-40B4-BE49-F238E27FC236}">
                <a16:creationId xmlns:a16="http://schemas.microsoft.com/office/drawing/2014/main" id="{DAD4B036-0F94-5057-DE3F-B912A01220C0}"/>
              </a:ext>
            </a:extLst>
          </p:cNvPr>
          <p:cNvSpPr txBox="1"/>
          <p:nvPr/>
        </p:nvSpPr>
        <p:spPr>
          <a:xfrm>
            <a:off x="4038600" y="4348268"/>
            <a:ext cx="4248847" cy="1754326"/>
          </a:xfrm>
          <a:prstGeom prst="rect">
            <a:avLst/>
          </a:prstGeom>
          <a:noFill/>
        </p:spPr>
        <p:txBody>
          <a:bodyPr wrap="square" rtlCol="0">
            <a:spAutoFit/>
          </a:bodyPr>
          <a:lstStyle/>
          <a:p>
            <a:pPr algn="ctr"/>
            <a:r>
              <a:rPr lang="es-MX" dirty="0"/>
              <a:t>¿POR QUÉ ES RELEVANTE? </a:t>
            </a:r>
          </a:p>
          <a:p>
            <a:pPr algn="ctr"/>
            <a:r>
              <a:rPr lang="es-MX" dirty="0"/>
              <a:t>                            </a:t>
            </a:r>
          </a:p>
          <a:p>
            <a:pPr algn="just"/>
            <a:r>
              <a:rPr lang="es-MX" dirty="0"/>
              <a:t>  ✓ Aplicación real en Chile                         </a:t>
            </a:r>
          </a:p>
          <a:p>
            <a:pPr algn="just"/>
            <a:r>
              <a:rPr lang="es-MX" dirty="0"/>
              <a:t>  ✓ Técnicas de ML en salud pública                  </a:t>
            </a:r>
          </a:p>
          <a:p>
            <a:pPr algn="just"/>
            <a:r>
              <a:rPr lang="es-MX" dirty="0"/>
              <a:t>  ✓ Impacto en políticas públicas (GES)             </a:t>
            </a:r>
          </a:p>
          <a:p>
            <a:pPr algn="just"/>
            <a:r>
              <a:rPr lang="es-MX" dirty="0"/>
              <a:t>  ✓ Optimización de recursos limitados </a:t>
            </a:r>
            <a:endParaRPr lang="es-CL" sz="1400" dirty="0"/>
          </a:p>
        </p:txBody>
      </p:sp>
    </p:spTree>
    <p:extLst>
      <p:ext uri="{BB962C8B-B14F-4D97-AF65-F5344CB8AC3E}">
        <p14:creationId xmlns:p14="http://schemas.microsoft.com/office/powerpoint/2010/main" val="3985140081"/>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390B7-2909-0496-04AF-8B68AE264CC5}"/>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5EAE3B3B-81DF-06E7-C9C9-DFC9A73ADE52}"/>
              </a:ext>
            </a:extLst>
          </p:cNvPr>
          <p:cNvSpPr/>
          <p:nvPr/>
        </p:nvSpPr>
        <p:spPr>
          <a:xfrm>
            <a:off x="0" y="8253"/>
            <a:ext cx="12206868" cy="879865"/>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pic>
        <p:nvPicPr>
          <p:cNvPr id="2" name="Imagen 1">
            <a:extLst>
              <a:ext uri="{FF2B5EF4-FFF2-40B4-BE49-F238E27FC236}">
                <a16:creationId xmlns:a16="http://schemas.microsoft.com/office/drawing/2014/main" id="{4CFC9CF9-1974-A433-5BB9-30381A3CD76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658342" y="-60091"/>
            <a:ext cx="2996324" cy="1014884"/>
          </a:xfrm>
          <a:prstGeom prst="rect">
            <a:avLst/>
          </a:prstGeom>
        </p:spPr>
      </p:pic>
      <p:sp>
        <p:nvSpPr>
          <p:cNvPr id="8" name="Rectángulo 7">
            <a:extLst>
              <a:ext uri="{FF2B5EF4-FFF2-40B4-BE49-F238E27FC236}">
                <a16:creationId xmlns:a16="http://schemas.microsoft.com/office/drawing/2014/main" id="{D7AE80C3-367F-43B2-68EE-BCBFB7E59B6C}"/>
              </a:ext>
            </a:extLst>
          </p:cNvPr>
          <p:cNvSpPr/>
          <p:nvPr/>
        </p:nvSpPr>
        <p:spPr>
          <a:xfrm>
            <a:off x="0" y="6276975"/>
            <a:ext cx="12206868" cy="572772"/>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sp>
        <p:nvSpPr>
          <p:cNvPr id="10" name="Marcador de número de diapositiva 9">
            <a:extLst>
              <a:ext uri="{FF2B5EF4-FFF2-40B4-BE49-F238E27FC236}">
                <a16:creationId xmlns:a16="http://schemas.microsoft.com/office/drawing/2014/main" id="{BEC76D5F-74B9-ADDE-5D81-E46B7BDB80DF}"/>
              </a:ext>
            </a:extLst>
          </p:cNvPr>
          <p:cNvSpPr>
            <a:spLocks noGrp="1"/>
          </p:cNvSpPr>
          <p:nvPr>
            <p:ph type="sldNum" sz="quarter" idx="12"/>
          </p:nvPr>
        </p:nvSpPr>
        <p:spPr/>
        <p:txBody>
          <a:bodyPr/>
          <a:lstStyle/>
          <a:p>
            <a:fld id="{524E32BF-339A-4FD7-AF2D-884DBB49ECE9}" type="slidenum">
              <a:rPr lang="es-CL" smtClean="0"/>
              <a:t>3</a:t>
            </a:fld>
            <a:endParaRPr lang="es-CL" dirty="0"/>
          </a:p>
        </p:txBody>
      </p:sp>
      <p:sp>
        <p:nvSpPr>
          <p:cNvPr id="16" name="Marcador de pie de página 15">
            <a:extLst>
              <a:ext uri="{FF2B5EF4-FFF2-40B4-BE49-F238E27FC236}">
                <a16:creationId xmlns:a16="http://schemas.microsoft.com/office/drawing/2014/main" id="{AA7A273B-59D0-6AB3-E314-258FDDC28AAC}"/>
              </a:ext>
            </a:extLst>
          </p:cNvPr>
          <p:cNvSpPr>
            <a:spLocks noGrp="1"/>
          </p:cNvSpPr>
          <p:nvPr>
            <p:ph type="ftr" sz="quarter" idx="11"/>
          </p:nvPr>
        </p:nvSpPr>
        <p:spPr/>
        <p:txBody>
          <a:bodyPr/>
          <a:lstStyle/>
          <a:p>
            <a:r>
              <a:rPr lang="es-MX" dirty="0"/>
              <a:t>MSI600 - INTRODUCCIÓN CIENCIA DE DATOS</a:t>
            </a:r>
            <a:endParaRPr lang="es-CL" dirty="0"/>
          </a:p>
        </p:txBody>
      </p:sp>
      <p:sp>
        <p:nvSpPr>
          <p:cNvPr id="3" name="CuadroTexto 2">
            <a:extLst>
              <a:ext uri="{FF2B5EF4-FFF2-40B4-BE49-F238E27FC236}">
                <a16:creationId xmlns:a16="http://schemas.microsoft.com/office/drawing/2014/main" id="{AD98AB73-B11B-BC1A-33FD-CFA02B5C7AFC}"/>
              </a:ext>
            </a:extLst>
          </p:cNvPr>
          <p:cNvSpPr txBox="1"/>
          <p:nvPr/>
        </p:nvSpPr>
        <p:spPr>
          <a:xfrm>
            <a:off x="361949" y="231182"/>
            <a:ext cx="8535891" cy="461665"/>
          </a:xfrm>
          <a:prstGeom prst="rect">
            <a:avLst/>
          </a:prstGeom>
          <a:noFill/>
        </p:spPr>
        <p:txBody>
          <a:bodyPr wrap="square" rtlCol="0">
            <a:spAutoFit/>
          </a:bodyPr>
          <a:lstStyle/>
          <a:p>
            <a:r>
              <a:rPr lang="es-MX" sz="2400" dirty="0">
                <a:solidFill>
                  <a:srgbClr val="FFFFFF"/>
                </a:solidFill>
                <a:latin typeface="Montserrat" pitchFamily="2" charset="77"/>
                <a:ea typeface="+mj-ea"/>
                <a:cs typeface="Calibri Light"/>
              </a:rPr>
              <a:t>Contexto</a:t>
            </a:r>
            <a:endParaRPr lang="es-CL" dirty="0"/>
          </a:p>
        </p:txBody>
      </p:sp>
      <p:pic>
        <p:nvPicPr>
          <p:cNvPr id="13" name="Imagen 12">
            <a:extLst>
              <a:ext uri="{FF2B5EF4-FFF2-40B4-BE49-F238E27FC236}">
                <a16:creationId xmlns:a16="http://schemas.microsoft.com/office/drawing/2014/main" id="{BDEB7026-E301-1A7E-A13F-8009290187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28623" y="3386394"/>
            <a:ext cx="895350" cy="1276350"/>
          </a:xfrm>
          <a:prstGeom prst="rect">
            <a:avLst/>
          </a:prstGeom>
        </p:spPr>
      </p:pic>
      <p:pic>
        <p:nvPicPr>
          <p:cNvPr id="18" name="Imagen 17">
            <a:extLst>
              <a:ext uri="{FF2B5EF4-FFF2-40B4-BE49-F238E27FC236}">
                <a16:creationId xmlns:a16="http://schemas.microsoft.com/office/drawing/2014/main" id="{5760CA1B-A38B-2389-7014-3EA91FF3036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91802" y="3372548"/>
            <a:ext cx="1727641" cy="1727641"/>
          </a:xfrm>
          <a:prstGeom prst="rect">
            <a:avLst/>
          </a:prstGeom>
        </p:spPr>
      </p:pic>
      <p:sp>
        <p:nvSpPr>
          <p:cNvPr id="26" name="CuadroTexto 25">
            <a:extLst>
              <a:ext uri="{FF2B5EF4-FFF2-40B4-BE49-F238E27FC236}">
                <a16:creationId xmlns:a16="http://schemas.microsoft.com/office/drawing/2014/main" id="{8B29F5FD-A9FB-184E-776E-5B1AB7CEB0A9}"/>
              </a:ext>
            </a:extLst>
          </p:cNvPr>
          <p:cNvSpPr txBox="1"/>
          <p:nvPr/>
        </p:nvSpPr>
        <p:spPr>
          <a:xfrm>
            <a:off x="2010993" y="4852584"/>
            <a:ext cx="1927921" cy="646331"/>
          </a:xfrm>
          <a:prstGeom prst="rect">
            <a:avLst/>
          </a:prstGeom>
          <a:noFill/>
        </p:spPr>
        <p:txBody>
          <a:bodyPr wrap="square">
            <a:spAutoFit/>
          </a:bodyPr>
          <a:lstStyle/>
          <a:p>
            <a:pPr algn="ctr"/>
            <a:r>
              <a:rPr lang="es-MX" dirty="0">
                <a:latin typeface="Montserrat" pitchFamily="2" charset="77"/>
                <a:ea typeface="+mj-ea"/>
                <a:cs typeface="Calibri Light"/>
              </a:rPr>
              <a:t>Guía síntomas GES</a:t>
            </a:r>
            <a:endParaRPr lang="es-CL" dirty="0"/>
          </a:p>
        </p:txBody>
      </p:sp>
      <p:pic>
        <p:nvPicPr>
          <p:cNvPr id="30" name="Imagen 29">
            <a:extLst>
              <a:ext uri="{FF2B5EF4-FFF2-40B4-BE49-F238E27FC236}">
                <a16:creationId xmlns:a16="http://schemas.microsoft.com/office/drawing/2014/main" id="{789FDE5D-1A52-F4E7-BD6C-1BBB595955E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59646" y="5169232"/>
            <a:ext cx="477514" cy="477514"/>
          </a:xfrm>
          <a:prstGeom prst="rect">
            <a:avLst/>
          </a:prstGeom>
        </p:spPr>
      </p:pic>
      <p:sp>
        <p:nvSpPr>
          <p:cNvPr id="32" name="CuadroTexto 31">
            <a:extLst>
              <a:ext uri="{FF2B5EF4-FFF2-40B4-BE49-F238E27FC236}">
                <a16:creationId xmlns:a16="http://schemas.microsoft.com/office/drawing/2014/main" id="{98D3EFAC-C130-8B01-54B6-D47EDBC6871E}"/>
              </a:ext>
            </a:extLst>
          </p:cNvPr>
          <p:cNvSpPr txBox="1"/>
          <p:nvPr/>
        </p:nvSpPr>
        <p:spPr>
          <a:xfrm>
            <a:off x="9134216" y="3993126"/>
            <a:ext cx="1087490" cy="369332"/>
          </a:xfrm>
          <a:prstGeom prst="rect">
            <a:avLst/>
          </a:prstGeom>
          <a:noFill/>
        </p:spPr>
        <p:txBody>
          <a:bodyPr wrap="square">
            <a:spAutoFit/>
          </a:bodyPr>
          <a:lstStyle/>
          <a:p>
            <a:pPr algn="ctr"/>
            <a:r>
              <a:rPr lang="es-MX" dirty="0">
                <a:latin typeface="Montserrat" pitchFamily="2" charset="77"/>
                <a:ea typeface="+mj-ea"/>
                <a:cs typeface="Calibri Light"/>
              </a:rPr>
              <a:t>CRC</a:t>
            </a:r>
            <a:endParaRPr lang="es-CL" dirty="0"/>
          </a:p>
        </p:txBody>
      </p:sp>
      <p:pic>
        <p:nvPicPr>
          <p:cNvPr id="34" name="Imagen 33">
            <a:extLst>
              <a:ext uri="{FF2B5EF4-FFF2-40B4-BE49-F238E27FC236}">
                <a16:creationId xmlns:a16="http://schemas.microsoft.com/office/drawing/2014/main" id="{C88F9623-78E5-14BD-6C14-D9AEC837DBE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00577" y="3553241"/>
            <a:ext cx="1830525" cy="1218131"/>
          </a:xfrm>
          <a:prstGeom prst="rect">
            <a:avLst/>
          </a:prstGeom>
        </p:spPr>
      </p:pic>
      <p:sp>
        <p:nvSpPr>
          <p:cNvPr id="35" name="Flecha: a la derecha 34">
            <a:extLst>
              <a:ext uri="{FF2B5EF4-FFF2-40B4-BE49-F238E27FC236}">
                <a16:creationId xmlns:a16="http://schemas.microsoft.com/office/drawing/2014/main" id="{AED13FD2-5A32-3C24-B7F7-59D5A2C80CEC}"/>
              </a:ext>
            </a:extLst>
          </p:cNvPr>
          <p:cNvSpPr/>
          <p:nvPr/>
        </p:nvSpPr>
        <p:spPr>
          <a:xfrm>
            <a:off x="3938914" y="3982819"/>
            <a:ext cx="385119" cy="294786"/>
          </a:xfrm>
          <a:prstGeom prst="right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6" name="Flecha: a la derecha 35">
            <a:extLst>
              <a:ext uri="{FF2B5EF4-FFF2-40B4-BE49-F238E27FC236}">
                <a16:creationId xmlns:a16="http://schemas.microsoft.com/office/drawing/2014/main" id="{2677E211-0E59-96F6-7AE0-82E164768E13}"/>
              </a:ext>
            </a:extLst>
          </p:cNvPr>
          <p:cNvSpPr/>
          <p:nvPr/>
        </p:nvSpPr>
        <p:spPr>
          <a:xfrm>
            <a:off x="6071091" y="4030399"/>
            <a:ext cx="385119" cy="294786"/>
          </a:xfrm>
          <a:prstGeom prst="right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7" name="Flecha: a la derecha 36">
            <a:extLst>
              <a:ext uri="{FF2B5EF4-FFF2-40B4-BE49-F238E27FC236}">
                <a16:creationId xmlns:a16="http://schemas.microsoft.com/office/drawing/2014/main" id="{60106E28-4E46-836D-9DB8-1FE39A5920B6}"/>
              </a:ext>
            </a:extLst>
          </p:cNvPr>
          <p:cNvSpPr/>
          <p:nvPr/>
        </p:nvSpPr>
        <p:spPr>
          <a:xfrm>
            <a:off x="8775469" y="4049644"/>
            <a:ext cx="385119" cy="294786"/>
          </a:xfrm>
          <a:prstGeom prst="right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cxnSp>
        <p:nvCxnSpPr>
          <p:cNvPr id="40" name="Conector: angular 39">
            <a:extLst>
              <a:ext uri="{FF2B5EF4-FFF2-40B4-BE49-F238E27FC236}">
                <a16:creationId xmlns:a16="http://schemas.microsoft.com/office/drawing/2014/main" id="{39ECD2F2-BB60-5341-0260-A2B59BA56A8A}"/>
              </a:ext>
            </a:extLst>
          </p:cNvPr>
          <p:cNvCxnSpPr>
            <a:cxnSpLocks/>
            <a:stCxn id="26" idx="2"/>
            <a:endCxn id="32" idx="2"/>
          </p:cNvCxnSpPr>
          <p:nvPr/>
        </p:nvCxnSpPr>
        <p:spPr>
          <a:xfrm rot="5400000" flipH="1" flipV="1">
            <a:off x="5758228" y="1579183"/>
            <a:ext cx="1136457" cy="6703007"/>
          </a:xfrm>
          <a:prstGeom prst="bentConnector3">
            <a:avLst>
              <a:gd name="adj1" fmla="val -20115"/>
            </a:avLst>
          </a:prstGeom>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D4BA3D72-19A1-8070-5AF2-FAAFE16C919C}"/>
              </a:ext>
            </a:extLst>
          </p:cNvPr>
          <p:cNvPicPr>
            <a:picLocks noChangeAspect="1"/>
          </p:cNvPicPr>
          <p:nvPr/>
        </p:nvPicPr>
        <p:blipFill>
          <a:blip r:embed="rId9"/>
          <a:stretch>
            <a:fillRect/>
          </a:stretch>
        </p:blipFill>
        <p:spPr>
          <a:xfrm>
            <a:off x="1548793" y="1518347"/>
            <a:ext cx="924399" cy="996359"/>
          </a:xfrm>
          <a:prstGeom prst="rect">
            <a:avLst/>
          </a:prstGeom>
        </p:spPr>
      </p:pic>
      <p:pic>
        <p:nvPicPr>
          <p:cNvPr id="7" name="Imagen 6">
            <a:extLst>
              <a:ext uri="{FF2B5EF4-FFF2-40B4-BE49-F238E27FC236}">
                <a16:creationId xmlns:a16="http://schemas.microsoft.com/office/drawing/2014/main" id="{7BC6CBAE-66E2-790C-3854-49DD108D4017}"/>
              </a:ext>
            </a:extLst>
          </p:cNvPr>
          <p:cNvPicPr>
            <a:picLocks noChangeAspect="1"/>
          </p:cNvPicPr>
          <p:nvPr/>
        </p:nvPicPr>
        <p:blipFill>
          <a:blip r:embed="rId10"/>
          <a:stretch>
            <a:fillRect/>
          </a:stretch>
        </p:blipFill>
        <p:spPr>
          <a:xfrm>
            <a:off x="2838836" y="1427767"/>
            <a:ext cx="1696067" cy="1160806"/>
          </a:xfrm>
          <a:prstGeom prst="rect">
            <a:avLst/>
          </a:prstGeom>
        </p:spPr>
      </p:pic>
      <p:sp>
        <p:nvSpPr>
          <p:cNvPr id="11" name="CuadroTexto 10">
            <a:extLst>
              <a:ext uri="{FF2B5EF4-FFF2-40B4-BE49-F238E27FC236}">
                <a16:creationId xmlns:a16="http://schemas.microsoft.com/office/drawing/2014/main" id="{869BFB0B-010B-3BBC-7EC6-2ED92D03C540}"/>
              </a:ext>
            </a:extLst>
          </p:cNvPr>
          <p:cNvSpPr txBox="1"/>
          <p:nvPr/>
        </p:nvSpPr>
        <p:spPr>
          <a:xfrm>
            <a:off x="5276299" y="1408006"/>
            <a:ext cx="6332606" cy="1477328"/>
          </a:xfrm>
          <a:prstGeom prst="rect">
            <a:avLst/>
          </a:prstGeom>
          <a:noFill/>
        </p:spPr>
        <p:txBody>
          <a:bodyPr wrap="square" rtlCol="0">
            <a:spAutoFit/>
          </a:bodyPr>
          <a:lstStyle/>
          <a:p>
            <a:pPr marL="285750" indent="-285750">
              <a:buFont typeface="Arial" panose="020B0604020202020204" pitchFamily="34" charset="0"/>
              <a:buChar char="•"/>
            </a:pPr>
            <a:r>
              <a:rPr lang="es-CL" dirty="0"/>
              <a:t>Sistema público de Salud </a:t>
            </a:r>
          </a:p>
          <a:p>
            <a:r>
              <a:rPr lang="es-CL" dirty="0"/>
              <a:t>     (Hospital Guillermo Grant Benavente – Concepción) </a:t>
            </a:r>
          </a:p>
          <a:p>
            <a:pPr marL="285750" indent="-285750">
              <a:buFont typeface="Arial" panose="020B0604020202020204" pitchFamily="34" charset="0"/>
              <a:buChar char="•"/>
            </a:pPr>
            <a:r>
              <a:rPr lang="es-CL" dirty="0"/>
              <a:t>Marco garantías explicitas en salud (GES)</a:t>
            </a:r>
          </a:p>
          <a:p>
            <a:pPr marL="285750" indent="-285750">
              <a:buFont typeface="Arial" panose="020B0604020202020204" pitchFamily="34" charset="0"/>
              <a:buChar char="•"/>
            </a:pPr>
            <a:r>
              <a:rPr lang="es-CL" dirty="0"/>
              <a:t>Sintomatología</a:t>
            </a:r>
          </a:p>
          <a:p>
            <a:pPr marL="285750" indent="-285750">
              <a:buFont typeface="Arial" panose="020B0604020202020204" pitchFamily="34" charset="0"/>
              <a:buChar char="•"/>
            </a:pPr>
            <a:r>
              <a:rPr lang="es-CL" dirty="0"/>
              <a:t>Diagnóstico CCR</a:t>
            </a:r>
          </a:p>
        </p:txBody>
      </p:sp>
      <p:pic>
        <p:nvPicPr>
          <p:cNvPr id="12" name="Imagen 11">
            <a:extLst>
              <a:ext uri="{FF2B5EF4-FFF2-40B4-BE49-F238E27FC236}">
                <a16:creationId xmlns:a16="http://schemas.microsoft.com/office/drawing/2014/main" id="{418B5070-02F5-10E2-33E8-BD3AC7FE23EA}"/>
              </a:ext>
            </a:extLst>
          </p:cNvPr>
          <p:cNvPicPr>
            <a:picLocks noChangeAspect="1"/>
          </p:cNvPicPr>
          <p:nvPr/>
        </p:nvPicPr>
        <p:blipFill>
          <a:blip r:embed="rId11"/>
          <a:stretch>
            <a:fillRect/>
          </a:stretch>
        </p:blipFill>
        <p:spPr>
          <a:xfrm>
            <a:off x="3851313" y="4738363"/>
            <a:ext cx="778581" cy="778581"/>
          </a:xfrm>
          <a:prstGeom prst="rect">
            <a:avLst/>
          </a:prstGeom>
        </p:spPr>
      </p:pic>
    </p:spTree>
    <p:extLst>
      <p:ext uri="{BB962C8B-B14F-4D97-AF65-F5344CB8AC3E}">
        <p14:creationId xmlns:p14="http://schemas.microsoft.com/office/powerpoint/2010/main" val="3986235982"/>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19DAE-9B5E-8FB8-8063-037BBB1054D8}"/>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38240016-205C-1E2D-87DA-5EE111535CA2}"/>
              </a:ext>
            </a:extLst>
          </p:cNvPr>
          <p:cNvSpPr/>
          <p:nvPr/>
        </p:nvSpPr>
        <p:spPr>
          <a:xfrm>
            <a:off x="0" y="8253"/>
            <a:ext cx="12206868" cy="879865"/>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pic>
        <p:nvPicPr>
          <p:cNvPr id="2" name="Imagen 1">
            <a:extLst>
              <a:ext uri="{FF2B5EF4-FFF2-40B4-BE49-F238E27FC236}">
                <a16:creationId xmlns:a16="http://schemas.microsoft.com/office/drawing/2014/main" id="{2421972C-7DEE-9C24-6B53-6A585B759EA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658342" y="-60091"/>
            <a:ext cx="2996324" cy="1014884"/>
          </a:xfrm>
          <a:prstGeom prst="rect">
            <a:avLst/>
          </a:prstGeom>
        </p:spPr>
      </p:pic>
      <p:sp>
        <p:nvSpPr>
          <p:cNvPr id="8" name="Rectángulo 7">
            <a:extLst>
              <a:ext uri="{FF2B5EF4-FFF2-40B4-BE49-F238E27FC236}">
                <a16:creationId xmlns:a16="http://schemas.microsoft.com/office/drawing/2014/main" id="{2EAD4F1C-2C93-1AD0-BA2F-EC397860B3CA}"/>
              </a:ext>
            </a:extLst>
          </p:cNvPr>
          <p:cNvSpPr/>
          <p:nvPr/>
        </p:nvSpPr>
        <p:spPr>
          <a:xfrm>
            <a:off x="0" y="6276975"/>
            <a:ext cx="12206868" cy="572772"/>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sp>
        <p:nvSpPr>
          <p:cNvPr id="10" name="Marcador de número de diapositiva 9">
            <a:extLst>
              <a:ext uri="{FF2B5EF4-FFF2-40B4-BE49-F238E27FC236}">
                <a16:creationId xmlns:a16="http://schemas.microsoft.com/office/drawing/2014/main" id="{D520FE57-66FF-FFEF-6F35-2A98EC68DEE3}"/>
              </a:ext>
            </a:extLst>
          </p:cNvPr>
          <p:cNvSpPr>
            <a:spLocks noGrp="1"/>
          </p:cNvSpPr>
          <p:nvPr>
            <p:ph type="sldNum" sz="quarter" idx="12"/>
          </p:nvPr>
        </p:nvSpPr>
        <p:spPr/>
        <p:txBody>
          <a:bodyPr/>
          <a:lstStyle/>
          <a:p>
            <a:fld id="{524E32BF-339A-4FD7-AF2D-884DBB49ECE9}" type="slidenum">
              <a:rPr lang="es-CL" smtClean="0"/>
              <a:t>4</a:t>
            </a:fld>
            <a:endParaRPr lang="es-CL" dirty="0"/>
          </a:p>
        </p:txBody>
      </p:sp>
      <p:sp>
        <p:nvSpPr>
          <p:cNvPr id="16" name="Marcador de pie de página 15">
            <a:extLst>
              <a:ext uri="{FF2B5EF4-FFF2-40B4-BE49-F238E27FC236}">
                <a16:creationId xmlns:a16="http://schemas.microsoft.com/office/drawing/2014/main" id="{06E5466C-7D0A-674D-FC07-AFEE9BB53608}"/>
              </a:ext>
            </a:extLst>
          </p:cNvPr>
          <p:cNvSpPr>
            <a:spLocks noGrp="1"/>
          </p:cNvSpPr>
          <p:nvPr>
            <p:ph type="ftr" sz="quarter" idx="11"/>
          </p:nvPr>
        </p:nvSpPr>
        <p:spPr/>
        <p:txBody>
          <a:bodyPr/>
          <a:lstStyle/>
          <a:p>
            <a:r>
              <a:rPr lang="es-MX" dirty="0"/>
              <a:t>MSI600 - INTRODUCCIÓN CIENCIA DE DATOS</a:t>
            </a:r>
            <a:endParaRPr lang="es-CL" dirty="0"/>
          </a:p>
        </p:txBody>
      </p:sp>
      <p:sp>
        <p:nvSpPr>
          <p:cNvPr id="3" name="CuadroTexto 2">
            <a:extLst>
              <a:ext uri="{FF2B5EF4-FFF2-40B4-BE49-F238E27FC236}">
                <a16:creationId xmlns:a16="http://schemas.microsoft.com/office/drawing/2014/main" id="{6A866165-9B94-7F89-66F8-F5BAE2E0CCDB}"/>
              </a:ext>
            </a:extLst>
          </p:cNvPr>
          <p:cNvSpPr txBox="1"/>
          <p:nvPr/>
        </p:nvSpPr>
        <p:spPr>
          <a:xfrm>
            <a:off x="361949" y="231182"/>
            <a:ext cx="8535891" cy="369332"/>
          </a:xfrm>
          <a:prstGeom prst="rect">
            <a:avLst/>
          </a:prstGeom>
          <a:noFill/>
        </p:spPr>
        <p:txBody>
          <a:bodyPr wrap="square" rtlCol="0">
            <a:spAutoFit/>
          </a:bodyPr>
          <a:lstStyle/>
          <a:p>
            <a:endParaRPr lang="es-CL" dirty="0"/>
          </a:p>
        </p:txBody>
      </p:sp>
      <p:sp>
        <p:nvSpPr>
          <p:cNvPr id="5" name="CuadroTexto 4">
            <a:extLst>
              <a:ext uri="{FF2B5EF4-FFF2-40B4-BE49-F238E27FC236}">
                <a16:creationId xmlns:a16="http://schemas.microsoft.com/office/drawing/2014/main" id="{CDB2B263-EF8C-AA38-4F85-EE05B40D63D3}"/>
              </a:ext>
            </a:extLst>
          </p:cNvPr>
          <p:cNvSpPr txBox="1"/>
          <p:nvPr/>
        </p:nvSpPr>
        <p:spPr>
          <a:xfrm>
            <a:off x="361949" y="231182"/>
            <a:ext cx="8535891" cy="461665"/>
          </a:xfrm>
          <a:prstGeom prst="rect">
            <a:avLst/>
          </a:prstGeom>
          <a:noFill/>
        </p:spPr>
        <p:txBody>
          <a:bodyPr wrap="square" rtlCol="0">
            <a:spAutoFit/>
          </a:bodyPr>
          <a:lstStyle/>
          <a:p>
            <a:r>
              <a:rPr lang="es-MX" sz="2400" dirty="0">
                <a:solidFill>
                  <a:srgbClr val="FFFFFF"/>
                </a:solidFill>
                <a:latin typeface="Montserrat" pitchFamily="2" charset="77"/>
                <a:ea typeface="+mj-ea"/>
                <a:cs typeface="Calibri Light"/>
              </a:rPr>
              <a:t>Objetivos</a:t>
            </a:r>
            <a:endParaRPr lang="es-CL" dirty="0"/>
          </a:p>
        </p:txBody>
      </p:sp>
      <p:graphicFrame>
        <p:nvGraphicFramePr>
          <p:cNvPr id="22" name="Diagrama 21">
            <a:extLst>
              <a:ext uri="{FF2B5EF4-FFF2-40B4-BE49-F238E27FC236}">
                <a16:creationId xmlns:a16="http://schemas.microsoft.com/office/drawing/2014/main" id="{7D8AD011-35EE-DA80-96CD-D942BB259663}"/>
              </a:ext>
            </a:extLst>
          </p:cNvPr>
          <p:cNvGraphicFramePr/>
          <p:nvPr>
            <p:extLst>
              <p:ext uri="{D42A27DB-BD31-4B8C-83A1-F6EECF244321}">
                <p14:modId xmlns:p14="http://schemas.microsoft.com/office/powerpoint/2010/main" val="3765128849"/>
              </p:ext>
            </p:extLst>
          </p:nvPr>
        </p:nvGraphicFramePr>
        <p:xfrm>
          <a:off x="450057" y="3357563"/>
          <a:ext cx="11370468" cy="257459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6" name="Rectángulo 25">
            <a:extLst>
              <a:ext uri="{FF2B5EF4-FFF2-40B4-BE49-F238E27FC236}">
                <a16:creationId xmlns:a16="http://schemas.microsoft.com/office/drawing/2014/main" id="{8A3831D4-F78F-2C9D-1243-91B06D2FCF68}"/>
              </a:ext>
            </a:extLst>
          </p:cNvPr>
          <p:cNvSpPr/>
          <p:nvPr/>
        </p:nvSpPr>
        <p:spPr>
          <a:xfrm>
            <a:off x="450057" y="1577758"/>
            <a:ext cx="11370468" cy="933130"/>
          </a:xfrm>
          <a:prstGeom prst="rect">
            <a:avLst/>
          </a:prstGeom>
          <a:ln>
            <a:solidFill>
              <a:schemeClr val="accent2">
                <a:lumMod val="75000"/>
              </a:schemeClr>
            </a:solidFill>
          </a:ln>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a:lstStyle/>
          <a:p>
            <a:endParaRPr lang="es-CL" dirty="0"/>
          </a:p>
        </p:txBody>
      </p:sp>
      <p:sp>
        <p:nvSpPr>
          <p:cNvPr id="27" name="CuadroTexto 26">
            <a:extLst>
              <a:ext uri="{FF2B5EF4-FFF2-40B4-BE49-F238E27FC236}">
                <a16:creationId xmlns:a16="http://schemas.microsoft.com/office/drawing/2014/main" id="{F953CE9B-247B-81FA-EA8E-E9281DE5F0E4}"/>
              </a:ext>
            </a:extLst>
          </p:cNvPr>
          <p:cNvSpPr txBox="1"/>
          <p:nvPr/>
        </p:nvSpPr>
        <p:spPr>
          <a:xfrm>
            <a:off x="557212" y="1713802"/>
            <a:ext cx="11184731" cy="646331"/>
          </a:xfrm>
          <a:prstGeom prst="rect">
            <a:avLst/>
          </a:prstGeom>
          <a:noFill/>
        </p:spPr>
        <p:txBody>
          <a:bodyPr wrap="square" rtlCol="0">
            <a:spAutoFit/>
          </a:bodyPr>
          <a:lstStyle/>
          <a:p>
            <a:pPr algn="just"/>
            <a:r>
              <a:rPr lang="es-MX" dirty="0"/>
              <a:t>Desarrollar un modelo predictivo basado en síntomas clínicos para el diagnóstico de cáncer colorrectal, optimizando la priorización de pacientes derivados a colonoscopia según las directrices del GES.</a:t>
            </a:r>
            <a:endParaRPr lang="es-CL" sz="1400" dirty="0"/>
          </a:p>
        </p:txBody>
      </p:sp>
      <p:sp>
        <p:nvSpPr>
          <p:cNvPr id="28" name="Rectángulo: esquinas redondeadas 27">
            <a:extLst>
              <a:ext uri="{FF2B5EF4-FFF2-40B4-BE49-F238E27FC236}">
                <a16:creationId xmlns:a16="http://schemas.microsoft.com/office/drawing/2014/main" id="{19D6226E-3778-66B0-111E-0A00A060463E}"/>
              </a:ext>
            </a:extLst>
          </p:cNvPr>
          <p:cNvSpPr/>
          <p:nvPr/>
        </p:nvSpPr>
        <p:spPr>
          <a:xfrm>
            <a:off x="450057" y="1050949"/>
            <a:ext cx="4572000" cy="396240"/>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L" dirty="0"/>
              <a:t>Objetivo General : </a:t>
            </a:r>
          </a:p>
        </p:txBody>
      </p:sp>
      <p:sp>
        <p:nvSpPr>
          <p:cNvPr id="29" name="Rectángulo: esquinas redondeadas 28">
            <a:extLst>
              <a:ext uri="{FF2B5EF4-FFF2-40B4-BE49-F238E27FC236}">
                <a16:creationId xmlns:a16="http://schemas.microsoft.com/office/drawing/2014/main" id="{37F95DEB-8FE5-4B6D-21CA-3DE7188E7555}"/>
              </a:ext>
            </a:extLst>
          </p:cNvPr>
          <p:cNvSpPr/>
          <p:nvPr/>
        </p:nvSpPr>
        <p:spPr>
          <a:xfrm>
            <a:off x="450057" y="3159443"/>
            <a:ext cx="4572000" cy="396240"/>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L" dirty="0"/>
              <a:t>Objetivos Específicos :</a:t>
            </a:r>
          </a:p>
        </p:txBody>
      </p:sp>
    </p:spTree>
    <p:extLst>
      <p:ext uri="{BB962C8B-B14F-4D97-AF65-F5344CB8AC3E}">
        <p14:creationId xmlns:p14="http://schemas.microsoft.com/office/powerpoint/2010/main" val="3839400419"/>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3CBFF-F67E-927A-906F-56384C337207}"/>
            </a:ext>
          </a:extLst>
        </p:cNvPr>
        <p:cNvGrpSpPr/>
        <p:nvPr/>
      </p:nvGrpSpPr>
      <p:grpSpPr>
        <a:xfrm>
          <a:off x="0" y="0"/>
          <a:ext cx="0" cy="0"/>
          <a:chOff x="0" y="0"/>
          <a:chExt cx="0" cy="0"/>
        </a:xfrm>
      </p:grpSpPr>
      <p:sp>
        <p:nvSpPr>
          <p:cNvPr id="26" name="Rectángulo 25">
            <a:extLst>
              <a:ext uri="{FF2B5EF4-FFF2-40B4-BE49-F238E27FC236}">
                <a16:creationId xmlns:a16="http://schemas.microsoft.com/office/drawing/2014/main" id="{42F8905C-B835-6723-A333-D8BD796ED088}"/>
              </a:ext>
            </a:extLst>
          </p:cNvPr>
          <p:cNvSpPr/>
          <p:nvPr/>
        </p:nvSpPr>
        <p:spPr>
          <a:xfrm rot="5400000">
            <a:off x="7581076" y="3674231"/>
            <a:ext cx="913577" cy="105298"/>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2" name="Rectángulo 21">
            <a:extLst>
              <a:ext uri="{FF2B5EF4-FFF2-40B4-BE49-F238E27FC236}">
                <a16:creationId xmlns:a16="http://schemas.microsoft.com/office/drawing/2014/main" id="{1ED65FE9-BBD8-254C-BAE9-7F35A95DF9E8}"/>
              </a:ext>
            </a:extLst>
          </p:cNvPr>
          <p:cNvSpPr/>
          <p:nvPr/>
        </p:nvSpPr>
        <p:spPr>
          <a:xfrm rot="5400000">
            <a:off x="3264887" y="3881377"/>
            <a:ext cx="1215971" cy="105298"/>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4" name="Rectángulo 3">
            <a:extLst>
              <a:ext uri="{FF2B5EF4-FFF2-40B4-BE49-F238E27FC236}">
                <a16:creationId xmlns:a16="http://schemas.microsoft.com/office/drawing/2014/main" id="{F597D920-9881-FF58-3BE3-D21F41E9CD8D}"/>
              </a:ext>
            </a:extLst>
          </p:cNvPr>
          <p:cNvSpPr/>
          <p:nvPr/>
        </p:nvSpPr>
        <p:spPr>
          <a:xfrm>
            <a:off x="0" y="8253"/>
            <a:ext cx="12206868" cy="879865"/>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pic>
        <p:nvPicPr>
          <p:cNvPr id="2" name="Imagen 1">
            <a:extLst>
              <a:ext uri="{FF2B5EF4-FFF2-40B4-BE49-F238E27FC236}">
                <a16:creationId xmlns:a16="http://schemas.microsoft.com/office/drawing/2014/main" id="{7D86E119-6164-A986-41D8-B0850A67063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658342" y="-60091"/>
            <a:ext cx="2996324" cy="1014884"/>
          </a:xfrm>
          <a:prstGeom prst="rect">
            <a:avLst/>
          </a:prstGeom>
        </p:spPr>
      </p:pic>
      <p:sp>
        <p:nvSpPr>
          <p:cNvPr id="8" name="Rectángulo 7">
            <a:extLst>
              <a:ext uri="{FF2B5EF4-FFF2-40B4-BE49-F238E27FC236}">
                <a16:creationId xmlns:a16="http://schemas.microsoft.com/office/drawing/2014/main" id="{DF1D8DB6-C1BD-71A0-9469-7B1FCF2035D1}"/>
              </a:ext>
            </a:extLst>
          </p:cNvPr>
          <p:cNvSpPr/>
          <p:nvPr/>
        </p:nvSpPr>
        <p:spPr>
          <a:xfrm>
            <a:off x="0" y="6276975"/>
            <a:ext cx="12206868" cy="572772"/>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sp>
        <p:nvSpPr>
          <p:cNvPr id="10" name="Marcador de número de diapositiva 9">
            <a:extLst>
              <a:ext uri="{FF2B5EF4-FFF2-40B4-BE49-F238E27FC236}">
                <a16:creationId xmlns:a16="http://schemas.microsoft.com/office/drawing/2014/main" id="{D47BA54E-086F-94E4-A954-FBB625532AD1}"/>
              </a:ext>
            </a:extLst>
          </p:cNvPr>
          <p:cNvSpPr>
            <a:spLocks noGrp="1"/>
          </p:cNvSpPr>
          <p:nvPr>
            <p:ph type="sldNum" sz="quarter" idx="12"/>
          </p:nvPr>
        </p:nvSpPr>
        <p:spPr/>
        <p:txBody>
          <a:bodyPr/>
          <a:lstStyle/>
          <a:p>
            <a:fld id="{524E32BF-339A-4FD7-AF2D-884DBB49ECE9}" type="slidenum">
              <a:rPr lang="es-CL" smtClean="0"/>
              <a:t>5</a:t>
            </a:fld>
            <a:endParaRPr lang="es-CL" dirty="0"/>
          </a:p>
        </p:txBody>
      </p:sp>
      <p:sp>
        <p:nvSpPr>
          <p:cNvPr id="3" name="Marcador de pie de página 2">
            <a:extLst>
              <a:ext uri="{FF2B5EF4-FFF2-40B4-BE49-F238E27FC236}">
                <a16:creationId xmlns:a16="http://schemas.microsoft.com/office/drawing/2014/main" id="{B664C3D0-9A0D-FF55-D3F4-E2097D2E259F}"/>
              </a:ext>
            </a:extLst>
          </p:cNvPr>
          <p:cNvSpPr>
            <a:spLocks noGrp="1"/>
          </p:cNvSpPr>
          <p:nvPr>
            <p:ph type="ftr" sz="quarter" idx="11"/>
          </p:nvPr>
        </p:nvSpPr>
        <p:spPr/>
        <p:txBody>
          <a:bodyPr/>
          <a:lstStyle/>
          <a:p>
            <a:r>
              <a:rPr lang="es-MX" dirty="0"/>
              <a:t>MSI600 - INTRODUCCIÓN CIENCIA DE DATOS</a:t>
            </a:r>
            <a:endParaRPr lang="es-CL" dirty="0"/>
          </a:p>
        </p:txBody>
      </p:sp>
      <p:sp>
        <p:nvSpPr>
          <p:cNvPr id="5" name="CuadroTexto 4">
            <a:extLst>
              <a:ext uri="{FF2B5EF4-FFF2-40B4-BE49-F238E27FC236}">
                <a16:creationId xmlns:a16="http://schemas.microsoft.com/office/drawing/2014/main" id="{0D14D28D-7BE9-EB10-65EF-FE768C101711}"/>
              </a:ext>
            </a:extLst>
          </p:cNvPr>
          <p:cNvSpPr txBox="1"/>
          <p:nvPr/>
        </p:nvSpPr>
        <p:spPr>
          <a:xfrm>
            <a:off x="361949" y="231182"/>
            <a:ext cx="8535891" cy="461665"/>
          </a:xfrm>
          <a:prstGeom prst="rect">
            <a:avLst/>
          </a:prstGeom>
          <a:noFill/>
        </p:spPr>
        <p:txBody>
          <a:bodyPr wrap="square" rtlCol="0">
            <a:spAutoFit/>
          </a:bodyPr>
          <a:lstStyle/>
          <a:p>
            <a:r>
              <a:rPr lang="es-MX" sz="2400" dirty="0">
                <a:solidFill>
                  <a:srgbClr val="FFFFFF"/>
                </a:solidFill>
                <a:latin typeface="Montserrat" pitchFamily="2" charset="77"/>
                <a:ea typeface="+mj-ea"/>
                <a:cs typeface="Calibri Light"/>
              </a:rPr>
              <a:t>Descripción del Problema</a:t>
            </a:r>
            <a:endParaRPr lang="es-CL" dirty="0"/>
          </a:p>
        </p:txBody>
      </p:sp>
      <p:pic>
        <p:nvPicPr>
          <p:cNvPr id="6" name="Imagen 5">
            <a:extLst>
              <a:ext uri="{FF2B5EF4-FFF2-40B4-BE49-F238E27FC236}">
                <a16:creationId xmlns:a16="http://schemas.microsoft.com/office/drawing/2014/main" id="{5C9022A7-5CD1-4C7E-195A-EE3868AE6CE5}"/>
              </a:ext>
            </a:extLst>
          </p:cNvPr>
          <p:cNvPicPr>
            <a:picLocks noChangeAspect="1"/>
          </p:cNvPicPr>
          <p:nvPr/>
        </p:nvPicPr>
        <p:blipFill>
          <a:blip r:embed="rId5"/>
          <a:stretch>
            <a:fillRect/>
          </a:stretch>
        </p:blipFill>
        <p:spPr>
          <a:xfrm>
            <a:off x="564357" y="2248809"/>
            <a:ext cx="1619250" cy="1714500"/>
          </a:xfrm>
          <a:prstGeom prst="rect">
            <a:avLst/>
          </a:prstGeom>
        </p:spPr>
      </p:pic>
      <p:pic>
        <p:nvPicPr>
          <p:cNvPr id="3074" name="Picture 2" descr="908 vectores de stock y arte vectorial de Alta prioridad | Shutterstock">
            <a:extLst>
              <a:ext uri="{FF2B5EF4-FFF2-40B4-BE49-F238E27FC236}">
                <a16:creationId xmlns:a16="http://schemas.microsoft.com/office/drawing/2014/main" id="{897B9DE8-9A18-A665-BC27-28982FF519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28728" y="2506312"/>
            <a:ext cx="1557164" cy="77858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olonoscopy patient: Más de 630 ilustraciones y dibujos de stock con  licencia libres de regalías | Shutterstock">
            <a:extLst>
              <a:ext uri="{FF2B5EF4-FFF2-40B4-BE49-F238E27FC236}">
                <a16:creationId xmlns:a16="http://schemas.microsoft.com/office/drawing/2014/main" id="{9427DC93-5BF4-7903-E1EC-B198D9BB46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1912" y="1235228"/>
            <a:ext cx="1589485" cy="1589485"/>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F9615228-36F5-36B9-8754-03E0B8B258BE}"/>
              </a:ext>
            </a:extLst>
          </p:cNvPr>
          <p:cNvPicPr>
            <a:picLocks noChangeAspect="1"/>
          </p:cNvPicPr>
          <p:nvPr/>
        </p:nvPicPr>
        <p:blipFill>
          <a:blip r:embed="rId8"/>
          <a:stretch>
            <a:fillRect/>
          </a:stretch>
        </p:blipFill>
        <p:spPr>
          <a:xfrm>
            <a:off x="9799151" y="2807822"/>
            <a:ext cx="1303315" cy="867297"/>
          </a:xfrm>
          <a:prstGeom prst="rect">
            <a:avLst/>
          </a:prstGeom>
        </p:spPr>
      </p:pic>
      <p:pic>
        <p:nvPicPr>
          <p:cNvPr id="11" name="Imagen 10">
            <a:extLst>
              <a:ext uri="{FF2B5EF4-FFF2-40B4-BE49-F238E27FC236}">
                <a16:creationId xmlns:a16="http://schemas.microsoft.com/office/drawing/2014/main" id="{49048725-4A81-77A0-E174-BA2A3E4D669B}"/>
              </a:ext>
            </a:extLst>
          </p:cNvPr>
          <p:cNvPicPr>
            <a:picLocks noChangeAspect="1"/>
          </p:cNvPicPr>
          <p:nvPr/>
        </p:nvPicPr>
        <p:blipFill>
          <a:blip r:embed="rId9"/>
          <a:stretch>
            <a:fillRect/>
          </a:stretch>
        </p:blipFill>
        <p:spPr>
          <a:xfrm>
            <a:off x="3474093" y="2094333"/>
            <a:ext cx="778581" cy="778581"/>
          </a:xfrm>
          <a:prstGeom prst="rect">
            <a:avLst/>
          </a:prstGeom>
        </p:spPr>
      </p:pic>
      <p:sp>
        <p:nvSpPr>
          <p:cNvPr id="12" name="CuadroTexto 11">
            <a:extLst>
              <a:ext uri="{FF2B5EF4-FFF2-40B4-BE49-F238E27FC236}">
                <a16:creationId xmlns:a16="http://schemas.microsoft.com/office/drawing/2014/main" id="{69BDD655-8F92-E5D5-ED1B-DF8E1DC383B5}"/>
              </a:ext>
            </a:extLst>
          </p:cNvPr>
          <p:cNvSpPr txBox="1"/>
          <p:nvPr/>
        </p:nvSpPr>
        <p:spPr>
          <a:xfrm>
            <a:off x="2995170" y="1652050"/>
            <a:ext cx="1988896" cy="338554"/>
          </a:xfrm>
          <a:prstGeom prst="rect">
            <a:avLst/>
          </a:prstGeom>
          <a:noFill/>
        </p:spPr>
        <p:txBody>
          <a:bodyPr wrap="square" rtlCol="0">
            <a:spAutoFit/>
          </a:bodyPr>
          <a:lstStyle/>
          <a:p>
            <a:r>
              <a:rPr lang="es-CL" sz="1600" dirty="0"/>
              <a:t>Síntomas guías GES</a:t>
            </a:r>
          </a:p>
        </p:txBody>
      </p:sp>
      <p:sp>
        <p:nvSpPr>
          <p:cNvPr id="16" name="Rectángulo 15">
            <a:extLst>
              <a:ext uri="{FF2B5EF4-FFF2-40B4-BE49-F238E27FC236}">
                <a16:creationId xmlns:a16="http://schemas.microsoft.com/office/drawing/2014/main" id="{B2FFCCBE-DBAA-AEF1-FA41-1312367712DA}"/>
              </a:ext>
            </a:extLst>
          </p:cNvPr>
          <p:cNvSpPr/>
          <p:nvPr/>
        </p:nvSpPr>
        <p:spPr>
          <a:xfrm>
            <a:off x="2465852" y="3171823"/>
            <a:ext cx="6760700" cy="9572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17" name="Elipse 16">
            <a:extLst>
              <a:ext uri="{FF2B5EF4-FFF2-40B4-BE49-F238E27FC236}">
                <a16:creationId xmlns:a16="http://schemas.microsoft.com/office/drawing/2014/main" id="{A83F6AAD-E71D-1CEB-35C9-D87C7E025F15}"/>
              </a:ext>
            </a:extLst>
          </p:cNvPr>
          <p:cNvSpPr/>
          <p:nvPr/>
        </p:nvSpPr>
        <p:spPr>
          <a:xfrm>
            <a:off x="3756128" y="3104355"/>
            <a:ext cx="233490" cy="2306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19" name="Elipse 18">
            <a:extLst>
              <a:ext uri="{FF2B5EF4-FFF2-40B4-BE49-F238E27FC236}">
                <a16:creationId xmlns:a16="http://schemas.microsoft.com/office/drawing/2014/main" id="{EBBB1A4F-6380-8DA0-F533-A8D139F3DAFF}"/>
              </a:ext>
            </a:extLst>
          </p:cNvPr>
          <p:cNvSpPr/>
          <p:nvPr/>
        </p:nvSpPr>
        <p:spPr>
          <a:xfrm>
            <a:off x="7919910" y="3104354"/>
            <a:ext cx="233490" cy="2306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0" name="CuadroTexto 19">
            <a:extLst>
              <a:ext uri="{FF2B5EF4-FFF2-40B4-BE49-F238E27FC236}">
                <a16:creationId xmlns:a16="http://schemas.microsoft.com/office/drawing/2014/main" id="{1CF88EAF-ED9F-33B4-0A61-2F8A5A6E921C}"/>
              </a:ext>
            </a:extLst>
          </p:cNvPr>
          <p:cNvSpPr txBox="1"/>
          <p:nvPr/>
        </p:nvSpPr>
        <p:spPr>
          <a:xfrm>
            <a:off x="6843268" y="5187014"/>
            <a:ext cx="2838598" cy="923330"/>
          </a:xfrm>
          <a:prstGeom prst="rect">
            <a:avLst/>
          </a:prstGeom>
          <a:noFill/>
        </p:spPr>
        <p:txBody>
          <a:bodyPr wrap="none" rtlCol="0">
            <a:spAutoFit/>
          </a:bodyPr>
          <a:lstStyle/>
          <a:p>
            <a:pPr marL="285750" indent="-285750">
              <a:buFont typeface="Arial" panose="020B0604020202020204" pitchFamily="34" charset="0"/>
              <a:buChar char="•"/>
            </a:pPr>
            <a:r>
              <a:rPr lang="es-CL" dirty="0"/>
              <a:t>Procedimientos costosos</a:t>
            </a:r>
          </a:p>
          <a:p>
            <a:pPr marL="285750" indent="-285750">
              <a:buFont typeface="Arial" panose="020B0604020202020204" pitchFamily="34" charset="0"/>
              <a:buChar char="•"/>
            </a:pPr>
            <a:r>
              <a:rPr lang="es-CL" dirty="0"/>
              <a:t>Capacidad limitada</a:t>
            </a:r>
          </a:p>
          <a:p>
            <a:pPr marL="285750" indent="-285750">
              <a:buFont typeface="Arial" panose="020B0604020202020204" pitchFamily="34" charset="0"/>
              <a:buChar char="•"/>
            </a:pPr>
            <a:r>
              <a:rPr lang="es-CL" dirty="0"/>
              <a:t>Optimización de recursos</a:t>
            </a:r>
          </a:p>
        </p:txBody>
      </p:sp>
      <p:pic>
        <p:nvPicPr>
          <p:cNvPr id="3082" name="Picture 10" descr="241.900+ Concentracion Ilustraciones de Stock, gráficos vectoriales libres  de derechos y clip art - iStock | Pensar, Cerebro, Atencion">
            <a:extLst>
              <a:ext uri="{FF2B5EF4-FFF2-40B4-BE49-F238E27FC236}">
                <a16:creationId xmlns:a16="http://schemas.microsoft.com/office/drawing/2014/main" id="{074F7BDE-1B82-3C76-BC01-541A44900C5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50700" y="4230407"/>
            <a:ext cx="844346" cy="844346"/>
          </a:xfrm>
          <a:prstGeom prst="rect">
            <a:avLst/>
          </a:prstGeom>
          <a:noFill/>
          <a:extLst>
            <a:ext uri="{909E8E84-426E-40DD-AFC4-6F175D3DCCD1}">
              <a14:hiddenFill xmlns:a14="http://schemas.microsoft.com/office/drawing/2010/main">
                <a:solidFill>
                  <a:srgbClr val="FFFFFF"/>
                </a:solidFill>
              </a14:hiddenFill>
            </a:ext>
          </a:extLst>
        </p:spPr>
      </p:pic>
      <p:sp>
        <p:nvSpPr>
          <p:cNvPr id="21" name="CuadroTexto 20">
            <a:extLst>
              <a:ext uri="{FF2B5EF4-FFF2-40B4-BE49-F238E27FC236}">
                <a16:creationId xmlns:a16="http://schemas.microsoft.com/office/drawing/2014/main" id="{8833623F-1898-DED9-00F6-BA92D018E6E9}"/>
              </a:ext>
            </a:extLst>
          </p:cNvPr>
          <p:cNvSpPr txBox="1"/>
          <p:nvPr/>
        </p:nvSpPr>
        <p:spPr>
          <a:xfrm>
            <a:off x="3367596" y="4996439"/>
            <a:ext cx="1244044" cy="584775"/>
          </a:xfrm>
          <a:prstGeom prst="rect">
            <a:avLst/>
          </a:prstGeom>
          <a:noFill/>
        </p:spPr>
        <p:txBody>
          <a:bodyPr wrap="square" rtlCol="0">
            <a:spAutoFit/>
          </a:bodyPr>
          <a:lstStyle/>
          <a:p>
            <a:r>
              <a:rPr lang="es-CL" sz="1600" dirty="0"/>
              <a:t>Dificultad </a:t>
            </a:r>
          </a:p>
          <a:p>
            <a:r>
              <a:rPr lang="es-CL" sz="1600" dirty="0"/>
              <a:t>Priorización</a:t>
            </a:r>
          </a:p>
        </p:txBody>
      </p:sp>
      <p:sp>
        <p:nvSpPr>
          <p:cNvPr id="23" name="CuadroTexto 22">
            <a:extLst>
              <a:ext uri="{FF2B5EF4-FFF2-40B4-BE49-F238E27FC236}">
                <a16:creationId xmlns:a16="http://schemas.microsoft.com/office/drawing/2014/main" id="{8254A347-97F3-9EE5-85BD-DD5231AE1997}"/>
              </a:ext>
            </a:extLst>
          </p:cNvPr>
          <p:cNvSpPr txBox="1"/>
          <p:nvPr/>
        </p:nvSpPr>
        <p:spPr>
          <a:xfrm>
            <a:off x="9862055" y="2486159"/>
            <a:ext cx="1227188" cy="338554"/>
          </a:xfrm>
          <a:prstGeom prst="rect">
            <a:avLst/>
          </a:prstGeom>
          <a:noFill/>
        </p:spPr>
        <p:txBody>
          <a:bodyPr wrap="square" rtlCol="0">
            <a:spAutoFit/>
          </a:bodyPr>
          <a:lstStyle/>
          <a:p>
            <a:r>
              <a:rPr lang="es-CL" sz="1600" dirty="0"/>
              <a:t>CCR Positivo</a:t>
            </a:r>
          </a:p>
        </p:txBody>
      </p:sp>
      <p:sp>
        <p:nvSpPr>
          <p:cNvPr id="24" name="CuadroTexto 23">
            <a:extLst>
              <a:ext uri="{FF2B5EF4-FFF2-40B4-BE49-F238E27FC236}">
                <a16:creationId xmlns:a16="http://schemas.microsoft.com/office/drawing/2014/main" id="{4A329C57-94B6-359B-18F7-66DD60FD9652}"/>
              </a:ext>
            </a:extLst>
          </p:cNvPr>
          <p:cNvSpPr txBox="1"/>
          <p:nvPr/>
        </p:nvSpPr>
        <p:spPr>
          <a:xfrm>
            <a:off x="10174373" y="3697490"/>
            <a:ext cx="721091" cy="400110"/>
          </a:xfrm>
          <a:prstGeom prst="rect">
            <a:avLst/>
          </a:prstGeom>
          <a:noFill/>
        </p:spPr>
        <p:txBody>
          <a:bodyPr wrap="square" rtlCol="0">
            <a:spAutoFit/>
          </a:bodyPr>
          <a:lstStyle/>
          <a:p>
            <a:r>
              <a:rPr lang="es-CL" sz="2000" b="1" dirty="0">
                <a:solidFill>
                  <a:srgbClr val="00B050"/>
                </a:solidFill>
              </a:rPr>
              <a:t>13 %</a:t>
            </a:r>
          </a:p>
        </p:txBody>
      </p:sp>
      <p:sp>
        <p:nvSpPr>
          <p:cNvPr id="25" name="CuadroTexto 24">
            <a:extLst>
              <a:ext uri="{FF2B5EF4-FFF2-40B4-BE49-F238E27FC236}">
                <a16:creationId xmlns:a16="http://schemas.microsoft.com/office/drawing/2014/main" id="{6BCA16C8-E72F-3AAB-2899-9DCF0D2114D8}"/>
              </a:ext>
            </a:extLst>
          </p:cNvPr>
          <p:cNvSpPr txBox="1"/>
          <p:nvPr/>
        </p:nvSpPr>
        <p:spPr>
          <a:xfrm>
            <a:off x="7712278" y="4263044"/>
            <a:ext cx="1796644" cy="707886"/>
          </a:xfrm>
          <a:prstGeom prst="rect">
            <a:avLst/>
          </a:prstGeom>
          <a:noFill/>
        </p:spPr>
        <p:txBody>
          <a:bodyPr wrap="square" rtlCol="0">
            <a:spAutoFit/>
          </a:bodyPr>
          <a:lstStyle/>
          <a:p>
            <a:r>
              <a:rPr lang="es-CL" sz="2000" b="1" dirty="0">
                <a:solidFill>
                  <a:srgbClr val="FF0000"/>
                </a:solidFill>
              </a:rPr>
              <a:t>87 %</a:t>
            </a:r>
          </a:p>
          <a:p>
            <a:r>
              <a:rPr lang="es-CL" sz="2000" b="1" dirty="0">
                <a:solidFill>
                  <a:srgbClr val="FF0000"/>
                </a:solidFill>
              </a:rPr>
              <a:t>Negativos</a:t>
            </a:r>
          </a:p>
        </p:txBody>
      </p:sp>
    </p:spTree>
    <p:extLst>
      <p:ext uri="{BB962C8B-B14F-4D97-AF65-F5344CB8AC3E}">
        <p14:creationId xmlns:p14="http://schemas.microsoft.com/office/powerpoint/2010/main" val="2222251790"/>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88020-872D-014F-9DDB-4E0F5987E515}"/>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72B1977A-7BB8-905C-9A9C-E8531ED74FC8}"/>
              </a:ext>
            </a:extLst>
          </p:cNvPr>
          <p:cNvSpPr/>
          <p:nvPr/>
        </p:nvSpPr>
        <p:spPr>
          <a:xfrm>
            <a:off x="0" y="8253"/>
            <a:ext cx="12206868" cy="879865"/>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pic>
        <p:nvPicPr>
          <p:cNvPr id="2" name="Imagen 1">
            <a:extLst>
              <a:ext uri="{FF2B5EF4-FFF2-40B4-BE49-F238E27FC236}">
                <a16:creationId xmlns:a16="http://schemas.microsoft.com/office/drawing/2014/main" id="{C4570E88-1B58-A18F-E5CB-47E04C616B5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658342" y="-60091"/>
            <a:ext cx="2996324" cy="1014884"/>
          </a:xfrm>
          <a:prstGeom prst="rect">
            <a:avLst/>
          </a:prstGeom>
        </p:spPr>
      </p:pic>
      <p:sp>
        <p:nvSpPr>
          <p:cNvPr id="8" name="Rectángulo 7">
            <a:extLst>
              <a:ext uri="{FF2B5EF4-FFF2-40B4-BE49-F238E27FC236}">
                <a16:creationId xmlns:a16="http://schemas.microsoft.com/office/drawing/2014/main" id="{B56EB1F7-A4D0-6E4A-8CA8-FE11E859CDC7}"/>
              </a:ext>
            </a:extLst>
          </p:cNvPr>
          <p:cNvSpPr/>
          <p:nvPr/>
        </p:nvSpPr>
        <p:spPr>
          <a:xfrm>
            <a:off x="0" y="6276975"/>
            <a:ext cx="12206868" cy="572772"/>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sp>
        <p:nvSpPr>
          <p:cNvPr id="10" name="Marcador de número de diapositiva 9">
            <a:extLst>
              <a:ext uri="{FF2B5EF4-FFF2-40B4-BE49-F238E27FC236}">
                <a16:creationId xmlns:a16="http://schemas.microsoft.com/office/drawing/2014/main" id="{8EE59AE2-36F3-541F-7DB1-2C2CFA29EFBC}"/>
              </a:ext>
            </a:extLst>
          </p:cNvPr>
          <p:cNvSpPr>
            <a:spLocks noGrp="1"/>
          </p:cNvSpPr>
          <p:nvPr>
            <p:ph type="sldNum" sz="quarter" idx="12"/>
          </p:nvPr>
        </p:nvSpPr>
        <p:spPr/>
        <p:txBody>
          <a:bodyPr/>
          <a:lstStyle/>
          <a:p>
            <a:fld id="{524E32BF-339A-4FD7-AF2D-884DBB49ECE9}" type="slidenum">
              <a:rPr lang="es-CL" smtClean="0"/>
              <a:t>6</a:t>
            </a:fld>
            <a:endParaRPr lang="es-CL" dirty="0"/>
          </a:p>
        </p:txBody>
      </p:sp>
      <p:sp>
        <p:nvSpPr>
          <p:cNvPr id="3" name="Marcador de pie de página 2">
            <a:extLst>
              <a:ext uri="{FF2B5EF4-FFF2-40B4-BE49-F238E27FC236}">
                <a16:creationId xmlns:a16="http://schemas.microsoft.com/office/drawing/2014/main" id="{DD152E6C-2F8E-6EFF-F171-C6E9A3AD32B5}"/>
              </a:ext>
            </a:extLst>
          </p:cNvPr>
          <p:cNvSpPr>
            <a:spLocks noGrp="1"/>
          </p:cNvSpPr>
          <p:nvPr>
            <p:ph type="ftr" sz="quarter" idx="11"/>
          </p:nvPr>
        </p:nvSpPr>
        <p:spPr/>
        <p:txBody>
          <a:bodyPr/>
          <a:lstStyle/>
          <a:p>
            <a:r>
              <a:rPr lang="es-MX" dirty="0"/>
              <a:t>MSI600 - INTRODUCCIÓN CIENCIA DE DATOS</a:t>
            </a:r>
            <a:endParaRPr lang="es-CL" dirty="0"/>
          </a:p>
        </p:txBody>
      </p:sp>
      <p:sp>
        <p:nvSpPr>
          <p:cNvPr id="5" name="CuadroTexto 4">
            <a:extLst>
              <a:ext uri="{FF2B5EF4-FFF2-40B4-BE49-F238E27FC236}">
                <a16:creationId xmlns:a16="http://schemas.microsoft.com/office/drawing/2014/main" id="{2543D767-9117-EE4A-4913-538A9E5A55FD}"/>
              </a:ext>
            </a:extLst>
          </p:cNvPr>
          <p:cNvSpPr txBox="1"/>
          <p:nvPr/>
        </p:nvSpPr>
        <p:spPr>
          <a:xfrm>
            <a:off x="361949" y="231182"/>
            <a:ext cx="8686801" cy="461665"/>
          </a:xfrm>
          <a:prstGeom prst="rect">
            <a:avLst/>
          </a:prstGeom>
          <a:noFill/>
        </p:spPr>
        <p:txBody>
          <a:bodyPr wrap="square" rtlCol="0">
            <a:spAutoFit/>
          </a:bodyPr>
          <a:lstStyle/>
          <a:p>
            <a:r>
              <a:rPr lang="es-MX" sz="2400" dirty="0">
                <a:solidFill>
                  <a:srgbClr val="FFFFFF"/>
                </a:solidFill>
                <a:latin typeface="Montserrat" pitchFamily="2" charset="77"/>
                <a:ea typeface="+mj-ea"/>
                <a:cs typeface="Calibri Light"/>
              </a:rPr>
              <a:t>Metodología y Técnicas de Ciencia de Datos empleadas</a:t>
            </a:r>
            <a:endParaRPr lang="es-CL" dirty="0"/>
          </a:p>
        </p:txBody>
      </p:sp>
      <p:sp>
        <p:nvSpPr>
          <p:cNvPr id="11" name="Rectángulo: esquinas redondeadas 10">
            <a:extLst>
              <a:ext uri="{FF2B5EF4-FFF2-40B4-BE49-F238E27FC236}">
                <a16:creationId xmlns:a16="http://schemas.microsoft.com/office/drawing/2014/main" id="{A570DAA1-748A-203F-DCFA-9C84D2E657E2}"/>
              </a:ext>
            </a:extLst>
          </p:cNvPr>
          <p:cNvSpPr/>
          <p:nvPr/>
        </p:nvSpPr>
        <p:spPr>
          <a:xfrm>
            <a:off x="891540" y="2042820"/>
            <a:ext cx="1874520" cy="112776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Universo de pacientes:</a:t>
            </a:r>
          </a:p>
          <a:p>
            <a:pPr algn="ctr"/>
            <a:r>
              <a:rPr lang="es-CL" dirty="0"/>
              <a:t>1099</a:t>
            </a:r>
          </a:p>
        </p:txBody>
      </p:sp>
      <p:sp>
        <p:nvSpPr>
          <p:cNvPr id="12" name="Rectángulo: esquinas redondeadas 11">
            <a:extLst>
              <a:ext uri="{FF2B5EF4-FFF2-40B4-BE49-F238E27FC236}">
                <a16:creationId xmlns:a16="http://schemas.microsoft.com/office/drawing/2014/main" id="{8B45FF81-8FF2-D8CC-B1D3-D54E3C8F8A3B}"/>
              </a:ext>
            </a:extLst>
          </p:cNvPr>
          <p:cNvSpPr/>
          <p:nvPr/>
        </p:nvSpPr>
        <p:spPr>
          <a:xfrm>
            <a:off x="2979420" y="2042820"/>
            <a:ext cx="1874520" cy="112776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Variables evaluadas:</a:t>
            </a:r>
          </a:p>
          <a:p>
            <a:pPr algn="ctr"/>
            <a:r>
              <a:rPr lang="es-CL" dirty="0"/>
              <a:t>16</a:t>
            </a:r>
          </a:p>
        </p:txBody>
      </p:sp>
      <p:sp>
        <p:nvSpPr>
          <p:cNvPr id="13" name="Rectángulo: esquinas redondeadas 12">
            <a:extLst>
              <a:ext uri="{FF2B5EF4-FFF2-40B4-BE49-F238E27FC236}">
                <a16:creationId xmlns:a16="http://schemas.microsoft.com/office/drawing/2014/main" id="{0B4B9639-889B-D790-CAE5-EBF8F6DBB920}"/>
              </a:ext>
            </a:extLst>
          </p:cNvPr>
          <p:cNvSpPr/>
          <p:nvPr/>
        </p:nvSpPr>
        <p:spPr>
          <a:xfrm>
            <a:off x="5067300" y="2042820"/>
            <a:ext cx="2922262" cy="112776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Periodo del estudio:</a:t>
            </a:r>
          </a:p>
          <a:p>
            <a:pPr algn="ctr"/>
            <a:r>
              <a:rPr lang="es-CL" dirty="0"/>
              <a:t>Julio 2016 – diciembre 2021</a:t>
            </a:r>
          </a:p>
        </p:txBody>
      </p:sp>
      <p:sp>
        <p:nvSpPr>
          <p:cNvPr id="14" name="Rectángulo: esquinas redondeadas 13">
            <a:extLst>
              <a:ext uri="{FF2B5EF4-FFF2-40B4-BE49-F238E27FC236}">
                <a16:creationId xmlns:a16="http://schemas.microsoft.com/office/drawing/2014/main" id="{399B3ABF-B997-02D2-70A7-3B14265808E2}"/>
              </a:ext>
            </a:extLst>
          </p:cNvPr>
          <p:cNvSpPr/>
          <p:nvPr/>
        </p:nvSpPr>
        <p:spPr>
          <a:xfrm>
            <a:off x="826304" y="4324431"/>
            <a:ext cx="3090376" cy="112776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L" dirty="0"/>
              <a:t>Técnica apropiada para variable dependiente binaria (tiene / no tiene CCR).</a:t>
            </a:r>
          </a:p>
        </p:txBody>
      </p:sp>
      <p:sp>
        <p:nvSpPr>
          <p:cNvPr id="15" name="Rectángulo: esquinas redondeadas 14">
            <a:extLst>
              <a:ext uri="{FF2B5EF4-FFF2-40B4-BE49-F238E27FC236}">
                <a16:creationId xmlns:a16="http://schemas.microsoft.com/office/drawing/2014/main" id="{5BBCAD1F-AEA8-5BFE-634A-AADB023A5811}"/>
              </a:ext>
            </a:extLst>
          </p:cNvPr>
          <p:cNvSpPr/>
          <p:nvPr/>
        </p:nvSpPr>
        <p:spPr>
          <a:xfrm>
            <a:off x="4171484" y="4324431"/>
            <a:ext cx="3090376" cy="112776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L" dirty="0"/>
              <a:t>Ampliamente aceptada en investigación médica.</a:t>
            </a:r>
          </a:p>
        </p:txBody>
      </p:sp>
      <p:sp>
        <p:nvSpPr>
          <p:cNvPr id="16" name="Rectángulo: esquinas redondeadas 15">
            <a:extLst>
              <a:ext uri="{FF2B5EF4-FFF2-40B4-BE49-F238E27FC236}">
                <a16:creationId xmlns:a16="http://schemas.microsoft.com/office/drawing/2014/main" id="{CDF73814-D8EA-DD98-0075-087D35082067}"/>
              </a:ext>
            </a:extLst>
          </p:cNvPr>
          <p:cNvSpPr/>
          <p:nvPr/>
        </p:nvSpPr>
        <p:spPr>
          <a:xfrm>
            <a:off x="7516664" y="4324431"/>
            <a:ext cx="3090376" cy="112776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L" dirty="0"/>
              <a:t>Permite incorporar múltiples predictores simultáneamente. </a:t>
            </a:r>
          </a:p>
        </p:txBody>
      </p:sp>
      <p:sp>
        <p:nvSpPr>
          <p:cNvPr id="17" name="Rectángulo: esquinas redondeadas 16">
            <a:extLst>
              <a:ext uri="{FF2B5EF4-FFF2-40B4-BE49-F238E27FC236}">
                <a16:creationId xmlns:a16="http://schemas.microsoft.com/office/drawing/2014/main" id="{CC7B4C91-C7E6-3250-39C4-20204079BEF4}"/>
              </a:ext>
            </a:extLst>
          </p:cNvPr>
          <p:cNvSpPr/>
          <p:nvPr/>
        </p:nvSpPr>
        <p:spPr>
          <a:xfrm>
            <a:off x="891540" y="1405809"/>
            <a:ext cx="4572000" cy="396240"/>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Metodología : Estudio retrospectivo analítico</a:t>
            </a:r>
          </a:p>
        </p:txBody>
      </p:sp>
      <p:sp>
        <p:nvSpPr>
          <p:cNvPr id="18" name="Rectángulo: esquinas redondeadas 17">
            <a:extLst>
              <a:ext uri="{FF2B5EF4-FFF2-40B4-BE49-F238E27FC236}">
                <a16:creationId xmlns:a16="http://schemas.microsoft.com/office/drawing/2014/main" id="{9B22D362-76F8-7B98-563F-89F646C6133B}"/>
              </a:ext>
            </a:extLst>
          </p:cNvPr>
          <p:cNvSpPr/>
          <p:nvPr/>
        </p:nvSpPr>
        <p:spPr>
          <a:xfrm>
            <a:off x="853440" y="3697293"/>
            <a:ext cx="4572000" cy="396240"/>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Técnica principal: regresión logística binaria</a:t>
            </a:r>
          </a:p>
        </p:txBody>
      </p:sp>
      <p:sp>
        <p:nvSpPr>
          <p:cNvPr id="19" name="Rectángulo: esquinas redondeadas 18">
            <a:extLst>
              <a:ext uri="{FF2B5EF4-FFF2-40B4-BE49-F238E27FC236}">
                <a16:creationId xmlns:a16="http://schemas.microsoft.com/office/drawing/2014/main" id="{5F3DF9B6-E220-D538-01F2-79E70060177F}"/>
              </a:ext>
            </a:extLst>
          </p:cNvPr>
          <p:cNvSpPr/>
          <p:nvPr/>
        </p:nvSpPr>
        <p:spPr>
          <a:xfrm>
            <a:off x="8202922" y="2041969"/>
            <a:ext cx="2922262" cy="112776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Lugar :</a:t>
            </a:r>
          </a:p>
          <a:p>
            <a:pPr algn="ctr"/>
            <a:r>
              <a:rPr lang="es-CL" dirty="0"/>
              <a:t>Hospital Guillermo Grant Benavente - Concepción</a:t>
            </a:r>
          </a:p>
        </p:txBody>
      </p:sp>
    </p:spTree>
    <p:extLst>
      <p:ext uri="{BB962C8B-B14F-4D97-AF65-F5344CB8AC3E}">
        <p14:creationId xmlns:p14="http://schemas.microsoft.com/office/powerpoint/2010/main" val="4135017524"/>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4C326-5BAD-E137-B397-2BA901D442A2}"/>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24F4021C-B124-16B9-96E8-5C4DB391781B}"/>
              </a:ext>
            </a:extLst>
          </p:cNvPr>
          <p:cNvSpPr/>
          <p:nvPr/>
        </p:nvSpPr>
        <p:spPr>
          <a:xfrm>
            <a:off x="0" y="8253"/>
            <a:ext cx="12206868" cy="879865"/>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pic>
        <p:nvPicPr>
          <p:cNvPr id="2" name="Imagen 1">
            <a:extLst>
              <a:ext uri="{FF2B5EF4-FFF2-40B4-BE49-F238E27FC236}">
                <a16:creationId xmlns:a16="http://schemas.microsoft.com/office/drawing/2014/main" id="{AF6759DE-8DFE-B05E-E4F8-02EE6BAD899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658342" y="-60091"/>
            <a:ext cx="2996324" cy="1014884"/>
          </a:xfrm>
          <a:prstGeom prst="rect">
            <a:avLst/>
          </a:prstGeom>
        </p:spPr>
      </p:pic>
      <p:sp>
        <p:nvSpPr>
          <p:cNvPr id="8" name="Rectángulo 7">
            <a:extLst>
              <a:ext uri="{FF2B5EF4-FFF2-40B4-BE49-F238E27FC236}">
                <a16:creationId xmlns:a16="http://schemas.microsoft.com/office/drawing/2014/main" id="{DB01B6E3-3934-114A-B593-0D9850B5F6D1}"/>
              </a:ext>
            </a:extLst>
          </p:cNvPr>
          <p:cNvSpPr/>
          <p:nvPr/>
        </p:nvSpPr>
        <p:spPr>
          <a:xfrm>
            <a:off x="0" y="6276975"/>
            <a:ext cx="12206868" cy="572772"/>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sp>
        <p:nvSpPr>
          <p:cNvPr id="10" name="Marcador de número de diapositiva 9">
            <a:extLst>
              <a:ext uri="{FF2B5EF4-FFF2-40B4-BE49-F238E27FC236}">
                <a16:creationId xmlns:a16="http://schemas.microsoft.com/office/drawing/2014/main" id="{3A50DACF-5B7F-C13A-2CB6-CCE60D2C15C8}"/>
              </a:ext>
            </a:extLst>
          </p:cNvPr>
          <p:cNvSpPr>
            <a:spLocks noGrp="1"/>
          </p:cNvSpPr>
          <p:nvPr>
            <p:ph type="sldNum" sz="quarter" idx="12"/>
          </p:nvPr>
        </p:nvSpPr>
        <p:spPr/>
        <p:txBody>
          <a:bodyPr/>
          <a:lstStyle/>
          <a:p>
            <a:fld id="{524E32BF-339A-4FD7-AF2D-884DBB49ECE9}" type="slidenum">
              <a:rPr lang="es-CL" smtClean="0"/>
              <a:t>7</a:t>
            </a:fld>
            <a:endParaRPr lang="es-CL" dirty="0"/>
          </a:p>
        </p:txBody>
      </p:sp>
      <p:sp>
        <p:nvSpPr>
          <p:cNvPr id="3" name="Marcador de pie de página 2">
            <a:extLst>
              <a:ext uri="{FF2B5EF4-FFF2-40B4-BE49-F238E27FC236}">
                <a16:creationId xmlns:a16="http://schemas.microsoft.com/office/drawing/2014/main" id="{465530DE-3116-79C6-B691-D9C7DEB668DF}"/>
              </a:ext>
            </a:extLst>
          </p:cNvPr>
          <p:cNvSpPr>
            <a:spLocks noGrp="1"/>
          </p:cNvSpPr>
          <p:nvPr>
            <p:ph type="ftr" sz="quarter" idx="11"/>
          </p:nvPr>
        </p:nvSpPr>
        <p:spPr/>
        <p:txBody>
          <a:bodyPr/>
          <a:lstStyle/>
          <a:p>
            <a:r>
              <a:rPr lang="es-MX" dirty="0"/>
              <a:t>MSI600 - INTRODUCCIÓN CIENCIA DE DATOS</a:t>
            </a:r>
            <a:endParaRPr lang="es-CL" dirty="0"/>
          </a:p>
        </p:txBody>
      </p:sp>
      <p:sp>
        <p:nvSpPr>
          <p:cNvPr id="5" name="CuadroTexto 4">
            <a:extLst>
              <a:ext uri="{FF2B5EF4-FFF2-40B4-BE49-F238E27FC236}">
                <a16:creationId xmlns:a16="http://schemas.microsoft.com/office/drawing/2014/main" id="{77F95AE7-6774-11E2-812B-915F477C8234}"/>
              </a:ext>
            </a:extLst>
          </p:cNvPr>
          <p:cNvSpPr txBox="1"/>
          <p:nvPr/>
        </p:nvSpPr>
        <p:spPr>
          <a:xfrm>
            <a:off x="361949" y="231182"/>
            <a:ext cx="8686801" cy="461665"/>
          </a:xfrm>
          <a:prstGeom prst="rect">
            <a:avLst/>
          </a:prstGeom>
          <a:noFill/>
        </p:spPr>
        <p:txBody>
          <a:bodyPr wrap="square" rtlCol="0">
            <a:spAutoFit/>
          </a:bodyPr>
          <a:lstStyle/>
          <a:p>
            <a:r>
              <a:rPr lang="es-MX" sz="2400" dirty="0">
                <a:solidFill>
                  <a:srgbClr val="FFFFFF"/>
                </a:solidFill>
                <a:latin typeface="Montserrat" pitchFamily="2" charset="77"/>
                <a:ea typeface="+mj-ea"/>
                <a:cs typeface="Calibri Light"/>
              </a:rPr>
              <a:t>Resultados Obtenidos</a:t>
            </a:r>
            <a:endParaRPr lang="es-CL" dirty="0"/>
          </a:p>
        </p:txBody>
      </p:sp>
      <p:graphicFrame>
        <p:nvGraphicFramePr>
          <p:cNvPr id="9" name="Gráfico 8">
            <a:extLst>
              <a:ext uri="{FF2B5EF4-FFF2-40B4-BE49-F238E27FC236}">
                <a16:creationId xmlns:a16="http://schemas.microsoft.com/office/drawing/2014/main" id="{27A689AB-E356-AD48-26AD-1E51B4471784}"/>
              </a:ext>
            </a:extLst>
          </p:cNvPr>
          <p:cNvGraphicFramePr/>
          <p:nvPr>
            <p:extLst>
              <p:ext uri="{D42A27DB-BD31-4B8C-83A1-F6EECF244321}">
                <p14:modId xmlns:p14="http://schemas.microsoft.com/office/powerpoint/2010/main" val="2390577820"/>
              </p:ext>
            </p:extLst>
          </p:nvPr>
        </p:nvGraphicFramePr>
        <p:xfrm>
          <a:off x="250239" y="1893138"/>
          <a:ext cx="5019183" cy="3532232"/>
        </p:xfrm>
        <a:graphic>
          <a:graphicData uri="http://schemas.openxmlformats.org/drawingml/2006/chart">
            <c:chart xmlns:c="http://schemas.openxmlformats.org/drawingml/2006/chart" xmlns:r="http://schemas.openxmlformats.org/officeDocument/2006/relationships" r:id="rId5"/>
          </a:graphicData>
        </a:graphic>
      </p:graphicFrame>
      <p:sp>
        <p:nvSpPr>
          <p:cNvPr id="11" name="Rectángulo: esquinas redondeadas 10">
            <a:extLst>
              <a:ext uri="{FF2B5EF4-FFF2-40B4-BE49-F238E27FC236}">
                <a16:creationId xmlns:a16="http://schemas.microsoft.com/office/drawing/2014/main" id="{4AA1D242-C13A-C953-B8BB-2D3FD84E3886}"/>
              </a:ext>
            </a:extLst>
          </p:cNvPr>
          <p:cNvSpPr/>
          <p:nvPr/>
        </p:nvSpPr>
        <p:spPr>
          <a:xfrm>
            <a:off x="361949" y="1158113"/>
            <a:ext cx="4826578" cy="396240"/>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Importancia de variables en el estudio</a:t>
            </a:r>
          </a:p>
        </p:txBody>
      </p:sp>
      <p:sp>
        <p:nvSpPr>
          <p:cNvPr id="15" name="Rectángulo: esquinas redondeadas 14">
            <a:extLst>
              <a:ext uri="{FF2B5EF4-FFF2-40B4-BE49-F238E27FC236}">
                <a16:creationId xmlns:a16="http://schemas.microsoft.com/office/drawing/2014/main" id="{9B5BB754-C4E0-BF2D-5493-A81F83D4EBA5}"/>
              </a:ext>
            </a:extLst>
          </p:cNvPr>
          <p:cNvSpPr/>
          <p:nvPr/>
        </p:nvSpPr>
        <p:spPr>
          <a:xfrm>
            <a:off x="5623301" y="1155263"/>
            <a:ext cx="2707039" cy="1983144"/>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CL" sz="1400" dirty="0"/>
              <a:t>Variables GES </a:t>
            </a:r>
          </a:p>
          <a:p>
            <a:pPr algn="ctr"/>
            <a:r>
              <a:rPr lang="es-CL" sz="1400" dirty="0"/>
              <a:t>(ya en protocolo)</a:t>
            </a:r>
          </a:p>
          <a:p>
            <a:pPr algn="ctr"/>
            <a:endParaRPr lang="es-CL" sz="1400" dirty="0"/>
          </a:p>
          <a:p>
            <a:pPr marL="285750" indent="-285750">
              <a:buFont typeface="Wingdings" panose="05000000000000000000" pitchFamily="2" charset="2"/>
              <a:buChar char="ü"/>
            </a:pPr>
            <a:r>
              <a:rPr lang="es-CL" sz="1400" dirty="0"/>
              <a:t>Sangrado GI 	  (p&lt;0,001)</a:t>
            </a:r>
          </a:p>
          <a:p>
            <a:pPr marL="285750" indent="-285750">
              <a:buFont typeface="Wingdings" panose="05000000000000000000" pitchFamily="2" charset="2"/>
              <a:buChar char="ü"/>
            </a:pPr>
            <a:r>
              <a:rPr lang="es-CL" sz="1400" dirty="0"/>
              <a:t>Edad                    (p=0,002)</a:t>
            </a:r>
          </a:p>
          <a:p>
            <a:pPr marL="285750" indent="-285750">
              <a:buFont typeface="Wingdings" panose="05000000000000000000" pitchFamily="2" charset="2"/>
              <a:buChar char="ü"/>
            </a:pPr>
            <a:r>
              <a:rPr lang="es-CL" sz="1400" dirty="0"/>
              <a:t>Diarrea                (p=0,008)</a:t>
            </a:r>
          </a:p>
          <a:p>
            <a:pPr marL="285750" indent="-285750">
              <a:buFont typeface="Wingdings" panose="05000000000000000000" pitchFamily="2" charset="2"/>
              <a:buChar char="ü"/>
            </a:pPr>
            <a:r>
              <a:rPr lang="es-CL" sz="1400" dirty="0"/>
              <a:t>Masa rectal        (p=0,003)</a:t>
            </a:r>
          </a:p>
          <a:p>
            <a:pPr marL="285750" indent="-285750">
              <a:buFont typeface="Wingdings" panose="05000000000000000000" pitchFamily="2" charset="2"/>
              <a:buChar char="ü"/>
            </a:pPr>
            <a:r>
              <a:rPr lang="es-CL" sz="1400" dirty="0"/>
              <a:t>Anemia               (p=0,011)</a:t>
            </a:r>
          </a:p>
        </p:txBody>
      </p:sp>
      <p:sp>
        <p:nvSpPr>
          <p:cNvPr id="16" name="Rectángulo: esquinas redondeadas 15">
            <a:extLst>
              <a:ext uri="{FF2B5EF4-FFF2-40B4-BE49-F238E27FC236}">
                <a16:creationId xmlns:a16="http://schemas.microsoft.com/office/drawing/2014/main" id="{4DEB628B-5BF1-D561-1E57-74849FAE4402}"/>
              </a:ext>
            </a:extLst>
          </p:cNvPr>
          <p:cNvSpPr/>
          <p:nvPr/>
        </p:nvSpPr>
        <p:spPr>
          <a:xfrm>
            <a:off x="5623300" y="3343921"/>
            <a:ext cx="2707040" cy="1983143"/>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CL" sz="1400" dirty="0"/>
              <a:t>Variables nuevas </a:t>
            </a:r>
          </a:p>
          <a:p>
            <a:pPr algn="ctr"/>
            <a:r>
              <a:rPr lang="es-CL" sz="1400" dirty="0"/>
              <a:t>(no están en protocolo)</a:t>
            </a:r>
          </a:p>
          <a:p>
            <a:pPr algn="ctr"/>
            <a:endParaRPr lang="es-CL" sz="1400" dirty="0"/>
          </a:p>
          <a:p>
            <a:pPr marL="285750" indent="-285750">
              <a:buFont typeface="Wingdings" panose="05000000000000000000" pitchFamily="2" charset="2"/>
              <a:buChar char="ü"/>
            </a:pPr>
            <a:r>
              <a:rPr lang="es-CL" sz="1400" dirty="0"/>
              <a:t>Tomografía CT	      (p&lt;0,001)</a:t>
            </a:r>
          </a:p>
          <a:p>
            <a:pPr marL="285750" indent="-285750">
              <a:buFont typeface="Wingdings" panose="05000000000000000000" pitchFamily="2" charset="2"/>
              <a:buChar char="ü"/>
            </a:pPr>
            <a:r>
              <a:rPr lang="es-CL" sz="1400" dirty="0"/>
              <a:t>Ecografía 	      (p=0,004)</a:t>
            </a:r>
          </a:p>
          <a:p>
            <a:pPr marL="285750" indent="-285750">
              <a:buFont typeface="Wingdings" panose="05000000000000000000" pitchFamily="2" charset="2"/>
              <a:buChar char="ü"/>
            </a:pPr>
            <a:r>
              <a:rPr lang="es-CL" sz="1400" dirty="0"/>
              <a:t>Condición general (p=0,015)</a:t>
            </a:r>
          </a:p>
          <a:p>
            <a:pPr marL="285750" indent="-285750">
              <a:buFont typeface="Wingdings" panose="05000000000000000000" pitchFamily="2" charset="2"/>
              <a:buChar char="ü"/>
            </a:pPr>
            <a:r>
              <a:rPr lang="es-CL" sz="1400" dirty="0"/>
              <a:t>Sexo                         (p=0,023)</a:t>
            </a:r>
          </a:p>
        </p:txBody>
      </p:sp>
      <p:sp>
        <p:nvSpPr>
          <p:cNvPr id="7" name="Rectángulo: esquinas redondeadas 6">
            <a:extLst>
              <a:ext uri="{FF2B5EF4-FFF2-40B4-BE49-F238E27FC236}">
                <a16:creationId xmlns:a16="http://schemas.microsoft.com/office/drawing/2014/main" id="{3E530D21-87C2-C2C3-853D-6020997317FB}"/>
              </a:ext>
            </a:extLst>
          </p:cNvPr>
          <p:cNvSpPr/>
          <p:nvPr/>
        </p:nvSpPr>
        <p:spPr>
          <a:xfrm>
            <a:off x="8556673" y="1111679"/>
            <a:ext cx="3385088" cy="2351697"/>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400" dirty="0"/>
              <a:t> Variables NO Significativas </a:t>
            </a:r>
          </a:p>
          <a:p>
            <a:endParaRPr lang="es-CL" sz="1400" dirty="0"/>
          </a:p>
          <a:p>
            <a:r>
              <a:rPr lang="es-CL" sz="1400" dirty="0"/>
              <a:t>• Pérdida de peso                        (p=0,12)</a:t>
            </a:r>
          </a:p>
          <a:p>
            <a:r>
              <a:rPr lang="es-CL" sz="1400" dirty="0"/>
              <a:t>• Dolor abdominal                       (p=0,28)</a:t>
            </a:r>
          </a:p>
          <a:p>
            <a:r>
              <a:rPr lang="es-CL" sz="1400" dirty="0"/>
              <a:t>• Estreñimiento                            (p=0,45)</a:t>
            </a:r>
          </a:p>
          <a:p>
            <a:r>
              <a:rPr lang="es-CL" sz="1400" dirty="0"/>
              <a:t>• Cambio hábito intestinal         (p=0,33)</a:t>
            </a:r>
          </a:p>
          <a:p>
            <a:r>
              <a:rPr lang="es-CL" sz="1400" dirty="0"/>
              <a:t>• Antecedentes familiares CCR (p=0,19)</a:t>
            </a:r>
          </a:p>
          <a:p>
            <a:r>
              <a:rPr lang="es-CL" sz="1400" dirty="0"/>
              <a:t>• Leucocitosis                                (p=0,51)</a:t>
            </a:r>
          </a:p>
          <a:p>
            <a:r>
              <a:rPr lang="es-CL" sz="1400" dirty="0"/>
              <a:t>• Colonoscopía previa                 (p=0,38)</a:t>
            </a:r>
          </a:p>
          <a:p>
            <a:endParaRPr lang="es-CL" sz="1400" dirty="0"/>
          </a:p>
        </p:txBody>
      </p:sp>
      <p:sp>
        <p:nvSpPr>
          <p:cNvPr id="12" name="Rectángulo: esquinas redondeadas 11">
            <a:extLst>
              <a:ext uri="{FF2B5EF4-FFF2-40B4-BE49-F238E27FC236}">
                <a16:creationId xmlns:a16="http://schemas.microsoft.com/office/drawing/2014/main" id="{86BECD4D-89F0-B8CA-3B12-16F64FE8AE01}"/>
              </a:ext>
            </a:extLst>
          </p:cNvPr>
          <p:cNvSpPr/>
          <p:nvPr/>
        </p:nvSpPr>
        <p:spPr>
          <a:xfrm>
            <a:off x="3289170" y="5876964"/>
            <a:ext cx="6195792" cy="333336"/>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s-CL" sz="1400" dirty="0"/>
              <a:t>Criterio: p&lt;0,05 para inclusión en modelo.  (p) Valor de probabilidad.</a:t>
            </a:r>
          </a:p>
        </p:txBody>
      </p:sp>
    </p:spTree>
    <p:extLst>
      <p:ext uri="{BB962C8B-B14F-4D97-AF65-F5344CB8AC3E}">
        <p14:creationId xmlns:p14="http://schemas.microsoft.com/office/powerpoint/2010/main" val="4070167291"/>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EDBC9-07D1-65AE-6305-AB41F2184811}"/>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589B7361-6373-9A20-F5EA-877B15A05637}"/>
              </a:ext>
            </a:extLst>
          </p:cNvPr>
          <p:cNvSpPr/>
          <p:nvPr/>
        </p:nvSpPr>
        <p:spPr>
          <a:xfrm>
            <a:off x="0" y="8253"/>
            <a:ext cx="12206868" cy="879865"/>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pic>
        <p:nvPicPr>
          <p:cNvPr id="2" name="Imagen 1">
            <a:extLst>
              <a:ext uri="{FF2B5EF4-FFF2-40B4-BE49-F238E27FC236}">
                <a16:creationId xmlns:a16="http://schemas.microsoft.com/office/drawing/2014/main" id="{A7D8D3BB-0D8A-F53B-17BF-6ED5312E63E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658342" y="-60091"/>
            <a:ext cx="2996324" cy="1014884"/>
          </a:xfrm>
          <a:prstGeom prst="rect">
            <a:avLst/>
          </a:prstGeom>
        </p:spPr>
      </p:pic>
      <p:sp>
        <p:nvSpPr>
          <p:cNvPr id="8" name="Rectángulo 7">
            <a:extLst>
              <a:ext uri="{FF2B5EF4-FFF2-40B4-BE49-F238E27FC236}">
                <a16:creationId xmlns:a16="http://schemas.microsoft.com/office/drawing/2014/main" id="{5F98346F-04AB-E3E4-1BDD-6316E957DC34}"/>
              </a:ext>
            </a:extLst>
          </p:cNvPr>
          <p:cNvSpPr/>
          <p:nvPr/>
        </p:nvSpPr>
        <p:spPr>
          <a:xfrm>
            <a:off x="0" y="6276975"/>
            <a:ext cx="12206868" cy="572772"/>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sp>
        <p:nvSpPr>
          <p:cNvPr id="10" name="Marcador de número de diapositiva 9">
            <a:extLst>
              <a:ext uri="{FF2B5EF4-FFF2-40B4-BE49-F238E27FC236}">
                <a16:creationId xmlns:a16="http://schemas.microsoft.com/office/drawing/2014/main" id="{3B72E4E9-ABC5-03BA-03B8-2F864B39B277}"/>
              </a:ext>
            </a:extLst>
          </p:cNvPr>
          <p:cNvSpPr>
            <a:spLocks noGrp="1"/>
          </p:cNvSpPr>
          <p:nvPr>
            <p:ph type="sldNum" sz="quarter" idx="12"/>
          </p:nvPr>
        </p:nvSpPr>
        <p:spPr/>
        <p:txBody>
          <a:bodyPr/>
          <a:lstStyle/>
          <a:p>
            <a:fld id="{524E32BF-339A-4FD7-AF2D-884DBB49ECE9}" type="slidenum">
              <a:rPr lang="es-CL" smtClean="0"/>
              <a:t>8</a:t>
            </a:fld>
            <a:endParaRPr lang="es-CL" dirty="0"/>
          </a:p>
        </p:txBody>
      </p:sp>
      <p:sp>
        <p:nvSpPr>
          <p:cNvPr id="3" name="Marcador de pie de página 2">
            <a:extLst>
              <a:ext uri="{FF2B5EF4-FFF2-40B4-BE49-F238E27FC236}">
                <a16:creationId xmlns:a16="http://schemas.microsoft.com/office/drawing/2014/main" id="{22FC10B5-BE86-9F17-1079-3243E2EA57BA}"/>
              </a:ext>
            </a:extLst>
          </p:cNvPr>
          <p:cNvSpPr>
            <a:spLocks noGrp="1"/>
          </p:cNvSpPr>
          <p:nvPr>
            <p:ph type="ftr" sz="quarter" idx="11"/>
          </p:nvPr>
        </p:nvSpPr>
        <p:spPr/>
        <p:txBody>
          <a:bodyPr/>
          <a:lstStyle/>
          <a:p>
            <a:r>
              <a:rPr lang="es-MX" dirty="0"/>
              <a:t>MSI600 - INTRODUCCIÓN CIENCIA DE DATOS</a:t>
            </a:r>
            <a:endParaRPr lang="es-CL" dirty="0"/>
          </a:p>
        </p:txBody>
      </p:sp>
      <p:sp>
        <p:nvSpPr>
          <p:cNvPr id="5" name="CuadroTexto 4">
            <a:extLst>
              <a:ext uri="{FF2B5EF4-FFF2-40B4-BE49-F238E27FC236}">
                <a16:creationId xmlns:a16="http://schemas.microsoft.com/office/drawing/2014/main" id="{E55C9952-5A1C-6D6F-9BD4-44416719D6CF}"/>
              </a:ext>
            </a:extLst>
          </p:cNvPr>
          <p:cNvSpPr txBox="1"/>
          <p:nvPr/>
        </p:nvSpPr>
        <p:spPr>
          <a:xfrm>
            <a:off x="361949" y="231182"/>
            <a:ext cx="8686801" cy="461665"/>
          </a:xfrm>
          <a:prstGeom prst="rect">
            <a:avLst/>
          </a:prstGeom>
          <a:noFill/>
        </p:spPr>
        <p:txBody>
          <a:bodyPr wrap="square" rtlCol="0">
            <a:spAutoFit/>
          </a:bodyPr>
          <a:lstStyle/>
          <a:p>
            <a:r>
              <a:rPr lang="es-MX" sz="2400" dirty="0">
                <a:solidFill>
                  <a:srgbClr val="FFFFFF"/>
                </a:solidFill>
                <a:latin typeface="Montserrat" pitchFamily="2" charset="77"/>
                <a:ea typeface="+mj-ea"/>
                <a:cs typeface="Calibri Light"/>
              </a:rPr>
              <a:t>Resultados Obtenidos</a:t>
            </a:r>
            <a:endParaRPr lang="es-CL" dirty="0"/>
          </a:p>
        </p:txBody>
      </p:sp>
      <p:sp>
        <p:nvSpPr>
          <p:cNvPr id="6" name="Rectángulo: esquinas redondeadas 5">
            <a:extLst>
              <a:ext uri="{FF2B5EF4-FFF2-40B4-BE49-F238E27FC236}">
                <a16:creationId xmlns:a16="http://schemas.microsoft.com/office/drawing/2014/main" id="{03506068-93DC-573F-7C5C-9E058AE5F1B9}"/>
              </a:ext>
            </a:extLst>
          </p:cNvPr>
          <p:cNvSpPr/>
          <p:nvPr/>
        </p:nvSpPr>
        <p:spPr>
          <a:xfrm>
            <a:off x="361948" y="1111047"/>
            <a:ext cx="5057339" cy="396240"/>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L" dirty="0"/>
              <a:t>Rendimiento de los modelos predictivos</a:t>
            </a:r>
          </a:p>
        </p:txBody>
      </p:sp>
      <p:graphicFrame>
        <p:nvGraphicFramePr>
          <p:cNvPr id="12" name="Gráfico 11">
            <a:extLst>
              <a:ext uri="{FF2B5EF4-FFF2-40B4-BE49-F238E27FC236}">
                <a16:creationId xmlns:a16="http://schemas.microsoft.com/office/drawing/2014/main" id="{FA433C40-1579-A6DE-D284-BD9024E88B1A}"/>
              </a:ext>
            </a:extLst>
          </p:cNvPr>
          <p:cNvGraphicFramePr/>
          <p:nvPr>
            <p:extLst>
              <p:ext uri="{D42A27DB-BD31-4B8C-83A1-F6EECF244321}">
                <p14:modId xmlns:p14="http://schemas.microsoft.com/office/powerpoint/2010/main" val="1874811142"/>
              </p:ext>
            </p:extLst>
          </p:nvPr>
        </p:nvGraphicFramePr>
        <p:xfrm>
          <a:off x="476250" y="2015728"/>
          <a:ext cx="7795259" cy="2653751"/>
        </p:xfrm>
        <a:graphic>
          <a:graphicData uri="http://schemas.openxmlformats.org/drawingml/2006/chart">
            <c:chart xmlns:c="http://schemas.openxmlformats.org/drawingml/2006/chart" xmlns:r="http://schemas.openxmlformats.org/officeDocument/2006/relationships" r:id="rId4"/>
          </a:graphicData>
        </a:graphic>
      </p:graphicFrame>
      <p:sp>
        <p:nvSpPr>
          <p:cNvPr id="13" name="Rectángulo: esquinas redondeadas 12">
            <a:extLst>
              <a:ext uri="{FF2B5EF4-FFF2-40B4-BE49-F238E27FC236}">
                <a16:creationId xmlns:a16="http://schemas.microsoft.com/office/drawing/2014/main" id="{CDC4540D-DBF1-9DE5-E339-B35C0FC45DDF}"/>
              </a:ext>
            </a:extLst>
          </p:cNvPr>
          <p:cNvSpPr/>
          <p:nvPr/>
        </p:nvSpPr>
        <p:spPr>
          <a:xfrm>
            <a:off x="7518175" y="4109321"/>
            <a:ext cx="4059369" cy="2049012"/>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s-CL" sz="1400" dirty="0"/>
              <a:t>Modelo Completo (9 variables): AUC = </a:t>
            </a:r>
            <a:r>
              <a:rPr lang="es-CL" sz="1400" b="1" dirty="0"/>
              <a:t>0,86</a:t>
            </a:r>
          </a:p>
          <a:p>
            <a:pPr lvl="1"/>
            <a:r>
              <a:rPr lang="es-CL" sz="1400" dirty="0"/>
              <a:t>→ Rendimiento MUY BUENO</a:t>
            </a:r>
          </a:p>
          <a:p>
            <a:pPr lvl="1"/>
            <a:endParaRPr lang="es-CL" sz="1400" dirty="0"/>
          </a:p>
          <a:p>
            <a:pPr marL="285750" indent="-285750">
              <a:buFont typeface="Arial" panose="020B0604020202020204" pitchFamily="34" charset="0"/>
              <a:buChar char="•"/>
            </a:pPr>
            <a:r>
              <a:rPr lang="es-MX" sz="1400" dirty="0"/>
              <a:t>Modelo Simplificado (7 variables): AUC = </a:t>
            </a:r>
            <a:r>
              <a:rPr lang="es-MX" sz="1400" b="1" dirty="0"/>
              <a:t>0,81</a:t>
            </a:r>
          </a:p>
          <a:p>
            <a:r>
              <a:rPr lang="es-CL" sz="1400" dirty="0"/>
              <a:t>	→ Rendimiento MUY BUENO</a:t>
            </a:r>
          </a:p>
          <a:p>
            <a:endParaRPr lang="es-CL" sz="1400" dirty="0"/>
          </a:p>
          <a:p>
            <a:pPr marL="285750" indent="-285750">
              <a:buFont typeface="Arial" panose="020B0604020202020204" pitchFamily="34" charset="0"/>
              <a:buChar char="•"/>
            </a:pPr>
            <a:r>
              <a:rPr lang="es-MX" sz="1400" dirty="0"/>
              <a:t>Ambos modelos superan significativamente </a:t>
            </a:r>
          </a:p>
          <a:p>
            <a:r>
              <a:rPr lang="es-MX" sz="1400" dirty="0"/>
              <a:t>  	la línea de azar (AUC = 0,50)</a:t>
            </a:r>
            <a:endParaRPr lang="es-CL" sz="1400" dirty="0"/>
          </a:p>
        </p:txBody>
      </p:sp>
      <p:sp>
        <p:nvSpPr>
          <p:cNvPr id="14" name="Rectángulo: esquinas redondeadas 13">
            <a:extLst>
              <a:ext uri="{FF2B5EF4-FFF2-40B4-BE49-F238E27FC236}">
                <a16:creationId xmlns:a16="http://schemas.microsoft.com/office/drawing/2014/main" id="{4275F106-3467-C7B8-1121-3BD44AFD63BA}"/>
              </a:ext>
            </a:extLst>
          </p:cNvPr>
          <p:cNvSpPr/>
          <p:nvPr/>
        </p:nvSpPr>
        <p:spPr>
          <a:xfrm>
            <a:off x="8378047" y="1486497"/>
            <a:ext cx="2339623" cy="1627691"/>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s-MX" sz="1400" dirty="0"/>
              <a:t>Interpretación AUC:</a:t>
            </a:r>
          </a:p>
          <a:p>
            <a:pPr marL="285750" indent="-285750">
              <a:buFont typeface="Arial" panose="020B0604020202020204" pitchFamily="34" charset="0"/>
              <a:buChar char="•"/>
            </a:pPr>
            <a:r>
              <a:rPr lang="es-MX" sz="1400" dirty="0"/>
              <a:t>0,90-1,00 = Excelente</a:t>
            </a:r>
          </a:p>
          <a:p>
            <a:pPr marL="285750" indent="-285750">
              <a:buFont typeface="Arial" panose="020B0604020202020204" pitchFamily="34" charset="0"/>
              <a:buChar char="•"/>
            </a:pPr>
            <a:r>
              <a:rPr lang="es-MX" sz="1400" dirty="0"/>
              <a:t>0,80-0,90 = Muy bueno</a:t>
            </a:r>
          </a:p>
          <a:p>
            <a:pPr marL="285750" indent="-285750">
              <a:buFont typeface="Arial" panose="020B0604020202020204" pitchFamily="34" charset="0"/>
              <a:buChar char="•"/>
            </a:pPr>
            <a:r>
              <a:rPr lang="es-MX" sz="1400" dirty="0"/>
              <a:t>0,70-0,80 = Bueno</a:t>
            </a:r>
          </a:p>
          <a:p>
            <a:pPr marL="285750" indent="-285750">
              <a:buFont typeface="Arial" panose="020B0604020202020204" pitchFamily="34" charset="0"/>
              <a:buChar char="•"/>
            </a:pPr>
            <a:r>
              <a:rPr lang="es-MX" sz="1400" dirty="0"/>
              <a:t>0,60-0,70 = Regular</a:t>
            </a:r>
          </a:p>
          <a:p>
            <a:pPr marL="285750" indent="-285750">
              <a:buFont typeface="Arial" panose="020B0604020202020204" pitchFamily="34" charset="0"/>
              <a:buChar char="•"/>
            </a:pPr>
            <a:r>
              <a:rPr lang="es-MX" sz="1400" dirty="0"/>
              <a:t>0,50-0,60 = Malo</a:t>
            </a:r>
            <a:endParaRPr lang="es-CL" sz="1400" dirty="0"/>
          </a:p>
        </p:txBody>
      </p:sp>
      <p:sp>
        <p:nvSpPr>
          <p:cNvPr id="15" name="Rectángulo: esquinas redondeadas 14">
            <a:extLst>
              <a:ext uri="{FF2B5EF4-FFF2-40B4-BE49-F238E27FC236}">
                <a16:creationId xmlns:a16="http://schemas.microsoft.com/office/drawing/2014/main" id="{52852EAB-AA6F-7BDB-68E6-B8B2155DC666}"/>
              </a:ext>
            </a:extLst>
          </p:cNvPr>
          <p:cNvSpPr/>
          <p:nvPr/>
        </p:nvSpPr>
        <p:spPr>
          <a:xfrm>
            <a:off x="361948" y="5335573"/>
            <a:ext cx="6340855" cy="82276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El modelo completo supera en 5 puntos al simplificado,</a:t>
            </a:r>
          </a:p>
          <a:p>
            <a:pPr algn="ctr"/>
            <a:r>
              <a:rPr lang="es-MX" dirty="0"/>
              <a:t>demostrando el valor de incluir estudios de imagen.</a:t>
            </a:r>
            <a:endParaRPr lang="es-CL" dirty="0"/>
          </a:p>
        </p:txBody>
      </p:sp>
      <p:sp>
        <p:nvSpPr>
          <p:cNvPr id="7" name="CuadroTexto 6">
            <a:extLst>
              <a:ext uri="{FF2B5EF4-FFF2-40B4-BE49-F238E27FC236}">
                <a16:creationId xmlns:a16="http://schemas.microsoft.com/office/drawing/2014/main" id="{651024D7-6B47-ABEA-4FF4-F697AB2E399B}"/>
              </a:ext>
            </a:extLst>
          </p:cNvPr>
          <p:cNvSpPr txBox="1"/>
          <p:nvPr/>
        </p:nvSpPr>
        <p:spPr>
          <a:xfrm>
            <a:off x="361948" y="1707951"/>
            <a:ext cx="1058303" cy="307777"/>
          </a:xfrm>
          <a:prstGeom prst="rect">
            <a:avLst/>
          </a:prstGeom>
          <a:noFill/>
        </p:spPr>
        <p:txBody>
          <a:bodyPr wrap="none" rtlCol="0">
            <a:spAutoFit/>
          </a:bodyPr>
          <a:lstStyle/>
          <a:p>
            <a:r>
              <a:rPr lang="es-CL" sz="1400" dirty="0"/>
              <a:t>Sensibilidad</a:t>
            </a:r>
          </a:p>
        </p:txBody>
      </p:sp>
      <p:sp>
        <p:nvSpPr>
          <p:cNvPr id="9" name="CuadroTexto 8">
            <a:extLst>
              <a:ext uri="{FF2B5EF4-FFF2-40B4-BE49-F238E27FC236}">
                <a16:creationId xmlns:a16="http://schemas.microsoft.com/office/drawing/2014/main" id="{271D4FB8-4E59-C35A-AC1F-18917D04F603}"/>
              </a:ext>
            </a:extLst>
          </p:cNvPr>
          <p:cNvSpPr txBox="1"/>
          <p:nvPr/>
        </p:nvSpPr>
        <p:spPr>
          <a:xfrm>
            <a:off x="2733435" y="4634232"/>
            <a:ext cx="1133644" cy="307777"/>
          </a:xfrm>
          <a:prstGeom prst="rect">
            <a:avLst/>
          </a:prstGeom>
          <a:noFill/>
        </p:spPr>
        <p:txBody>
          <a:bodyPr wrap="none" rtlCol="0">
            <a:spAutoFit/>
          </a:bodyPr>
          <a:lstStyle/>
          <a:p>
            <a:r>
              <a:rPr lang="es-CL" sz="1400" dirty="0"/>
              <a:t>Especificidad</a:t>
            </a:r>
          </a:p>
        </p:txBody>
      </p:sp>
    </p:spTree>
    <p:extLst>
      <p:ext uri="{BB962C8B-B14F-4D97-AF65-F5344CB8AC3E}">
        <p14:creationId xmlns:p14="http://schemas.microsoft.com/office/powerpoint/2010/main" val="1384298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75452-9667-CFC6-2BDC-4D8DB48183EE}"/>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A72860F6-8F49-B9CF-90E0-C3DCEF1F7411}"/>
              </a:ext>
            </a:extLst>
          </p:cNvPr>
          <p:cNvSpPr/>
          <p:nvPr/>
        </p:nvSpPr>
        <p:spPr>
          <a:xfrm>
            <a:off x="0" y="8253"/>
            <a:ext cx="12206868" cy="879865"/>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pic>
        <p:nvPicPr>
          <p:cNvPr id="2" name="Imagen 1">
            <a:extLst>
              <a:ext uri="{FF2B5EF4-FFF2-40B4-BE49-F238E27FC236}">
                <a16:creationId xmlns:a16="http://schemas.microsoft.com/office/drawing/2014/main" id="{5F943F34-D307-43A6-8D9D-9285E9D858C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658342" y="-60091"/>
            <a:ext cx="2996324" cy="1014884"/>
          </a:xfrm>
          <a:prstGeom prst="rect">
            <a:avLst/>
          </a:prstGeom>
        </p:spPr>
      </p:pic>
      <p:sp>
        <p:nvSpPr>
          <p:cNvPr id="8" name="Rectángulo 7">
            <a:extLst>
              <a:ext uri="{FF2B5EF4-FFF2-40B4-BE49-F238E27FC236}">
                <a16:creationId xmlns:a16="http://schemas.microsoft.com/office/drawing/2014/main" id="{4011ED84-78E9-B75A-BAD8-F49373BE457D}"/>
              </a:ext>
            </a:extLst>
          </p:cNvPr>
          <p:cNvSpPr/>
          <p:nvPr/>
        </p:nvSpPr>
        <p:spPr>
          <a:xfrm>
            <a:off x="0" y="6276975"/>
            <a:ext cx="12206868" cy="572772"/>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sp>
        <p:nvSpPr>
          <p:cNvPr id="10" name="Marcador de número de diapositiva 9">
            <a:extLst>
              <a:ext uri="{FF2B5EF4-FFF2-40B4-BE49-F238E27FC236}">
                <a16:creationId xmlns:a16="http://schemas.microsoft.com/office/drawing/2014/main" id="{8850AE25-BDF3-0776-4216-2836254BE891}"/>
              </a:ext>
            </a:extLst>
          </p:cNvPr>
          <p:cNvSpPr>
            <a:spLocks noGrp="1"/>
          </p:cNvSpPr>
          <p:nvPr>
            <p:ph type="sldNum" sz="quarter" idx="12"/>
          </p:nvPr>
        </p:nvSpPr>
        <p:spPr/>
        <p:txBody>
          <a:bodyPr/>
          <a:lstStyle/>
          <a:p>
            <a:fld id="{524E32BF-339A-4FD7-AF2D-884DBB49ECE9}" type="slidenum">
              <a:rPr lang="es-CL" smtClean="0"/>
              <a:t>9</a:t>
            </a:fld>
            <a:endParaRPr lang="es-CL" dirty="0"/>
          </a:p>
        </p:txBody>
      </p:sp>
      <p:sp>
        <p:nvSpPr>
          <p:cNvPr id="3" name="Marcador de pie de página 2">
            <a:extLst>
              <a:ext uri="{FF2B5EF4-FFF2-40B4-BE49-F238E27FC236}">
                <a16:creationId xmlns:a16="http://schemas.microsoft.com/office/drawing/2014/main" id="{86BB1B79-AC8D-B0D2-0049-F3849BA93E7A}"/>
              </a:ext>
            </a:extLst>
          </p:cNvPr>
          <p:cNvSpPr>
            <a:spLocks noGrp="1"/>
          </p:cNvSpPr>
          <p:nvPr>
            <p:ph type="ftr" sz="quarter" idx="11"/>
          </p:nvPr>
        </p:nvSpPr>
        <p:spPr/>
        <p:txBody>
          <a:bodyPr/>
          <a:lstStyle/>
          <a:p>
            <a:r>
              <a:rPr lang="es-MX" dirty="0"/>
              <a:t>MSI600 - INTRODUCCIÓN CIENCIA DE DATOS</a:t>
            </a:r>
            <a:endParaRPr lang="es-CL" dirty="0"/>
          </a:p>
        </p:txBody>
      </p:sp>
      <p:sp>
        <p:nvSpPr>
          <p:cNvPr id="5" name="CuadroTexto 4">
            <a:extLst>
              <a:ext uri="{FF2B5EF4-FFF2-40B4-BE49-F238E27FC236}">
                <a16:creationId xmlns:a16="http://schemas.microsoft.com/office/drawing/2014/main" id="{92DA161D-E8D3-39B4-0F71-551A07A93FC7}"/>
              </a:ext>
            </a:extLst>
          </p:cNvPr>
          <p:cNvSpPr txBox="1"/>
          <p:nvPr/>
        </p:nvSpPr>
        <p:spPr>
          <a:xfrm>
            <a:off x="361949" y="231182"/>
            <a:ext cx="8686801" cy="461665"/>
          </a:xfrm>
          <a:prstGeom prst="rect">
            <a:avLst/>
          </a:prstGeom>
          <a:noFill/>
        </p:spPr>
        <p:txBody>
          <a:bodyPr wrap="square" rtlCol="0">
            <a:spAutoFit/>
          </a:bodyPr>
          <a:lstStyle/>
          <a:p>
            <a:r>
              <a:rPr lang="es-MX" sz="2400" dirty="0">
                <a:solidFill>
                  <a:srgbClr val="FFFFFF"/>
                </a:solidFill>
                <a:latin typeface="Montserrat" pitchFamily="2" charset="77"/>
                <a:ea typeface="+mj-ea"/>
                <a:cs typeface="Calibri Light"/>
              </a:rPr>
              <a:t>Resultados Obtenidos</a:t>
            </a:r>
            <a:endParaRPr lang="es-CL" dirty="0"/>
          </a:p>
        </p:txBody>
      </p:sp>
      <p:sp>
        <p:nvSpPr>
          <p:cNvPr id="6" name="Rectángulo: esquinas redondeadas 5">
            <a:extLst>
              <a:ext uri="{FF2B5EF4-FFF2-40B4-BE49-F238E27FC236}">
                <a16:creationId xmlns:a16="http://schemas.microsoft.com/office/drawing/2014/main" id="{7A75C440-208D-847A-45F9-88AEECD01D9F}"/>
              </a:ext>
            </a:extLst>
          </p:cNvPr>
          <p:cNvSpPr/>
          <p:nvPr/>
        </p:nvSpPr>
        <p:spPr>
          <a:xfrm>
            <a:off x="361949" y="1111047"/>
            <a:ext cx="5116062" cy="396240"/>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L" dirty="0"/>
              <a:t>Impacto Clínico : El Problema de la Detección Tardía</a:t>
            </a:r>
          </a:p>
        </p:txBody>
      </p:sp>
      <p:graphicFrame>
        <p:nvGraphicFramePr>
          <p:cNvPr id="11" name="Gráfico 10">
            <a:extLst>
              <a:ext uri="{FF2B5EF4-FFF2-40B4-BE49-F238E27FC236}">
                <a16:creationId xmlns:a16="http://schemas.microsoft.com/office/drawing/2014/main" id="{BA17A855-86EE-FA74-D783-C241FEBEBFDC}"/>
              </a:ext>
            </a:extLst>
          </p:cNvPr>
          <p:cNvGraphicFramePr/>
          <p:nvPr>
            <p:extLst>
              <p:ext uri="{D42A27DB-BD31-4B8C-83A1-F6EECF244321}">
                <p14:modId xmlns:p14="http://schemas.microsoft.com/office/powerpoint/2010/main" val="886338030"/>
              </p:ext>
            </p:extLst>
          </p:nvPr>
        </p:nvGraphicFramePr>
        <p:xfrm>
          <a:off x="361949" y="1705112"/>
          <a:ext cx="2900727" cy="359432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1" name="Gráfico 30">
            <a:extLst>
              <a:ext uri="{FF2B5EF4-FFF2-40B4-BE49-F238E27FC236}">
                <a16:creationId xmlns:a16="http://schemas.microsoft.com/office/drawing/2014/main" id="{FBCCD335-A095-CB73-C1C0-D2D4C2C89A79}"/>
              </a:ext>
            </a:extLst>
          </p:cNvPr>
          <p:cNvGraphicFramePr/>
          <p:nvPr>
            <p:extLst>
              <p:ext uri="{D42A27DB-BD31-4B8C-83A1-F6EECF244321}">
                <p14:modId xmlns:p14="http://schemas.microsoft.com/office/powerpoint/2010/main" val="2588608537"/>
              </p:ext>
            </p:extLst>
          </p:nvPr>
        </p:nvGraphicFramePr>
        <p:xfrm>
          <a:off x="3700557" y="1705112"/>
          <a:ext cx="3554908" cy="3584630"/>
        </p:xfrm>
        <a:graphic>
          <a:graphicData uri="http://schemas.openxmlformats.org/drawingml/2006/chart">
            <c:chart xmlns:c="http://schemas.openxmlformats.org/drawingml/2006/chart" xmlns:r="http://schemas.openxmlformats.org/officeDocument/2006/relationships" r:id="rId5"/>
          </a:graphicData>
        </a:graphic>
      </p:graphicFrame>
      <p:sp>
        <p:nvSpPr>
          <p:cNvPr id="32" name="Rectángulo: esquinas redondeadas 31">
            <a:extLst>
              <a:ext uri="{FF2B5EF4-FFF2-40B4-BE49-F238E27FC236}">
                <a16:creationId xmlns:a16="http://schemas.microsoft.com/office/drawing/2014/main" id="{3E382B0E-11AE-2C78-B5D0-7CD7B006A7DE}"/>
              </a:ext>
            </a:extLst>
          </p:cNvPr>
          <p:cNvSpPr/>
          <p:nvPr/>
        </p:nvSpPr>
        <p:spPr>
          <a:xfrm>
            <a:off x="326907" y="5459825"/>
            <a:ext cx="8756884" cy="666449"/>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2 de cada 3 pacientes (67%) se diagnostican en estadios avanzados, reduciendo opciones terapéuticas y supervivencia.</a:t>
            </a:r>
            <a:endParaRPr lang="es-CL" dirty="0"/>
          </a:p>
        </p:txBody>
      </p:sp>
      <p:sp>
        <p:nvSpPr>
          <p:cNvPr id="33" name="Rectángulo: esquinas redondeadas 32">
            <a:extLst>
              <a:ext uri="{FF2B5EF4-FFF2-40B4-BE49-F238E27FC236}">
                <a16:creationId xmlns:a16="http://schemas.microsoft.com/office/drawing/2014/main" id="{C782C0F6-FBE1-2524-6AB1-65EB581F4729}"/>
              </a:ext>
            </a:extLst>
          </p:cNvPr>
          <p:cNvSpPr/>
          <p:nvPr/>
        </p:nvSpPr>
        <p:spPr>
          <a:xfrm>
            <a:off x="7693346" y="1705112"/>
            <a:ext cx="4251575" cy="2600701"/>
          </a:xfrm>
          <a:prstGeom prst="round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CL" sz="1400" dirty="0">
                <a:solidFill>
                  <a:schemeClr val="tx1"/>
                </a:solidFill>
              </a:rPr>
              <a:t>⚕️ IMPACTO EN SUPERVIVENCIA A 5 AÑOS:  </a:t>
            </a:r>
          </a:p>
          <a:p>
            <a:pPr algn="ctr"/>
            <a:r>
              <a:rPr lang="es-CL" sz="1400" dirty="0">
                <a:solidFill>
                  <a:schemeClr val="tx1"/>
                </a:solidFill>
              </a:rPr>
              <a:t>        </a:t>
            </a:r>
          </a:p>
          <a:p>
            <a:r>
              <a:rPr lang="es-CL" sz="1400" dirty="0">
                <a:solidFill>
                  <a:schemeClr val="tx1"/>
                </a:solidFill>
              </a:rPr>
              <a:t>Estadio I-II (temprano)	:	90% supervivencia </a:t>
            </a:r>
          </a:p>
          <a:p>
            <a:r>
              <a:rPr lang="es-CL" sz="1400" dirty="0">
                <a:solidFill>
                  <a:schemeClr val="tx1"/>
                </a:solidFill>
              </a:rPr>
              <a:t>Estadio III (avanzado)	:	64% supervivencia   </a:t>
            </a:r>
          </a:p>
          <a:p>
            <a:r>
              <a:rPr lang="es-CL" sz="1400" dirty="0">
                <a:solidFill>
                  <a:schemeClr val="tx1"/>
                </a:solidFill>
              </a:rPr>
              <a:t>Estadio IV (metastásico)	:	14% supervivencia</a:t>
            </a:r>
          </a:p>
          <a:p>
            <a:pPr algn="ctr"/>
            <a:r>
              <a:rPr lang="es-CL" sz="1400" dirty="0">
                <a:solidFill>
                  <a:schemeClr val="tx1"/>
                </a:solidFill>
              </a:rPr>
              <a:t>                                                  </a:t>
            </a:r>
          </a:p>
          <a:p>
            <a:r>
              <a:rPr lang="es-CL" sz="1400" dirty="0">
                <a:solidFill>
                  <a:schemeClr val="tx1"/>
                </a:solidFill>
              </a:rPr>
              <a:t>  → La detección temprana multiplica por 6       </a:t>
            </a:r>
          </a:p>
          <a:p>
            <a:r>
              <a:rPr lang="es-CL" sz="1400" dirty="0">
                <a:solidFill>
                  <a:schemeClr val="tx1"/>
                </a:solidFill>
              </a:rPr>
              <a:t>    las probabilidades de supervivencia </a:t>
            </a:r>
          </a:p>
        </p:txBody>
      </p:sp>
    </p:spTree>
    <p:extLst>
      <p:ext uri="{BB962C8B-B14F-4D97-AF65-F5344CB8AC3E}">
        <p14:creationId xmlns:p14="http://schemas.microsoft.com/office/powerpoint/2010/main" val="3941297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0ECAE-8B0E-B9B8-AB2F-070B72DDF8A7}"/>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96B3AE9A-74BA-0929-1374-BAD67158FA15}"/>
              </a:ext>
            </a:extLst>
          </p:cNvPr>
          <p:cNvSpPr/>
          <p:nvPr/>
        </p:nvSpPr>
        <p:spPr>
          <a:xfrm>
            <a:off x="0" y="8253"/>
            <a:ext cx="12206868" cy="879865"/>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pic>
        <p:nvPicPr>
          <p:cNvPr id="2" name="Imagen 1">
            <a:extLst>
              <a:ext uri="{FF2B5EF4-FFF2-40B4-BE49-F238E27FC236}">
                <a16:creationId xmlns:a16="http://schemas.microsoft.com/office/drawing/2014/main" id="{DA21A1F5-E95B-F34D-3C1B-4FFBC22DF70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658342" y="-60091"/>
            <a:ext cx="2996324" cy="1014884"/>
          </a:xfrm>
          <a:prstGeom prst="rect">
            <a:avLst/>
          </a:prstGeom>
        </p:spPr>
      </p:pic>
      <p:sp>
        <p:nvSpPr>
          <p:cNvPr id="8" name="Rectángulo 7">
            <a:extLst>
              <a:ext uri="{FF2B5EF4-FFF2-40B4-BE49-F238E27FC236}">
                <a16:creationId xmlns:a16="http://schemas.microsoft.com/office/drawing/2014/main" id="{B7144467-2537-506E-0D59-2C00B7E29882}"/>
              </a:ext>
            </a:extLst>
          </p:cNvPr>
          <p:cNvSpPr/>
          <p:nvPr/>
        </p:nvSpPr>
        <p:spPr>
          <a:xfrm>
            <a:off x="0" y="6276975"/>
            <a:ext cx="12206868" cy="572772"/>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sp>
        <p:nvSpPr>
          <p:cNvPr id="10" name="Marcador de número de diapositiva 9">
            <a:extLst>
              <a:ext uri="{FF2B5EF4-FFF2-40B4-BE49-F238E27FC236}">
                <a16:creationId xmlns:a16="http://schemas.microsoft.com/office/drawing/2014/main" id="{778A609E-A0A9-1CE0-D22E-76C89F0D920B}"/>
              </a:ext>
            </a:extLst>
          </p:cNvPr>
          <p:cNvSpPr>
            <a:spLocks noGrp="1"/>
          </p:cNvSpPr>
          <p:nvPr>
            <p:ph type="sldNum" sz="quarter" idx="12"/>
          </p:nvPr>
        </p:nvSpPr>
        <p:spPr/>
        <p:txBody>
          <a:bodyPr/>
          <a:lstStyle/>
          <a:p>
            <a:fld id="{524E32BF-339A-4FD7-AF2D-884DBB49ECE9}" type="slidenum">
              <a:rPr lang="es-CL" smtClean="0"/>
              <a:t>10</a:t>
            </a:fld>
            <a:endParaRPr lang="es-CL" dirty="0"/>
          </a:p>
        </p:txBody>
      </p:sp>
      <p:sp>
        <p:nvSpPr>
          <p:cNvPr id="3" name="Marcador de pie de página 2">
            <a:extLst>
              <a:ext uri="{FF2B5EF4-FFF2-40B4-BE49-F238E27FC236}">
                <a16:creationId xmlns:a16="http://schemas.microsoft.com/office/drawing/2014/main" id="{3B03231E-2DB4-4126-272E-F76B10DD5C56}"/>
              </a:ext>
            </a:extLst>
          </p:cNvPr>
          <p:cNvSpPr>
            <a:spLocks noGrp="1"/>
          </p:cNvSpPr>
          <p:nvPr>
            <p:ph type="ftr" sz="quarter" idx="11"/>
          </p:nvPr>
        </p:nvSpPr>
        <p:spPr/>
        <p:txBody>
          <a:bodyPr/>
          <a:lstStyle/>
          <a:p>
            <a:r>
              <a:rPr lang="es-MX" dirty="0"/>
              <a:t>MSI600 - INTRODUCCIÓN CIENCIA DE DATOS</a:t>
            </a:r>
            <a:endParaRPr lang="es-CL" dirty="0"/>
          </a:p>
        </p:txBody>
      </p:sp>
      <p:sp>
        <p:nvSpPr>
          <p:cNvPr id="5" name="CuadroTexto 4">
            <a:extLst>
              <a:ext uri="{FF2B5EF4-FFF2-40B4-BE49-F238E27FC236}">
                <a16:creationId xmlns:a16="http://schemas.microsoft.com/office/drawing/2014/main" id="{CAE6FCF5-D9E5-A192-70CF-BE671E105289}"/>
              </a:ext>
            </a:extLst>
          </p:cNvPr>
          <p:cNvSpPr txBox="1"/>
          <p:nvPr/>
        </p:nvSpPr>
        <p:spPr>
          <a:xfrm>
            <a:off x="361949" y="231182"/>
            <a:ext cx="8686801" cy="461665"/>
          </a:xfrm>
          <a:prstGeom prst="rect">
            <a:avLst/>
          </a:prstGeom>
          <a:noFill/>
        </p:spPr>
        <p:txBody>
          <a:bodyPr wrap="square" rtlCol="0">
            <a:spAutoFit/>
          </a:bodyPr>
          <a:lstStyle/>
          <a:p>
            <a:r>
              <a:rPr lang="es-MX" sz="2400" dirty="0">
                <a:solidFill>
                  <a:srgbClr val="FFFFFF"/>
                </a:solidFill>
                <a:latin typeface="Montserrat" pitchFamily="2" charset="77"/>
                <a:ea typeface="+mj-ea"/>
                <a:cs typeface="Calibri Light"/>
              </a:rPr>
              <a:t>Discusión</a:t>
            </a:r>
            <a:endParaRPr lang="es-CL" dirty="0"/>
          </a:p>
        </p:txBody>
      </p:sp>
      <p:sp>
        <p:nvSpPr>
          <p:cNvPr id="6" name="Rectángulo: esquinas redondeadas 5">
            <a:extLst>
              <a:ext uri="{FF2B5EF4-FFF2-40B4-BE49-F238E27FC236}">
                <a16:creationId xmlns:a16="http://schemas.microsoft.com/office/drawing/2014/main" id="{E0A0AB05-6BD1-B958-194A-1CE2382D2C96}"/>
              </a:ext>
            </a:extLst>
          </p:cNvPr>
          <p:cNvSpPr/>
          <p:nvPr/>
        </p:nvSpPr>
        <p:spPr>
          <a:xfrm>
            <a:off x="361949" y="1000385"/>
            <a:ext cx="5116062" cy="396240"/>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CL" dirty="0"/>
              <a:t>Optimización del protocolo GES</a:t>
            </a:r>
          </a:p>
        </p:txBody>
      </p:sp>
      <p:sp>
        <p:nvSpPr>
          <p:cNvPr id="7" name="Rectángulo: esquinas redondeadas 6">
            <a:extLst>
              <a:ext uri="{FF2B5EF4-FFF2-40B4-BE49-F238E27FC236}">
                <a16:creationId xmlns:a16="http://schemas.microsoft.com/office/drawing/2014/main" id="{97D1278B-908C-0FAD-D4D5-40853B17BA8A}"/>
              </a:ext>
            </a:extLst>
          </p:cNvPr>
          <p:cNvSpPr/>
          <p:nvPr/>
        </p:nvSpPr>
        <p:spPr>
          <a:xfrm>
            <a:off x="361949" y="1524897"/>
            <a:ext cx="3676651" cy="3290383"/>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s-MX" sz="1400" dirty="0"/>
              <a:t>✅ </a:t>
            </a:r>
            <a:r>
              <a:rPr lang="es-MX" sz="1200" dirty="0"/>
              <a:t>VENTAJAS:</a:t>
            </a:r>
          </a:p>
          <a:p>
            <a:endParaRPr lang="es-MX" sz="1200" dirty="0"/>
          </a:p>
          <a:p>
            <a:r>
              <a:rPr lang="es-MX" sz="1200" dirty="0"/>
              <a:t>• Muy buen rendimiento (AUC = 0,86)</a:t>
            </a:r>
          </a:p>
          <a:p>
            <a:r>
              <a:rPr lang="es-MX" sz="1200" dirty="0"/>
              <a:t>  → Supera estándares clínicos</a:t>
            </a:r>
          </a:p>
          <a:p>
            <a:endParaRPr lang="es-MX" sz="1200" dirty="0"/>
          </a:p>
          <a:p>
            <a:r>
              <a:rPr lang="es-MX" sz="1200" dirty="0"/>
              <a:t>• Uso de variables accesibles</a:t>
            </a:r>
          </a:p>
          <a:p>
            <a:r>
              <a:rPr lang="es-MX" sz="1200" dirty="0"/>
              <a:t>  → Aplicable en sistema público</a:t>
            </a:r>
          </a:p>
          <a:p>
            <a:endParaRPr lang="es-MX" sz="1200" dirty="0"/>
          </a:p>
          <a:p>
            <a:r>
              <a:rPr lang="es-MX" sz="1200" dirty="0"/>
              <a:t>• Validación robusta (n = 1.099)</a:t>
            </a:r>
          </a:p>
          <a:p>
            <a:r>
              <a:rPr lang="es-MX" sz="1200" dirty="0"/>
              <a:t>  → 5 años de datos retrospectivos</a:t>
            </a:r>
          </a:p>
          <a:p>
            <a:endParaRPr lang="es-MX" sz="1200" dirty="0"/>
          </a:p>
          <a:p>
            <a:r>
              <a:rPr lang="es-MX" sz="1200" dirty="0"/>
              <a:t>• Compatible con GES actual</a:t>
            </a:r>
          </a:p>
          <a:p>
            <a:r>
              <a:rPr lang="es-MX" sz="1200" dirty="0"/>
              <a:t>  → No requiere cambio radical</a:t>
            </a:r>
            <a:endParaRPr lang="es-CL" sz="1200" dirty="0"/>
          </a:p>
        </p:txBody>
      </p:sp>
      <p:sp>
        <p:nvSpPr>
          <p:cNvPr id="9" name="Rectángulo: esquinas redondeadas 8">
            <a:extLst>
              <a:ext uri="{FF2B5EF4-FFF2-40B4-BE49-F238E27FC236}">
                <a16:creationId xmlns:a16="http://schemas.microsoft.com/office/drawing/2014/main" id="{2EA706AA-E70C-EFEC-162C-EC850E4AEAB5}"/>
              </a:ext>
            </a:extLst>
          </p:cNvPr>
          <p:cNvSpPr/>
          <p:nvPr/>
        </p:nvSpPr>
        <p:spPr>
          <a:xfrm>
            <a:off x="4360002" y="1524898"/>
            <a:ext cx="3676651" cy="3290382"/>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s-MX" sz="1400" dirty="0">
                <a:solidFill>
                  <a:schemeClr val="tx1"/>
                </a:solidFill>
              </a:rPr>
              <a:t>⚠️ </a:t>
            </a:r>
            <a:r>
              <a:rPr lang="es-MX" sz="1200" dirty="0">
                <a:solidFill>
                  <a:schemeClr val="tx1"/>
                </a:solidFill>
              </a:rPr>
              <a:t>DESAFÍOS:</a:t>
            </a:r>
          </a:p>
          <a:p>
            <a:endParaRPr lang="es-MX" sz="1200" dirty="0">
              <a:solidFill>
                <a:schemeClr val="tx1"/>
              </a:solidFill>
            </a:endParaRPr>
          </a:p>
          <a:p>
            <a:r>
              <a:rPr lang="es-MX" sz="1200" dirty="0">
                <a:solidFill>
                  <a:schemeClr val="tx1"/>
                </a:solidFill>
              </a:rPr>
              <a:t>• Estudio retrospectivo</a:t>
            </a:r>
          </a:p>
          <a:p>
            <a:r>
              <a:rPr lang="es-MX" sz="1200" dirty="0">
                <a:solidFill>
                  <a:schemeClr val="tx1"/>
                </a:solidFill>
              </a:rPr>
              <a:t>  → Necesita validación prospectiva</a:t>
            </a:r>
          </a:p>
          <a:p>
            <a:endParaRPr lang="es-MX" sz="1200" dirty="0">
              <a:solidFill>
                <a:schemeClr val="tx1"/>
              </a:solidFill>
            </a:endParaRPr>
          </a:p>
          <a:p>
            <a:r>
              <a:rPr lang="es-MX" sz="1200" dirty="0">
                <a:solidFill>
                  <a:schemeClr val="tx1"/>
                </a:solidFill>
              </a:rPr>
              <a:t>• Un solo centro hospitalario</a:t>
            </a:r>
          </a:p>
          <a:p>
            <a:r>
              <a:rPr lang="es-MX" sz="1200" dirty="0">
                <a:solidFill>
                  <a:schemeClr val="tx1"/>
                </a:solidFill>
              </a:rPr>
              <a:t>  → Generalización limitada</a:t>
            </a:r>
          </a:p>
          <a:p>
            <a:endParaRPr lang="es-MX" sz="1200" dirty="0">
              <a:solidFill>
                <a:schemeClr val="tx1"/>
              </a:solidFill>
            </a:endParaRPr>
          </a:p>
          <a:p>
            <a:r>
              <a:rPr lang="es-MX" sz="1200" dirty="0">
                <a:solidFill>
                  <a:schemeClr val="tx1"/>
                </a:solidFill>
              </a:rPr>
              <a:t>• Falta análisis de costo-beneficio</a:t>
            </a:r>
          </a:p>
          <a:p>
            <a:r>
              <a:rPr lang="es-MX" sz="1200" dirty="0">
                <a:solidFill>
                  <a:schemeClr val="tx1"/>
                </a:solidFill>
              </a:rPr>
              <a:t>  → Implementación incierta</a:t>
            </a:r>
          </a:p>
          <a:p>
            <a:endParaRPr lang="es-MX" sz="1200" dirty="0">
              <a:solidFill>
                <a:schemeClr val="tx1"/>
              </a:solidFill>
            </a:endParaRPr>
          </a:p>
          <a:p>
            <a:r>
              <a:rPr lang="es-MX" sz="1200" dirty="0">
                <a:solidFill>
                  <a:schemeClr val="tx1"/>
                </a:solidFill>
              </a:rPr>
              <a:t>• No considera comorbilidades complejas</a:t>
            </a:r>
          </a:p>
          <a:p>
            <a:r>
              <a:rPr lang="es-MX" sz="1200" dirty="0">
                <a:solidFill>
                  <a:schemeClr val="tx1"/>
                </a:solidFill>
              </a:rPr>
              <a:t>  → Población real más heterogénea</a:t>
            </a:r>
          </a:p>
          <a:p>
            <a:endParaRPr lang="es-MX" sz="1200" dirty="0">
              <a:solidFill>
                <a:schemeClr val="tx1"/>
              </a:solidFill>
            </a:endParaRPr>
          </a:p>
          <a:p>
            <a:r>
              <a:rPr lang="es-MX" sz="1200" dirty="0">
                <a:solidFill>
                  <a:schemeClr val="tx1"/>
                </a:solidFill>
              </a:rPr>
              <a:t>• Dependencia de estudios imagenológicos</a:t>
            </a:r>
          </a:p>
          <a:p>
            <a:r>
              <a:rPr lang="es-MX" sz="1200" dirty="0">
                <a:solidFill>
                  <a:schemeClr val="tx1"/>
                </a:solidFill>
              </a:rPr>
              <a:t>  → Disponibilidad variable en regiones</a:t>
            </a:r>
            <a:endParaRPr lang="es-CL" sz="1200" dirty="0">
              <a:solidFill>
                <a:schemeClr val="tx1"/>
              </a:solidFill>
            </a:endParaRPr>
          </a:p>
        </p:txBody>
      </p:sp>
      <p:sp>
        <p:nvSpPr>
          <p:cNvPr id="11" name="Rectángulo: esquinas redondeadas 10">
            <a:extLst>
              <a:ext uri="{FF2B5EF4-FFF2-40B4-BE49-F238E27FC236}">
                <a16:creationId xmlns:a16="http://schemas.microsoft.com/office/drawing/2014/main" id="{9AA29E8B-261E-00AC-CE81-758EF3850932}"/>
              </a:ext>
            </a:extLst>
          </p:cNvPr>
          <p:cNvSpPr/>
          <p:nvPr/>
        </p:nvSpPr>
        <p:spPr>
          <a:xfrm>
            <a:off x="8358055" y="1524898"/>
            <a:ext cx="3676651" cy="329038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s-MX" sz="1400" dirty="0"/>
              <a:t>💡 </a:t>
            </a:r>
            <a:r>
              <a:rPr lang="es-MX" sz="1200" dirty="0"/>
              <a:t>SI GES ADOPTARA LAS 4 VARIABLES NUEVAS:</a:t>
            </a:r>
          </a:p>
          <a:p>
            <a:endParaRPr lang="es-MX" sz="1200" dirty="0"/>
          </a:p>
          <a:p>
            <a:r>
              <a:rPr lang="es-MX" sz="1200" dirty="0"/>
              <a:t>Modelo actual GES: 5 variables validadas</a:t>
            </a:r>
          </a:p>
          <a:p>
            <a:r>
              <a:rPr lang="es-MX" sz="1200" dirty="0"/>
              <a:t>Modelo propuesto: 9 variables (+ 4 nuevas)</a:t>
            </a:r>
          </a:p>
          <a:p>
            <a:endParaRPr lang="es-MX" sz="1200" dirty="0"/>
          </a:p>
          <a:p>
            <a:r>
              <a:rPr lang="es-MX" sz="1200" dirty="0"/>
              <a:t>IMPACTO ESTIMADO (por cada 1.000 pacientes):</a:t>
            </a:r>
          </a:p>
          <a:p>
            <a:endParaRPr lang="es-MX" sz="1200" dirty="0"/>
          </a:p>
          <a:p>
            <a:r>
              <a:rPr lang="es-MX" sz="1200" dirty="0"/>
              <a:t>• Mejora en detección temprana: +12-15%</a:t>
            </a:r>
          </a:p>
          <a:p>
            <a:r>
              <a:rPr lang="es-MX" sz="1200" dirty="0"/>
              <a:t>• Reducción diagnóstico tardío: -8-10%</a:t>
            </a:r>
          </a:p>
          <a:p>
            <a:r>
              <a:rPr lang="es-MX" sz="1200" dirty="0"/>
              <a:t>• Vidas salvadas potenciales: 8-12 pacientes</a:t>
            </a:r>
          </a:p>
          <a:p>
            <a:r>
              <a:rPr lang="es-MX" sz="1200" dirty="0"/>
              <a:t>• Mejora supervivencia a 5 años: +18-22%</a:t>
            </a:r>
          </a:p>
          <a:p>
            <a:endParaRPr lang="es-MX" sz="1200" dirty="0"/>
          </a:p>
          <a:p>
            <a:r>
              <a:rPr lang="es-MX" sz="1200" dirty="0"/>
              <a:t>→ Costo adicional: Mínimo (variables clínicas)</a:t>
            </a:r>
          </a:p>
          <a:p>
            <a:r>
              <a:rPr lang="es-MX" sz="1200" dirty="0"/>
              <a:t>→ Beneficio: Alto impacto en salud pública</a:t>
            </a:r>
            <a:endParaRPr lang="es-CL" sz="1200" dirty="0"/>
          </a:p>
        </p:txBody>
      </p:sp>
      <p:sp>
        <p:nvSpPr>
          <p:cNvPr id="12" name="Rectángulo: esquinas redondeadas 11">
            <a:extLst>
              <a:ext uri="{FF2B5EF4-FFF2-40B4-BE49-F238E27FC236}">
                <a16:creationId xmlns:a16="http://schemas.microsoft.com/office/drawing/2014/main" id="{0BAECC97-EB37-0423-BD90-9D5DC19B1807}"/>
              </a:ext>
            </a:extLst>
          </p:cNvPr>
          <p:cNvSpPr/>
          <p:nvPr/>
        </p:nvSpPr>
        <p:spPr>
          <a:xfrm>
            <a:off x="361949" y="5005908"/>
            <a:ext cx="11672757" cy="1073920"/>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s-MX" sz="1400" dirty="0"/>
              <a:t>🔑 </a:t>
            </a:r>
            <a:r>
              <a:rPr lang="es-MX" sz="1200" dirty="0"/>
              <a:t>CONCLUSIÓN CRÍTICA:</a:t>
            </a:r>
          </a:p>
          <a:p>
            <a:pPr marL="285750" indent="-285750">
              <a:buFont typeface="Arial" panose="020B0604020202020204" pitchFamily="34" charset="0"/>
              <a:buChar char="•"/>
            </a:pPr>
            <a:endParaRPr lang="es-MX" sz="1200" dirty="0"/>
          </a:p>
          <a:p>
            <a:pPr marL="285750" indent="-285750">
              <a:buFont typeface="Arial" panose="020B0604020202020204" pitchFamily="34" charset="0"/>
              <a:buChar char="•"/>
            </a:pPr>
            <a:r>
              <a:rPr lang="es-MX" sz="1200" dirty="0"/>
              <a:t>La incorporación de 4 variables adicionales al protocolo GES podría mejorar significativamente la detección temprana de CCR sin aumentar sustancialmente los costos operacionales del sistema público.</a:t>
            </a:r>
          </a:p>
        </p:txBody>
      </p:sp>
    </p:spTree>
    <p:extLst>
      <p:ext uri="{BB962C8B-B14F-4D97-AF65-F5344CB8AC3E}">
        <p14:creationId xmlns:p14="http://schemas.microsoft.com/office/powerpoint/2010/main" val="1252844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6B886-7913-F681-F891-EBDA8770359B}"/>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EAEEF631-E86A-B4B2-D1E8-830B63550960}"/>
              </a:ext>
            </a:extLst>
          </p:cNvPr>
          <p:cNvSpPr/>
          <p:nvPr/>
        </p:nvSpPr>
        <p:spPr>
          <a:xfrm>
            <a:off x="0" y="8253"/>
            <a:ext cx="12206868" cy="879865"/>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pic>
        <p:nvPicPr>
          <p:cNvPr id="2" name="Imagen 1">
            <a:extLst>
              <a:ext uri="{FF2B5EF4-FFF2-40B4-BE49-F238E27FC236}">
                <a16:creationId xmlns:a16="http://schemas.microsoft.com/office/drawing/2014/main" id="{1DF93391-DFE5-49DE-96C8-FB78C93D586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658342" y="-60091"/>
            <a:ext cx="2996324" cy="1014884"/>
          </a:xfrm>
          <a:prstGeom prst="rect">
            <a:avLst/>
          </a:prstGeom>
        </p:spPr>
      </p:pic>
      <p:sp>
        <p:nvSpPr>
          <p:cNvPr id="8" name="Rectángulo 7">
            <a:extLst>
              <a:ext uri="{FF2B5EF4-FFF2-40B4-BE49-F238E27FC236}">
                <a16:creationId xmlns:a16="http://schemas.microsoft.com/office/drawing/2014/main" id="{B9D10EDE-7158-06CF-69AC-A5033867964B}"/>
              </a:ext>
            </a:extLst>
          </p:cNvPr>
          <p:cNvSpPr/>
          <p:nvPr/>
        </p:nvSpPr>
        <p:spPr>
          <a:xfrm>
            <a:off x="0" y="6276975"/>
            <a:ext cx="12206868" cy="572772"/>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sp>
        <p:nvSpPr>
          <p:cNvPr id="10" name="Marcador de número de diapositiva 9">
            <a:extLst>
              <a:ext uri="{FF2B5EF4-FFF2-40B4-BE49-F238E27FC236}">
                <a16:creationId xmlns:a16="http://schemas.microsoft.com/office/drawing/2014/main" id="{1EC93B85-3516-03BF-46C0-E85F49B7CB05}"/>
              </a:ext>
            </a:extLst>
          </p:cNvPr>
          <p:cNvSpPr>
            <a:spLocks noGrp="1"/>
          </p:cNvSpPr>
          <p:nvPr>
            <p:ph type="sldNum" sz="quarter" idx="12"/>
          </p:nvPr>
        </p:nvSpPr>
        <p:spPr/>
        <p:txBody>
          <a:bodyPr/>
          <a:lstStyle/>
          <a:p>
            <a:fld id="{524E32BF-339A-4FD7-AF2D-884DBB49ECE9}" type="slidenum">
              <a:rPr lang="es-CL" smtClean="0"/>
              <a:t>11</a:t>
            </a:fld>
            <a:endParaRPr lang="es-CL" dirty="0"/>
          </a:p>
        </p:txBody>
      </p:sp>
      <p:sp>
        <p:nvSpPr>
          <p:cNvPr id="3" name="Marcador de pie de página 2">
            <a:extLst>
              <a:ext uri="{FF2B5EF4-FFF2-40B4-BE49-F238E27FC236}">
                <a16:creationId xmlns:a16="http://schemas.microsoft.com/office/drawing/2014/main" id="{D7398933-09CC-F401-BC7A-5E6EDBE65D2B}"/>
              </a:ext>
            </a:extLst>
          </p:cNvPr>
          <p:cNvSpPr>
            <a:spLocks noGrp="1"/>
          </p:cNvSpPr>
          <p:nvPr>
            <p:ph type="ftr" sz="quarter" idx="11"/>
          </p:nvPr>
        </p:nvSpPr>
        <p:spPr/>
        <p:txBody>
          <a:bodyPr/>
          <a:lstStyle/>
          <a:p>
            <a:r>
              <a:rPr lang="es-MX" dirty="0"/>
              <a:t>MSI600 - INTRODUCCIÓN CIENCIA DE DATOS</a:t>
            </a:r>
            <a:endParaRPr lang="es-CL" dirty="0"/>
          </a:p>
        </p:txBody>
      </p:sp>
      <p:sp>
        <p:nvSpPr>
          <p:cNvPr id="5" name="CuadroTexto 4">
            <a:extLst>
              <a:ext uri="{FF2B5EF4-FFF2-40B4-BE49-F238E27FC236}">
                <a16:creationId xmlns:a16="http://schemas.microsoft.com/office/drawing/2014/main" id="{668A19C4-984F-B0B8-56C0-297A8C142A40}"/>
              </a:ext>
            </a:extLst>
          </p:cNvPr>
          <p:cNvSpPr txBox="1"/>
          <p:nvPr/>
        </p:nvSpPr>
        <p:spPr>
          <a:xfrm>
            <a:off x="361949" y="231182"/>
            <a:ext cx="8686801" cy="461665"/>
          </a:xfrm>
          <a:prstGeom prst="rect">
            <a:avLst/>
          </a:prstGeom>
          <a:noFill/>
        </p:spPr>
        <p:txBody>
          <a:bodyPr wrap="square" rtlCol="0">
            <a:spAutoFit/>
          </a:bodyPr>
          <a:lstStyle/>
          <a:p>
            <a:r>
              <a:rPr lang="es-MX" sz="2400" dirty="0">
                <a:solidFill>
                  <a:srgbClr val="FFFFFF"/>
                </a:solidFill>
                <a:latin typeface="Montserrat" pitchFamily="2" charset="77"/>
                <a:ea typeface="+mj-ea"/>
                <a:cs typeface="Calibri Light"/>
              </a:rPr>
              <a:t>Conclusiones</a:t>
            </a:r>
            <a:endParaRPr lang="es-CL" dirty="0"/>
          </a:p>
        </p:txBody>
      </p:sp>
    </p:spTree>
    <p:extLst>
      <p:ext uri="{BB962C8B-B14F-4D97-AF65-F5344CB8AC3E}">
        <p14:creationId xmlns:p14="http://schemas.microsoft.com/office/powerpoint/2010/main" val="1120360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9EE20-6FAA-A18E-D041-306889C4184A}"/>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F205B91C-0F7D-F077-52FA-812BA9B73CAF}"/>
              </a:ext>
            </a:extLst>
          </p:cNvPr>
          <p:cNvSpPr/>
          <p:nvPr/>
        </p:nvSpPr>
        <p:spPr>
          <a:xfrm>
            <a:off x="0" y="8253"/>
            <a:ext cx="12206868" cy="879865"/>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pic>
        <p:nvPicPr>
          <p:cNvPr id="2" name="Imagen 1">
            <a:extLst>
              <a:ext uri="{FF2B5EF4-FFF2-40B4-BE49-F238E27FC236}">
                <a16:creationId xmlns:a16="http://schemas.microsoft.com/office/drawing/2014/main" id="{1A6E5C04-85B3-86FE-824E-77FE5226C4C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658342" y="-60091"/>
            <a:ext cx="2996324" cy="1014884"/>
          </a:xfrm>
          <a:prstGeom prst="rect">
            <a:avLst/>
          </a:prstGeom>
        </p:spPr>
      </p:pic>
      <p:sp>
        <p:nvSpPr>
          <p:cNvPr id="8" name="Rectángulo 7">
            <a:extLst>
              <a:ext uri="{FF2B5EF4-FFF2-40B4-BE49-F238E27FC236}">
                <a16:creationId xmlns:a16="http://schemas.microsoft.com/office/drawing/2014/main" id="{CBC3C83D-3005-04D9-796B-D9B223C0CF3C}"/>
              </a:ext>
            </a:extLst>
          </p:cNvPr>
          <p:cNvSpPr/>
          <p:nvPr/>
        </p:nvSpPr>
        <p:spPr>
          <a:xfrm>
            <a:off x="0" y="6276975"/>
            <a:ext cx="12206868" cy="572772"/>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sp>
        <p:nvSpPr>
          <p:cNvPr id="10" name="Marcador de número de diapositiva 9">
            <a:extLst>
              <a:ext uri="{FF2B5EF4-FFF2-40B4-BE49-F238E27FC236}">
                <a16:creationId xmlns:a16="http://schemas.microsoft.com/office/drawing/2014/main" id="{BACDA5CB-9DA7-3D8F-AD0E-EBFEA13D4B43}"/>
              </a:ext>
            </a:extLst>
          </p:cNvPr>
          <p:cNvSpPr>
            <a:spLocks noGrp="1"/>
          </p:cNvSpPr>
          <p:nvPr>
            <p:ph type="sldNum" sz="quarter" idx="12"/>
          </p:nvPr>
        </p:nvSpPr>
        <p:spPr/>
        <p:txBody>
          <a:bodyPr/>
          <a:lstStyle/>
          <a:p>
            <a:fld id="{524E32BF-339A-4FD7-AF2D-884DBB49ECE9}" type="slidenum">
              <a:rPr lang="es-CL" smtClean="0"/>
              <a:t>12</a:t>
            </a:fld>
            <a:endParaRPr lang="es-CL" dirty="0"/>
          </a:p>
        </p:txBody>
      </p:sp>
      <p:sp>
        <p:nvSpPr>
          <p:cNvPr id="3" name="Marcador de pie de página 2">
            <a:extLst>
              <a:ext uri="{FF2B5EF4-FFF2-40B4-BE49-F238E27FC236}">
                <a16:creationId xmlns:a16="http://schemas.microsoft.com/office/drawing/2014/main" id="{BA14B671-93E5-76BA-C43F-AFDCCAE83ABA}"/>
              </a:ext>
            </a:extLst>
          </p:cNvPr>
          <p:cNvSpPr>
            <a:spLocks noGrp="1"/>
          </p:cNvSpPr>
          <p:nvPr>
            <p:ph type="ftr" sz="quarter" idx="11"/>
          </p:nvPr>
        </p:nvSpPr>
        <p:spPr/>
        <p:txBody>
          <a:bodyPr/>
          <a:lstStyle/>
          <a:p>
            <a:r>
              <a:rPr lang="es-MX" dirty="0"/>
              <a:t>MSI600 - INTRODUCCIÓN CIENCIA DE DATOS</a:t>
            </a:r>
            <a:endParaRPr lang="es-CL" dirty="0"/>
          </a:p>
        </p:txBody>
      </p:sp>
      <p:sp>
        <p:nvSpPr>
          <p:cNvPr id="5" name="CuadroTexto 4">
            <a:extLst>
              <a:ext uri="{FF2B5EF4-FFF2-40B4-BE49-F238E27FC236}">
                <a16:creationId xmlns:a16="http://schemas.microsoft.com/office/drawing/2014/main" id="{C1C81832-D5EE-B9A0-CA2F-95D80AF9ED81}"/>
              </a:ext>
            </a:extLst>
          </p:cNvPr>
          <p:cNvSpPr txBox="1"/>
          <p:nvPr/>
        </p:nvSpPr>
        <p:spPr>
          <a:xfrm>
            <a:off x="361949" y="231182"/>
            <a:ext cx="8686801" cy="461665"/>
          </a:xfrm>
          <a:prstGeom prst="rect">
            <a:avLst/>
          </a:prstGeom>
          <a:noFill/>
        </p:spPr>
        <p:txBody>
          <a:bodyPr wrap="square" rtlCol="0">
            <a:spAutoFit/>
          </a:bodyPr>
          <a:lstStyle/>
          <a:p>
            <a:r>
              <a:rPr lang="es-MX" sz="2400" dirty="0">
                <a:solidFill>
                  <a:srgbClr val="FFFFFF"/>
                </a:solidFill>
                <a:latin typeface="Montserrat" pitchFamily="2" charset="77"/>
                <a:ea typeface="+mj-ea"/>
                <a:cs typeface="Calibri Light"/>
              </a:rPr>
              <a:t>Referencias Bibliográficas</a:t>
            </a:r>
            <a:endParaRPr lang="es-CL" dirty="0"/>
          </a:p>
        </p:txBody>
      </p:sp>
    </p:spTree>
    <p:extLst>
      <p:ext uri="{BB962C8B-B14F-4D97-AF65-F5344CB8AC3E}">
        <p14:creationId xmlns:p14="http://schemas.microsoft.com/office/powerpoint/2010/main" val="436099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2513E-B576-5E1A-D9D2-4ACA9D95AF72}"/>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668AA381-B591-D8B3-F15F-6743B80B9D7A}"/>
              </a:ext>
            </a:extLst>
          </p:cNvPr>
          <p:cNvSpPr/>
          <p:nvPr/>
        </p:nvSpPr>
        <p:spPr>
          <a:xfrm>
            <a:off x="0" y="8253"/>
            <a:ext cx="12206868" cy="6268722"/>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sp>
        <p:nvSpPr>
          <p:cNvPr id="8" name="Rectángulo 7">
            <a:extLst>
              <a:ext uri="{FF2B5EF4-FFF2-40B4-BE49-F238E27FC236}">
                <a16:creationId xmlns:a16="http://schemas.microsoft.com/office/drawing/2014/main" id="{87C63F43-C3AC-5F29-BA5B-B4316D2485E9}"/>
              </a:ext>
            </a:extLst>
          </p:cNvPr>
          <p:cNvSpPr/>
          <p:nvPr/>
        </p:nvSpPr>
        <p:spPr>
          <a:xfrm>
            <a:off x="0" y="6276975"/>
            <a:ext cx="12206868" cy="572772"/>
          </a:xfrm>
          <a:prstGeom prst="rect">
            <a:avLst/>
          </a:prstGeom>
          <a:solidFill>
            <a:schemeClr val="tx2">
              <a:lumMod val="5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s-CL" sz="1800" u="none" strike="noStrike" kern="1200" cap="none" spc="0" normalizeH="0" baseline="0" noProof="0" dirty="0">
              <a:ln>
                <a:noFill/>
              </a:ln>
              <a:solidFill>
                <a:schemeClr val="bg1"/>
              </a:solidFill>
              <a:effectLst/>
              <a:uLnTx/>
              <a:uFillTx/>
              <a:latin typeface="Calibri Light" panose="020F0302020204030204" pitchFamily="34" charset="0"/>
              <a:ea typeface="Cambria" panose="02040503050406030204" pitchFamily="18" charset="0"/>
              <a:cs typeface="Calibri Light" panose="020F0302020204030204" pitchFamily="34" charset="0"/>
            </a:endParaRPr>
          </a:p>
        </p:txBody>
      </p:sp>
      <p:sp>
        <p:nvSpPr>
          <p:cNvPr id="10" name="Marcador de número de diapositiva 9">
            <a:extLst>
              <a:ext uri="{FF2B5EF4-FFF2-40B4-BE49-F238E27FC236}">
                <a16:creationId xmlns:a16="http://schemas.microsoft.com/office/drawing/2014/main" id="{DCE8764B-3731-B8E9-BC90-407936E5760F}"/>
              </a:ext>
            </a:extLst>
          </p:cNvPr>
          <p:cNvSpPr>
            <a:spLocks noGrp="1"/>
          </p:cNvSpPr>
          <p:nvPr>
            <p:ph type="sldNum" sz="quarter" idx="12"/>
          </p:nvPr>
        </p:nvSpPr>
        <p:spPr/>
        <p:txBody>
          <a:bodyPr/>
          <a:lstStyle/>
          <a:p>
            <a:fld id="{524E32BF-339A-4FD7-AF2D-884DBB49ECE9}" type="slidenum">
              <a:rPr lang="es-CL" smtClean="0"/>
              <a:t>13</a:t>
            </a:fld>
            <a:endParaRPr lang="es-CL" dirty="0"/>
          </a:p>
        </p:txBody>
      </p:sp>
      <p:sp>
        <p:nvSpPr>
          <p:cNvPr id="3" name="Marcador de pie de página 2">
            <a:extLst>
              <a:ext uri="{FF2B5EF4-FFF2-40B4-BE49-F238E27FC236}">
                <a16:creationId xmlns:a16="http://schemas.microsoft.com/office/drawing/2014/main" id="{4611A39E-5860-C782-ACA1-7C6C0613EAE5}"/>
              </a:ext>
            </a:extLst>
          </p:cNvPr>
          <p:cNvSpPr>
            <a:spLocks noGrp="1"/>
          </p:cNvSpPr>
          <p:nvPr>
            <p:ph type="ftr" sz="quarter" idx="11"/>
          </p:nvPr>
        </p:nvSpPr>
        <p:spPr/>
        <p:txBody>
          <a:bodyPr/>
          <a:lstStyle/>
          <a:p>
            <a:r>
              <a:rPr lang="es-MX" dirty="0"/>
              <a:t>MSI600 - INTRODUCCIÓN CIENCIA DE DATOS</a:t>
            </a:r>
            <a:endParaRPr lang="es-CL" dirty="0"/>
          </a:p>
        </p:txBody>
      </p:sp>
      <p:pic>
        <p:nvPicPr>
          <p:cNvPr id="5" name="Imagen 4">
            <a:extLst>
              <a:ext uri="{FF2B5EF4-FFF2-40B4-BE49-F238E27FC236}">
                <a16:creationId xmlns:a16="http://schemas.microsoft.com/office/drawing/2014/main" id="{9746CF45-17FB-C439-9556-AF52C007CA06}"/>
              </a:ext>
            </a:extLst>
          </p:cNvPr>
          <p:cNvPicPr>
            <a:picLocks noChangeAspect="1"/>
          </p:cNvPicPr>
          <p:nvPr/>
        </p:nvPicPr>
        <p:blipFill>
          <a:blip r:embed="rId3"/>
          <a:stretch>
            <a:fillRect/>
          </a:stretch>
        </p:blipFill>
        <p:spPr>
          <a:xfrm>
            <a:off x="5239834" y="2412364"/>
            <a:ext cx="1727200" cy="1460500"/>
          </a:xfrm>
          <a:prstGeom prst="rect">
            <a:avLst/>
          </a:prstGeom>
        </p:spPr>
      </p:pic>
    </p:spTree>
    <p:extLst>
      <p:ext uri="{BB962C8B-B14F-4D97-AF65-F5344CB8AC3E}">
        <p14:creationId xmlns:p14="http://schemas.microsoft.com/office/powerpoint/2010/main" val="2835670095"/>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4572</TotalTime>
  <Words>983</Words>
  <Application>Microsoft Office PowerPoint</Application>
  <PresentationFormat>Panorámica</PresentationFormat>
  <Paragraphs>209</Paragraphs>
  <Slides>13</Slides>
  <Notes>13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Arial</vt:lpstr>
      <vt:lpstr>Calibri</vt:lpstr>
      <vt:lpstr>Calibri Light</vt:lpstr>
      <vt:lpstr>Montserrat</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Robert Aldo Pardo Silva</dc:creator>
  <cp:lastModifiedBy>Eric Silva Latorre</cp:lastModifiedBy>
  <cp:revision>34</cp:revision>
  <dcterms:created xsi:type="dcterms:W3CDTF">2023-10-13T18:05:47Z</dcterms:created>
  <dcterms:modified xsi:type="dcterms:W3CDTF">2025-11-17T06:51:24Z</dcterms:modified>
</cp:coreProperties>
</file>