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36D"/>
    <a:srgbClr val="B63C0F"/>
    <a:srgbClr val="A4C93C"/>
    <a:srgbClr val="01BF9F"/>
    <a:srgbClr val="4A7AEB"/>
    <a:srgbClr val="00644F"/>
    <a:srgbClr val="40306E"/>
    <a:srgbClr val="41BBD2"/>
    <a:srgbClr val="43546A"/>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40" autoAdjust="0"/>
    <p:restoredTop sz="94674"/>
  </p:normalViewPr>
  <p:slideViewPr>
    <p:cSldViewPr snapToGrid="0">
      <p:cViewPr varScale="1">
        <p:scale>
          <a:sx n="116" d="100"/>
          <a:sy n="116" d="100"/>
        </p:scale>
        <p:origin x="-204" y="5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1"/>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smoothMarker"/>
        <c:varyColors val="0"/>
        <c:ser>
          <c:idx val="0"/>
          <c:order val="0"/>
          <c:tx>
            <c:strRef>
              <c:f>Hoja1!$B$1</c:f>
              <c:strCache>
                <c:ptCount val="1"/>
                <c:pt idx="0">
                  <c:v>Modelo_Completo</c:v>
                </c:pt>
              </c:strCache>
            </c:strRef>
          </c:tx>
          <c:spPr>
            <a:ln w="38100" cap="rnd">
              <a:solidFill>
                <a:schemeClr val="accent4">
                  <a:lumMod val="75000"/>
                </a:schemeClr>
              </a:solidFill>
              <a:round/>
            </a:ln>
            <a:effectLst/>
          </c:spPr>
          <c:marker>
            <c:symbol val="none"/>
          </c:marker>
          <c:xVal>
            <c:strRef>
              <c:f>Hoja1!$A$2:$A$15</c:f>
              <c:strCache>
                <c:ptCount val="14"/>
                <c:pt idx="0">
                  <c:v>00</c:v>
                </c:pt>
                <c:pt idx="1">
                  <c:v>05</c:v>
                </c:pt>
                <c:pt idx="2">
                  <c:v>10</c:v>
                </c:pt>
                <c:pt idx="3">
                  <c:v>15</c:v>
                </c:pt>
                <c:pt idx="4">
                  <c:v>20</c:v>
                </c:pt>
                <c:pt idx="5">
                  <c:v>25</c:v>
                </c:pt>
                <c:pt idx="6">
                  <c:v>30</c:v>
                </c:pt>
                <c:pt idx="7">
                  <c:v>40</c:v>
                </c:pt>
                <c:pt idx="8">
                  <c:v>50</c:v>
                </c:pt>
                <c:pt idx="9">
                  <c:v>60</c:v>
                </c:pt>
                <c:pt idx="10">
                  <c:v>70</c:v>
                </c:pt>
                <c:pt idx="11">
                  <c:v>80</c:v>
                </c:pt>
                <c:pt idx="12">
                  <c:v>90</c:v>
                </c:pt>
                <c:pt idx="13">
                  <c:v>00</c:v>
                </c:pt>
              </c:strCache>
            </c:strRef>
          </c:xVal>
          <c:yVal>
            <c:numRef>
              <c:f>Hoja1!$B$2:$B$15</c:f>
              <c:numCache>
                <c:formatCode>#,##0.00</c:formatCode>
                <c:ptCount val="14"/>
                <c:pt idx="0">
                  <c:v>0</c:v>
                </c:pt>
                <c:pt idx="1">
                  <c:v>0.35</c:v>
                </c:pt>
                <c:pt idx="2">
                  <c:v>0.35</c:v>
                </c:pt>
                <c:pt idx="3">
                  <c:v>0.68</c:v>
                </c:pt>
                <c:pt idx="4">
                  <c:v>0.76</c:v>
                </c:pt>
                <c:pt idx="5">
                  <c:v>0.81</c:v>
                </c:pt>
                <c:pt idx="6">
                  <c:v>0.85</c:v>
                </c:pt>
                <c:pt idx="7">
                  <c:v>0.9</c:v>
                </c:pt>
                <c:pt idx="8">
                  <c:v>0.93</c:v>
                </c:pt>
                <c:pt idx="9">
                  <c:v>0.95</c:v>
                </c:pt>
                <c:pt idx="10">
                  <c:v>0.97</c:v>
                </c:pt>
                <c:pt idx="11">
                  <c:v>0.98</c:v>
                </c:pt>
                <c:pt idx="12">
                  <c:v>0.99</c:v>
                </c:pt>
                <c:pt idx="13">
                  <c:v>1</c:v>
                </c:pt>
              </c:numCache>
            </c:numRef>
          </c:yVal>
          <c:smooth val="1"/>
          <c:extLst>
            <c:ext xmlns:c16="http://schemas.microsoft.com/office/drawing/2014/chart" uri="{C3380CC4-5D6E-409C-BE32-E72D297353CC}">
              <c16:uniqueId val="{00000000-EBC7-4382-8B68-04897E810A6E}"/>
            </c:ext>
          </c:extLst>
        </c:ser>
        <c:ser>
          <c:idx val="1"/>
          <c:order val="1"/>
          <c:tx>
            <c:strRef>
              <c:f>Hoja1!$C$1</c:f>
              <c:strCache>
                <c:ptCount val="1"/>
                <c:pt idx="0">
                  <c:v>Modelo_Simplificado</c:v>
                </c:pt>
              </c:strCache>
            </c:strRef>
          </c:tx>
          <c:spPr>
            <a:ln w="38100" cap="rnd">
              <a:solidFill>
                <a:schemeClr val="accent2"/>
              </a:solidFill>
              <a:round/>
            </a:ln>
            <a:effectLst/>
          </c:spPr>
          <c:marker>
            <c:symbol val="none"/>
          </c:marker>
          <c:xVal>
            <c:strRef>
              <c:f>Hoja1!$A$2:$A$15</c:f>
              <c:strCache>
                <c:ptCount val="14"/>
                <c:pt idx="0">
                  <c:v>00</c:v>
                </c:pt>
                <c:pt idx="1">
                  <c:v>05</c:v>
                </c:pt>
                <c:pt idx="2">
                  <c:v>10</c:v>
                </c:pt>
                <c:pt idx="3">
                  <c:v>15</c:v>
                </c:pt>
                <c:pt idx="4">
                  <c:v>20</c:v>
                </c:pt>
                <c:pt idx="5">
                  <c:v>25</c:v>
                </c:pt>
                <c:pt idx="6">
                  <c:v>30</c:v>
                </c:pt>
                <c:pt idx="7">
                  <c:v>40</c:v>
                </c:pt>
                <c:pt idx="8">
                  <c:v>50</c:v>
                </c:pt>
                <c:pt idx="9">
                  <c:v>60</c:v>
                </c:pt>
                <c:pt idx="10">
                  <c:v>70</c:v>
                </c:pt>
                <c:pt idx="11">
                  <c:v>80</c:v>
                </c:pt>
                <c:pt idx="12">
                  <c:v>90</c:v>
                </c:pt>
                <c:pt idx="13">
                  <c:v>00</c:v>
                </c:pt>
              </c:strCache>
            </c:strRef>
          </c:xVal>
          <c:yVal>
            <c:numRef>
              <c:f>Hoja1!$C$2:$C$15</c:f>
              <c:numCache>
                <c:formatCode>0.00</c:formatCode>
                <c:ptCount val="14"/>
                <c:pt idx="0">
                  <c:v>0</c:v>
                </c:pt>
                <c:pt idx="1">
                  <c:v>0.3</c:v>
                </c:pt>
                <c:pt idx="2">
                  <c:v>0.48</c:v>
                </c:pt>
                <c:pt idx="3">
                  <c:v>0.6</c:v>
                </c:pt>
                <c:pt idx="4">
                  <c:v>0.68</c:v>
                </c:pt>
                <c:pt idx="5">
                  <c:v>0.74</c:v>
                </c:pt>
                <c:pt idx="6">
                  <c:v>0.78</c:v>
                </c:pt>
                <c:pt idx="7">
                  <c:v>0.84</c:v>
                </c:pt>
                <c:pt idx="8">
                  <c:v>0.88</c:v>
                </c:pt>
                <c:pt idx="9">
                  <c:v>0.91</c:v>
                </c:pt>
                <c:pt idx="10">
                  <c:v>0.94</c:v>
                </c:pt>
                <c:pt idx="11">
                  <c:v>0.96</c:v>
                </c:pt>
                <c:pt idx="12">
                  <c:v>0.98</c:v>
                </c:pt>
                <c:pt idx="13">
                  <c:v>1</c:v>
                </c:pt>
              </c:numCache>
            </c:numRef>
          </c:yVal>
          <c:smooth val="1"/>
          <c:extLst>
            <c:ext xmlns:c16="http://schemas.microsoft.com/office/drawing/2014/chart" uri="{C3380CC4-5D6E-409C-BE32-E72D297353CC}">
              <c16:uniqueId val="{00000001-EBC7-4382-8B68-04897E810A6E}"/>
            </c:ext>
          </c:extLst>
        </c:ser>
        <c:ser>
          <c:idx val="2"/>
          <c:order val="2"/>
          <c:tx>
            <c:strRef>
              <c:f>Hoja1!$D$1</c:f>
              <c:strCache>
                <c:ptCount val="1"/>
                <c:pt idx="0">
                  <c:v>Azar</c:v>
                </c:pt>
              </c:strCache>
            </c:strRef>
          </c:tx>
          <c:spPr>
            <a:ln w="25400" cap="rnd">
              <a:solidFill>
                <a:schemeClr val="bg2">
                  <a:lumMod val="75000"/>
                </a:schemeClr>
              </a:solidFill>
              <a:prstDash val="sysDot"/>
              <a:round/>
            </a:ln>
            <a:effectLst/>
          </c:spPr>
          <c:marker>
            <c:symbol val="none"/>
          </c:marker>
          <c:xVal>
            <c:strRef>
              <c:f>Hoja1!$A$2:$A$15</c:f>
              <c:strCache>
                <c:ptCount val="14"/>
                <c:pt idx="0">
                  <c:v>00</c:v>
                </c:pt>
                <c:pt idx="1">
                  <c:v>05</c:v>
                </c:pt>
                <c:pt idx="2">
                  <c:v>10</c:v>
                </c:pt>
                <c:pt idx="3">
                  <c:v>15</c:v>
                </c:pt>
                <c:pt idx="4">
                  <c:v>20</c:v>
                </c:pt>
                <c:pt idx="5">
                  <c:v>25</c:v>
                </c:pt>
                <c:pt idx="6">
                  <c:v>30</c:v>
                </c:pt>
                <c:pt idx="7">
                  <c:v>40</c:v>
                </c:pt>
                <c:pt idx="8">
                  <c:v>50</c:v>
                </c:pt>
                <c:pt idx="9">
                  <c:v>60</c:v>
                </c:pt>
                <c:pt idx="10">
                  <c:v>70</c:v>
                </c:pt>
                <c:pt idx="11">
                  <c:v>80</c:v>
                </c:pt>
                <c:pt idx="12">
                  <c:v>90</c:v>
                </c:pt>
                <c:pt idx="13">
                  <c:v>00</c:v>
                </c:pt>
              </c:strCache>
            </c:str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EBC7-4382-8B68-04897E810A6E}"/>
            </c:ext>
          </c:extLst>
        </c:ser>
        <c:dLbls>
          <c:showLegendKey val="0"/>
          <c:showVal val="0"/>
          <c:showCatName val="0"/>
          <c:showSerName val="0"/>
          <c:showPercent val="0"/>
          <c:showBubbleSize val="0"/>
        </c:dLbls>
        <c:axId val="237147935"/>
        <c:axId val="237148415"/>
      </c:scatterChart>
      <c:valAx>
        <c:axId val="237147935"/>
        <c:scaling>
          <c:orientation val="minMax"/>
        </c:scaling>
        <c:delete val="0"/>
        <c:axPos val="b"/>
        <c:majorGridlines>
          <c:spPr>
            <a:ln w="9525" cap="flat" cmpd="sng" algn="ctr">
              <a:solidFill>
                <a:schemeClr val="tx1">
                  <a:lumMod val="15000"/>
                  <a:lumOff val="85000"/>
                </a:schemeClr>
              </a:solidFill>
              <a:round/>
            </a:ln>
            <a:effectLst/>
          </c:spPr>
        </c:majorGridlines>
        <c:numFmt formatCode="@"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237148415"/>
        <c:crosses val="autoZero"/>
        <c:crossBetween val="midCat"/>
      </c:valAx>
      <c:valAx>
        <c:axId val="237148415"/>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237147935"/>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a:p>
      </dgm:t>
    </dgm:pt>
    <dgm:pt modelId="{AEA42B3C-BDA0-4798-8E7A-DDEAAD7CD145}">
      <dgm:prSet phldrT="[Texto]" phldr="0"/>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a:p>
      </dgm:t>
    </dgm:pt>
    <dgm:pt modelId="{FCCEDDE4-BCBB-4CFA-8C78-E354A38ECD97}">
      <dgm:prSet phldrT="[Texto]" phldr="0"/>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CRC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CRC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CRC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CRC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15-11-2025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15-11-2025</a:t>
            </a:fld>
            <a:endParaRPr lang="es-CL"/>
          </a:p>
        </p:txBody>
      </p:sp>
      <p:sp>
        <p:nvSpPr>
          <p:cNvPr id="8" name="Footer Placeholder 7"/>
          <p:cNvSpPr>
            <a:spLocks noGrp="1"/>
          </p:cNvSpPr>
          <p:nvPr>
            <p:ph type="ftr" sz="quarter" idx="11"/>
          </p:nvPr>
        </p:nvSpPr>
        <p:spPr/>
        <p:txBody>
          <a:bodyPr/>
          <a:lstStyle/>
          <a:p>
            <a:r>
              <a:rPr lang="es-MX"/>
              <a:t>MSI600 - INTRODUCCIÓN CIENCIA DE DATOS</a:t>
            </a:r>
            <a:endParaRPr lang="es-CL"/>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15-11-2025</a:t>
            </a:fld>
            <a:endParaRPr lang="es-CL"/>
          </a:p>
        </p:txBody>
      </p:sp>
      <p:sp>
        <p:nvSpPr>
          <p:cNvPr id="4" name="Footer Placeholder 3"/>
          <p:cNvSpPr>
            <a:spLocks noGrp="1"/>
          </p:cNvSpPr>
          <p:nvPr>
            <p:ph type="ftr" sz="quarter" idx="11"/>
          </p:nvPr>
        </p:nvSpPr>
        <p:spPr/>
        <p:txBody>
          <a:bodyPr/>
          <a:lstStyle/>
          <a:p>
            <a:r>
              <a:rPr lang="es-MX"/>
              <a:t>MSI600 - INTRODUCCIÓN CIENCIA DE DATOS</a:t>
            </a:r>
            <a:endParaRPr lang="es-CL"/>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15-11-2025</a:t>
            </a:fld>
            <a:endParaRPr lang="es-CL"/>
          </a:p>
        </p:txBody>
      </p:sp>
      <p:sp>
        <p:nvSpPr>
          <p:cNvPr id="3" name="Footer Placeholder 2"/>
          <p:cNvSpPr>
            <a:spLocks noGrp="1"/>
          </p:cNvSpPr>
          <p:nvPr>
            <p:ph type="ftr" sz="quarter" idx="11"/>
          </p:nvPr>
        </p:nvSpPr>
        <p:spPr/>
        <p:txBody>
          <a:bodyPr/>
          <a:lstStyle/>
          <a:p>
            <a:r>
              <a:rPr lang="es-MX"/>
              <a:t>MSI600 - INTRODUCCIÓN CIENCIA DE DATOS</a:t>
            </a:r>
            <a:endParaRPr lang="es-CL"/>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15-11-2025</a:t>
            </a:fld>
            <a:endParaRPr lang="es-CL"/>
          </a:p>
        </p:txBody>
      </p:sp>
      <p:sp>
        <p:nvSpPr>
          <p:cNvPr id="6" name="Footer Placeholder 5"/>
          <p:cNvSpPr>
            <a:spLocks noGrp="1"/>
          </p:cNvSpPr>
          <p:nvPr>
            <p:ph type="ftr" sz="quarter" idx="11"/>
          </p:nvPr>
        </p:nvSpPr>
        <p:spPr/>
        <p:txBody>
          <a:bodyPr/>
          <a:lstStyle/>
          <a:p>
            <a:r>
              <a:rPr lang="es-MX"/>
              <a:t>MSI600 - INTRODUCCIÓN CIENCIA DE DATOS</a:t>
            </a:r>
            <a:endParaRPr lang="es-CL"/>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15-11-2025</a:t>
            </a:fld>
            <a:endParaRPr lang="es-CL"/>
          </a:p>
        </p:txBody>
      </p:sp>
      <p:sp>
        <p:nvSpPr>
          <p:cNvPr id="5" name="Footer Placeholder 4"/>
          <p:cNvSpPr>
            <a:spLocks noGrp="1"/>
          </p:cNvSpPr>
          <p:nvPr>
            <p:ph type="ftr" sz="quarter" idx="11"/>
          </p:nvPr>
        </p:nvSpPr>
        <p:spPr/>
        <p:txBody>
          <a:bodyPr/>
          <a:lstStyle/>
          <a:p>
            <a:r>
              <a:rPr lang="es-MX"/>
              <a:t>MSI600 - INTRODUCCIÓN CIENCIA DE DATOS</a:t>
            </a:r>
            <a:endParaRPr lang="es-CL"/>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15-11-2025</a:t>
            </a:fld>
            <a:endParaRPr lang="es-CL"/>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a:t>MSI600 - INTRODUCCIÓN CIENCIA DE DATOS</a:t>
            </a:r>
            <a:endParaRPr lang="es-CL"/>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a:t>MSI600 - INTRODUCCIÓN CIENCIA DE DATOS</a:t>
            </a:r>
            <a:endParaRPr lang="es-CL"/>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a:t>MSI600 - INTRODUCCIÓN CIENCIA DE DATOS</a:t>
            </a:r>
            <a:endParaRPr lang="es-CL"/>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CRC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1074518838"/>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a:t>MSI600 - INTRODUCCIÓN CIENCIA DE DATOS</a:t>
            </a:r>
            <a:endParaRPr lang="es-CL"/>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CRC</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a:t>MSI600 - INTRODUCCIÓN CIENCIA DE DATOS</a:t>
            </a:r>
            <a:endParaRPr lang="es-CL"/>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129956831"/>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CRC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CRC).</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3279126450"/>
              </p:ext>
            </p:extLst>
          </p:nvPr>
        </p:nvGraphicFramePr>
        <p:xfrm>
          <a:off x="191654" y="1951143"/>
          <a:ext cx="5183910" cy="3464326"/>
        </p:xfrm>
        <a:graphic>
          <a:graphicData uri="http://schemas.openxmlformats.org/drawingml/2006/chart">
            <c:chart xmlns:c="http://schemas.openxmlformats.org/drawingml/2006/chart" xmlns:r="http://schemas.openxmlformats.org/officeDocument/2006/relationships" r:id="rId4"/>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4" name="Rectángulo: esquinas redondeadas 13">
            <a:extLst>
              <a:ext uri="{FF2B5EF4-FFF2-40B4-BE49-F238E27FC236}">
                <a16:creationId xmlns:a16="http://schemas.microsoft.com/office/drawing/2014/main" id="{E28F0F11-0BFA-9B56-4356-A126EC4BA1B1}"/>
              </a:ext>
            </a:extLst>
          </p:cNvPr>
          <p:cNvSpPr/>
          <p:nvPr/>
        </p:nvSpPr>
        <p:spPr>
          <a:xfrm>
            <a:off x="8057935" y="4647138"/>
            <a:ext cx="3098569" cy="96453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Estas 4 variables nuevas mejoran la predicción mas allá del protocolo GES actual</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596883" y="1140038"/>
            <a:ext cx="2459535" cy="2503707"/>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dirty="0"/>
              <a:t>Variables GES </a:t>
            </a:r>
          </a:p>
          <a:p>
            <a:pPr algn="ctr"/>
            <a:r>
              <a:rPr lang="es-CL" dirty="0"/>
              <a:t>(ya en protocolo)</a:t>
            </a:r>
          </a:p>
          <a:p>
            <a:pPr algn="ctr"/>
            <a:endParaRPr lang="es-CL" dirty="0"/>
          </a:p>
          <a:p>
            <a:pPr marL="285750" indent="-285750">
              <a:buFont typeface="Wingdings" panose="05000000000000000000" pitchFamily="2" charset="2"/>
              <a:buChar char="ü"/>
            </a:pPr>
            <a:r>
              <a:rPr lang="es-CL" dirty="0"/>
              <a:t>Sangrado GI</a:t>
            </a:r>
          </a:p>
          <a:p>
            <a:pPr marL="285750" indent="-285750">
              <a:buFont typeface="Wingdings" panose="05000000000000000000" pitchFamily="2" charset="2"/>
              <a:buChar char="ü"/>
            </a:pPr>
            <a:r>
              <a:rPr lang="es-CL" dirty="0"/>
              <a:t>Edad</a:t>
            </a:r>
          </a:p>
          <a:p>
            <a:pPr marL="285750" indent="-285750">
              <a:buFont typeface="Wingdings" panose="05000000000000000000" pitchFamily="2" charset="2"/>
              <a:buChar char="ü"/>
            </a:pPr>
            <a:r>
              <a:rPr lang="es-CL" dirty="0"/>
              <a:t>Diarrea</a:t>
            </a:r>
          </a:p>
          <a:p>
            <a:pPr marL="285750" indent="-285750">
              <a:buFont typeface="Wingdings" panose="05000000000000000000" pitchFamily="2" charset="2"/>
              <a:buChar char="ü"/>
            </a:pPr>
            <a:r>
              <a:rPr lang="es-CL" dirty="0"/>
              <a:t>Masa rectal</a:t>
            </a:r>
          </a:p>
          <a:p>
            <a:pPr marL="285750" indent="-285750">
              <a:buFont typeface="Wingdings" panose="05000000000000000000" pitchFamily="2" charset="2"/>
              <a:buChar char="ü"/>
            </a:pPr>
            <a:r>
              <a:rPr lang="es-CL" dirty="0"/>
              <a:t>Anemia</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8277737" y="1140038"/>
            <a:ext cx="2611936" cy="2503706"/>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dirty="0"/>
              <a:t>Variables nuevas </a:t>
            </a:r>
          </a:p>
          <a:p>
            <a:pPr algn="ctr"/>
            <a:r>
              <a:rPr lang="es-CL" dirty="0"/>
              <a:t>(no están en protocolo)</a:t>
            </a:r>
          </a:p>
          <a:p>
            <a:pPr algn="ctr"/>
            <a:endParaRPr lang="es-CL" dirty="0"/>
          </a:p>
          <a:p>
            <a:pPr marL="285750" indent="-285750">
              <a:buFont typeface="Wingdings" panose="05000000000000000000" pitchFamily="2" charset="2"/>
              <a:buChar char="ü"/>
            </a:pPr>
            <a:r>
              <a:rPr lang="es-CL" dirty="0"/>
              <a:t>Tomografía CT</a:t>
            </a:r>
          </a:p>
          <a:p>
            <a:pPr marL="285750" indent="-285750">
              <a:buFont typeface="Wingdings" panose="05000000000000000000" pitchFamily="2" charset="2"/>
              <a:buChar char="ü"/>
            </a:pPr>
            <a:r>
              <a:rPr lang="es-CL" dirty="0"/>
              <a:t>Ecografía</a:t>
            </a:r>
          </a:p>
          <a:p>
            <a:pPr marL="285750" indent="-285750">
              <a:buFont typeface="Wingdings" panose="05000000000000000000" pitchFamily="2" charset="2"/>
              <a:buChar char="ü"/>
            </a:pPr>
            <a:r>
              <a:rPr lang="es-CL" dirty="0"/>
              <a:t>Condición general</a:t>
            </a:r>
          </a:p>
          <a:p>
            <a:pPr marL="285750" indent="-285750">
              <a:buFont typeface="Wingdings" panose="05000000000000000000" pitchFamily="2" charset="2"/>
              <a:buChar char="ü"/>
            </a:pPr>
            <a:r>
              <a:rPr lang="es-CL" dirty="0"/>
              <a:t>Sexo</a:t>
            </a:r>
          </a:p>
        </p:txBody>
      </p:sp>
      <p:sp>
        <p:nvSpPr>
          <p:cNvPr id="17" name="Flecha: hacia abajo 16">
            <a:extLst>
              <a:ext uri="{FF2B5EF4-FFF2-40B4-BE49-F238E27FC236}">
                <a16:creationId xmlns:a16="http://schemas.microsoft.com/office/drawing/2014/main" id="{FB1C4D6A-30F4-A3F3-9E2D-227C009BEDEC}"/>
              </a:ext>
            </a:extLst>
          </p:cNvPr>
          <p:cNvSpPr/>
          <p:nvPr/>
        </p:nvSpPr>
        <p:spPr>
          <a:xfrm rot="10800000">
            <a:off x="9337963" y="3828989"/>
            <a:ext cx="526473" cy="63290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407016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9" y="1111047"/>
            <a:ext cx="3545033"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modelos</a:t>
            </a:r>
          </a:p>
        </p:txBody>
      </p:sp>
      <p:graphicFrame>
        <p:nvGraphicFramePr>
          <p:cNvPr id="11" name="Gráfico 10">
            <a:extLst>
              <a:ext uri="{FF2B5EF4-FFF2-40B4-BE49-F238E27FC236}">
                <a16:creationId xmlns:a16="http://schemas.microsoft.com/office/drawing/2014/main" id="{773D3929-A1A5-4220-7E63-609DD2149BBD}"/>
              </a:ext>
            </a:extLst>
          </p:cNvPr>
          <p:cNvGraphicFramePr/>
          <p:nvPr>
            <p:extLst>
              <p:ext uri="{D42A27DB-BD31-4B8C-83A1-F6EECF244321}">
                <p14:modId xmlns:p14="http://schemas.microsoft.com/office/powerpoint/2010/main" val="482173634"/>
              </p:ext>
            </p:extLst>
          </p:nvPr>
        </p:nvGraphicFramePr>
        <p:xfrm>
          <a:off x="2519905" y="2005410"/>
          <a:ext cx="6195728" cy="3652396"/>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84298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Tree>
    <p:extLst>
      <p:ext uri="{BB962C8B-B14F-4D97-AF65-F5344CB8AC3E}">
        <p14:creationId xmlns:p14="http://schemas.microsoft.com/office/powerpoint/2010/main" val="394129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Tree>
    <p:extLst>
      <p:ext uri="{BB962C8B-B14F-4D97-AF65-F5344CB8AC3E}">
        <p14:creationId xmlns:p14="http://schemas.microsoft.com/office/powerpoint/2010/main" val="1120360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a:t>MSI600 - INTRODUCCIÓN CIENCIA DE DATOS</a:t>
            </a:r>
            <a:endParaRPr lang="es-CL"/>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4287</TotalTime>
  <Words>464</Words>
  <Application>Microsoft Office PowerPoint</Application>
  <PresentationFormat>Panorámica</PresentationFormat>
  <Paragraphs>122</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Eric Silva Latorre</cp:lastModifiedBy>
  <cp:revision>32</cp:revision>
  <dcterms:created xsi:type="dcterms:W3CDTF">2023-10-13T18:05:47Z</dcterms:created>
  <dcterms:modified xsi:type="dcterms:W3CDTF">2025-11-17T02:02:56Z</dcterms:modified>
</cp:coreProperties>
</file>